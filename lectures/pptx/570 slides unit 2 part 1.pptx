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4"/>
  </p:notesMasterIdLst>
  <p:sldIdLst>
    <p:sldId id="256" r:id="rId2"/>
    <p:sldId id="348" r:id="rId3"/>
    <p:sldId id="349" r:id="rId4"/>
    <p:sldId id="369" r:id="rId5"/>
    <p:sldId id="350" r:id="rId6"/>
    <p:sldId id="351" r:id="rId7"/>
    <p:sldId id="352" r:id="rId8"/>
    <p:sldId id="353" r:id="rId9"/>
    <p:sldId id="354" r:id="rId10"/>
    <p:sldId id="355" r:id="rId11"/>
    <p:sldId id="356" r:id="rId12"/>
    <p:sldId id="357" r:id="rId13"/>
    <p:sldId id="358" r:id="rId14"/>
    <p:sldId id="359" r:id="rId15"/>
    <p:sldId id="360" r:id="rId16"/>
    <p:sldId id="361" r:id="rId17"/>
    <p:sldId id="362" r:id="rId18"/>
    <p:sldId id="363" r:id="rId19"/>
    <p:sldId id="364" r:id="rId20"/>
    <p:sldId id="365" r:id="rId21"/>
    <p:sldId id="366" r:id="rId22"/>
    <p:sldId id="367" r:id="rId2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30B8C06-0994-425F-B3FD-3801B8A1C288}" v="6" dt="2026-09-08T03:24:31.058"/>
  </p1510:revLst>
</p1510:revInfo>
</file>

<file path=ppt/tableStyles.xml><?xml version="1.0" encoding="utf-8"?>
<a:tblStyleLst xmlns:a="http://schemas.openxmlformats.org/drawingml/2006/main" def="{C3914263-E9C5-46C8-9AAA-96102F47AFED}">
  <a:tblStyle styleId="{C3914263-E9C5-46C8-9AAA-96102F47AFED}" styleName="Table_0">
    <a:wholeTbl>
      <a:tcTxStyle>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056"/>
    <p:restoredTop sz="81741"/>
  </p:normalViewPr>
  <p:slideViewPr>
    <p:cSldViewPr snapToGrid="0">
      <p:cViewPr varScale="1">
        <p:scale>
          <a:sx n="80" d="100"/>
          <a:sy n="80" d="100"/>
        </p:scale>
        <p:origin x="1168" y="52"/>
      </p:cViewPr>
      <p:guideLst>
        <p:guide orient="horz" pos="1620"/>
        <p:guide pos="2880"/>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da Countryman" userId="0be1c61d-c610-49a2-ae7e-a4e60bd07712" providerId="ADAL" clId="{00873937-8841-4394-9081-668AB0E0F950}"/>
    <pc:docChg chg="undo custSel addSld delSld modSld">
      <pc:chgData name="Amanda Countryman" userId="0be1c61d-c610-49a2-ae7e-a4e60bd07712" providerId="ADAL" clId="{00873937-8841-4394-9081-668AB0E0F950}" dt="2026-09-08T03:35:44.677" v="568" actId="20577"/>
      <pc:docMkLst>
        <pc:docMk/>
      </pc:docMkLst>
      <pc:sldChg chg="modSp mod">
        <pc:chgData name="Amanda Countryman" userId="0be1c61d-c610-49a2-ae7e-a4e60bd07712" providerId="ADAL" clId="{00873937-8841-4394-9081-668AB0E0F950}" dt="2026-09-08T02:56:06.599" v="158" actId="12"/>
        <pc:sldMkLst>
          <pc:docMk/>
          <pc:sldMk cId="0" sldId="350"/>
        </pc:sldMkLst>
        <pc:spChg chg="mod">
          <ac:chgData name="Amanda Countryman" userId="0be1c61d-c610-49a2-ae7e-a4e60bd07712" providerId="ADAL" clId="{00873937-8841-4394-9081-668AB0E0F950}" dt="2026-09-08T02:56:06.599" v="158" actId="12"/>
          <ac:spMkLst>
            <pc:docMk/>
            <pc:sldMk cId="0" sldId="350"/>
            <ac:spMk id="615" creationId="{00000000-0000-0000-0000-000000000000}"/>
          </ac:spMkLst>
        </pc:spChg>
      </pc:sldChg>
      <pc:sldChg chg="modSp mod">
        <pc:chgData name="Amanda Countryman" userId="0be1c61d-c610-49a2-ae7e-a4e60bd07712" providerId="ADAL" clId="{00873937-8841-4394-9081-668AB0E0F950}" dt="2026-09-08T02:37:42.109" v="17" actId="20577"/>
        <pc:sldMkLst>
          <pc:docMk/>
          <pc:sldMk cId="0" sldId="351"/>
        </pc:sldMkLst>
        <pc:spChg chg="mod">
          <ac:chgData name="Amanda Countryman" userId="0be1c61d-c610-49a2-ae7e-a4e60bd07712" providerId="ADAL" clId="{00873937-8841-4394-9081-668AB0E0F950}" dt="2026-09-08T02:37:42.109" v="17" actId="20577"/>
          <ac:spMkLst>
            <pc:docMk/>
            <pc:sldMk cId="0" sldId="351"/>
            <ac:spMk id="620" creationId="{00000000-0000-0000-0000-000000000000}"/>
          </ac:spMkLst>
        </pc:spChg>
      </pc:sldChg>
      <pc:sldChg chg="modSp mod">
        <pc:chgData name="Amanda Countryman" userId="0be1c61d-c610-49a2-ae7e-a4e60bd07712" providerId="ADAL" clId="{00873937-8841-4394-9081-668AB0E0F950}" dt="2026-09-08T02:55:49.770" v="156" actId="12"/>
        <pc:sldMkLst>
          <pc:docMk/>
          <pc:sldMk cId="0" sldId="353"/>
        </pc:sldMkLst>
        <pc:spChg chg="mod">
          <ac:chgData name="Amanda Countryman" userId="0be1c61d-c610-49a2-ae7e-a4e60bd07712" providerId="ADAL" clId="{00873937-8841-4394-9081-668AB0E0F950}" dt="2026-09-08T02:55:49.770" v="156" actId="12"/>
          <ac:spMkLst>
            <pc:docMk/>
            <pc:sldMk cId="0" sldId="353"/>
            <ac:spMk id="632" creationId="{00000000-0000-0000-0000-000000000000}"/>
          </ac:spMkLst>
        </pc:spChg>
      </pc:sldChg>
      <pc:sldChg chg="modSp mod">
        <pc:chgData name="Amanda Countryman" userId="0be1c61d-c610-49a2-ae7e-a4e60bd07712" providerId="ADAL" clId="{00873937-8841-4394-9081-668AB0E0F950}" dt="2026-09-08T02:39:33.415" v="23" actId="20577"/>
        <pc:sldMkLst>
          <pc:docMk/>
          <pc:sldMk cId="0" sldId="354"/>
        </pc:sldMkLst>
        <pc:spChg chg="mod">
          <ac:chgData name="Amanda Countryman" userId="0be1c61d-c610-49a2-ae7e-a4e60bd07712" providerId="ADAL" clId="{00873937-8841-4394-9081-668AB0E0F950}" dt="2026-09-08T02:39:01.108" v="21" actId="5793"/>
          <ac:spMkLst>
            <pc:docMk/>
            <pc:sldMk cId="0" sldId="354"/>
            <ac:spMk id="637" creationId="{00000000-0000-0000-0000-000000000000}"/>
          </ac:spMkLst>
        </pc:spChg>
        <pc:spChg chg="mod">
          <ac:chgData name="Amanda Countryman" userId="0be1c61d-c610-49a2-ae7e-a4e60bd07712" providerId="ADAL" clId="{00873937-8841-4394-9081-668AB0E0F950}" dt="2026-09-08T02:39:33.415" v="23" actId="20577"/>
          <ac:spMkLst>
            <pc:docMk/>
            <pc:sldMk cId="0" sldId="354"/>
            <ac:spMk id="638" creationId="{00000000-0000-0000-0000-000000000000}"/>
          </ac:spMkLst>
        </pc:spChg>
      </pc:sldChg>
      <pc:sldChg chg="modSp mod">
        <pc:chgData name="Amanda Countryman" userId="0be1c61d-c610-49a2-ae7e-a4e60bd07712" providerId="ADAL" clId="{00873937-8841-4394-9081-668AB0E0F950}" dt="2026-09-08T02:42:04.079" v="28" actId="20577"/>
        <pc:sldMkLst>
          <pc:docMk/>
          <pc:sldMk cId="0" sldId="360"/>
        </pc:sldMkLst>
        <pc:spChg chg="mod">
          <ac:chgData name="Amanda Countryman" userId="0be1c61d-c610-49a2-ae7e-a4e60bd07712" providerId="ADAL" clId="{00873937-8841-4394-9081-668AB0E0F950}" dt="2026-09-08T02:42:04.079" v="28" actId="20577"/>
          <ac:spMkLst>
            <pc:docMk/>
            <pc:sldMk cId="0" sldId="360"/>
            <ac:spMk id="673" creationId="{00000000-0000-0000-0000-000000000000}"/>
          </ac:spMkLst>
        </pc:spChg>
      </pc:sldChg>
      <pc:sldChg chg="modSp mod">
        <pc:chgData name="Amanda Countryman" userId="0be1c61d-c610-49a2-ae7e-a4e60bd07712" providerId="ADAL" clId="{00873937-8841-4394-9081-668AB0E0F950}" dt="2026-09-08T03:27:03.831" v="455" actId="1076"/>
        <pc:sldMkLst>
          <pc:docMk/>
          <pc:sldMk cId="0" sldId="365"/>
        </pc:sldMkLst>
        <pc:spChg chg="mod">
          <ac:chgData name="Amanda Countryman" userId="0be1c61d-c610-49a2-ae7e-a4e60bd07712" providerId="ADAL" clId="{00873937-8841-4394-9081-668AB0E0F950}" dt="2026-09-08T03:27:03.831" v="455" actId="1076"/>
          <ac:spMkLst>
            <pc:docMk/>
            <pc:sldMk cId="0" sldId="365"/>
            <ac:spMk id="703" creationId="{00000000-0000-0000-0000-000000000000}"/>
          </ac:spMkLst>
        </pc:spChg>
      </pc:sldChg>
      <pc:sldChg chg="modSp mod">
        <pc:chgData name="Amanda Countryman" userId="0be1c61d-c610-49a2-ae7e-a4e60bd07712" providerId="ADAL" clId="{00873937-8841-4394-9081-668AB0E0F950}" dt="2026-09-08T03:30:18.573" v="536" actId="20577"/>
        <pc:sldMkLst>
          <pc:docMk/>
          <pc:sldMk cId="0" sldId="366"/>
        </pc:sldMkLst>
        <pc:spChg chg="mod">
          <ac:chgData name="Amanda Countryman" userId="0be1c61d-c610-49a2-ae7e-a4e60bd07712" providerId="ADAL" clId="{00873937-8841-4394-9081-668AB0E0F950}" dt="2026-09-08T03:30:18.573" v="536" actId="20577"/>
          <ac:spMkLst>
            <pc:docMk/>
            <pc:sldMk cId="0" sldId="366"/>
            <ac:spMk id="709" creationId="{00000000-0000-0000-0000-000000000000}"/>
          </ac:spMkLst>
        </pc:spChg>
      </pc:sldChg>
      <pc:sldChg chg="modSp mod">
        <pc:chgData name="Amanda Countryman" userId="0be1c61d-c610-49a2-ae7e-a4e60bd07712" providerId="ADAL" clId="{00873937-8841-4394-9081-668AB0E0F950}" dt="2026-09-08T03:35:44.677" v="568" actId="20577"/>
        <pc:sldMkLst>
          <pc:docMk/>
          <pc:sldMk cId="0" sldId="367"/>
        </pc:sldMkLst>
        <pc:spChg chg="mod">
          <ac:chgData name="Amanda Countryman" userId="0be1c61d-c610-49a2-ae7e-a4e60bd07712" providerId="ADAL" clId="{00873937-8841-4394-9081-668AB0E0F950}" dt="2026-09-08T03:35:44.677" v="568" actId="20577"/>
          <ac:spMkLst>
            <pc:docMk/>
            <pc:sldMk cId="0" sldId="367"/>
            <ac:spMk id="715" creationId="{00000000-0000-0000-0000-000000000000}"/>
          </ac:spMkLst>
        </pc:spChg>
      </pc:sldChg>
      <pc:sldChg chg="del">
        <pc:chgData name="Amanda Countryman" userId="0be1c61d-c610-49a2-ae7e-a4e60bd07712" providerId="ADAL" clId="{00873937-8841-4394-9081-668AB0E0F950}" dt="2026-09-08T02:34:14.984" v="0" actId="47"/>
        <pc:sldMkLst>
          <pc:docMk/>
          <pc:sldMk cId="0" sldId="368"/>
        </pc:sldMkLst>
      </pc:sldChg>
      <pc:sldChg chg="new del">
        <pc:chgData name="Amanda Countryman" userId="0be1c61d-c610-49a2-ae7e-a4e60bd07712" providerId="ADAL" clId="{00873937-8841-4394-9081-668AB0E0F950}" dt="2026-09-08T02:52:39.339" v="35" actId="47"/>
        <pc:sldMkLst>
          <pc:docMk/>
          <pc:sldMk cId="3790266683" sldId="368"/>
        </pc:sldMkLst>
      </pc:sldChg>
      <pc:sldChg chg="del">
        <pc:chgData name="Amanda Countryman" userId="0be1c61d-c610-49a2-ae7e-a4e60bd07712" providerId="ADAL" clId="{00873937-8841-4394-9081-668AB0E0F950}" dt="2026-09-08T02:34:14.984" v="0" actId="47"/>
        <pc:sldMkLst>
          <pc:docMk/>
          <pc:sldMk cId="0" sldId="369"/>
        </pc:sldMkLst>
      </pc:sldChg>
      <pc:sldChg chg="modSp add mod">
        <pc:chgData name="Amanda Countryman" userId="0be1c61d-c610-49a2-ae7e-a4e60bd07712" providerId="ADAL" clId="{00873937-8841-4394-9081-668AB0E0F950}" dt="2026-09-08T02:54:54.051" v="155" actId="113"/>
        <pc:sldMkLst>
          <pc:docMk/>
          <pc:sldMk cId="924680383" sldId="369"/>
        </pc:sldMkLst>
        <pc:spChg chg="mod">
          <ac:chgData name="Amanda Countryman" userId="0be1c61d-c610-49a2-ae7e-a4e60bd07712" providerId="ADAL" clId="{00873937-8841-4394-9081-668AB0E0F950}" dt="2026-09-08T02:52:51.107" v="68" actId="20577"/>
          <ac:spMkLst>
            <pc:docMk/>
            <pc:sldMk cId="924680383" sldId="369"/>
            <ac:spMk id="614" creationId="{1131BE4F-FF9C-5A92-1FB9-5D2BF8BF0782}"/>
          </ac:spMkLst>
        </pc:spChg>
        <pc:spChg chg="mod">
          <ac:chgData name="Amanda Countryman" userId="0be1c61d-c610-49a2-ae7e-a4e60bd07712" providerId="ADAL" clId="{00873937-8841-4394-9081-668AB0E0F950}" dt="2026-09-08T02:54:54.051" v="155" actId="113"/>
          <ac:spMkLst>
            <pc:docMk/>
            <pc:sldMk cId="924680383" sldId="369"/>
            <ac:spMk id="615" creationId="{299DBFB8-9F62-5E1A-1A5E-F3482C974F3D}"/>
          </ac:spMkLst>
        </pc:spChg>
      </pc:sldChg>
      <pc:sldChg chg="del">
        <pc:chgData name="Amanda Countryman" userId="0be1c61d-c610-49a2-ae7e-a4e60bd07712" providerId="ADAL" clId="{00873937-8841-4394-9081-668AB0E0F950}" dt="2026-09-08T02:34:14.984" v="0" actId="47"/>
        <pc:sldMkLst>
          <pc:docMk/>
          <pc:sldMk cId="0" sldId="370"/>
        </pc:sldMkLst>
      </pc:sldChg>
      <pc:sldChg chg="del">
        <pc:chgData name="Amanda Countryman" userId="0be1c61d-c610-49a2-ae7e-a4e60bd07712" providerId="ADAL" clId="{00873937-8841-4394-9081-668AB0E0F950}" dt="2026-09-08T02:34:14.984" v="0" actId="47"/>
        <pc:sldMkLst>
          <pc:docMk/>
          <pc:sldMk cId="0" sldId="371"/>
        </pc:sldMkLst>
      </pc:sldChg>
      <pc:sldChg chg="del">
        <pc:chgData name="Amanda Countryman" userId="0be1c61d-c610-49a2-ae7e-a4e60bd07712" providerId="ADAL" clId="{00873937-8841-4394-9081-668AB0E0F950}" dt="2026-09-08T02:34:14.984" v="0" actId="47"/>
        <pc:sldMkLst>
          <pc:docMk/>
          <pc:sldMk cId="0" sldId="372"/>
        </pc:sldMkLst>
      </pc:sldChg>
      <pc:sldChg chg="del">
        <pc:chgData name="Amanda Countryman" userId="0be1c61d-c610-49a2-ae7e-a4e60bd07712" providerId="ADAL" clId="{00873937-8841-4394-9081-668AB0E0F950}" dt="2026-09-08T02:34:14.984" v="0" actId="47"/>
        <pc:sldMkLst>
          <pc:docMk/>
          <pc:sldMk cId="0" sldId="373"/>
        </pc:sldMkLst>
      </pc:sldChg>
      <pc:sldChg chg="del">
        <pc:chgData name="Amanda Countryman" userId="0be1c61d-c610-49a2-ae7e-a4e60bd07712" providerId="ADAL" clId="{00873937-8841-4394-9081-668AB0E0F950}" dt="2026-09-08T02:34:14.984" v="0" actId="47"/>
        <pc:sldMkLst>
          <pc:docMk/>
          <pc:sldMk cId="0" sldId="374"/>
        </pc:sldMkLst>
      </pc:sldChg>
      <pc:sldChg chg="del">
        <pc:chgData name="Amanda Countryman" userId="0be1c61d-c610-49a2-ae7e-a4e60bd07712" providerId="ADAL" clId="{00873937-8841-4394-9081-668AB0E0F950}" dt="2026-09-08T02:34:14.984" v="0" actId="47"/>
        <pc:sldMkLst>
          <pc:docMk/>
          <pc:sldMk cId="0" sldId="375"/>
        </pc:sldMkLst>
      </pc:sldChg>
      <pc:sldChg chg="del">
        <pc:chgData name="Amanda Countryman" userId="0be1c61d-c610-49a2-ae7e-a4e60bd07712" providerId="ADAL" clId="{00873937-8841-4394-9081-668AB0E0F950}" dt="2026-09-08T02:34:14.984" v="0" actId="47"/>
        <pc:sldMkLst>
          <pc:docMk/>
          <pc:sldMk cId="0" sldId="376"/>
        </pc:sldMkLst>
      </pc:sldChg>
      <pc:sldChg chg="del">
        <pc:chgData name="Amanda Countryman" userId="0be1c61d-c610-49a2-ae7e-a4e60bd07712" providerId="ADAL" clId="{00873937-8841-4394-9081-668AB0E0F950}" dt="2026-09-08T02:34:14.984" v="0" actId="47"/>
        <pc:sldMkLst>
          <pc:docMk/>
          <pc:sldMk cId="0" sldId="377"/>
        </pc:sldMkLst>
      </pc:sldChg>
      <pc:sldChg chg="del">
        <pc:chgData name="Amanda Countryman" userId="0be1c61d-c610-49a2-ae7e-a4e60bd07712" providerId="ADAL" clId="{00873937-8841-4394-9081-668AB0E0F950}" dt="2026-09-08T02:34:14.984" v="0" actId="47"/>
        <pc:sldMkLst>
          <pc:docMk/>
          <pc:sldMk cId="0" sldId="378"/>
        </pc:sldMkLst>
      </pc:sldChg>
      <pc:sldChg chg="del">
        <pc:chgData name="Amanda Countryman" userId="0be1c61d-c610-49a2-ae7e-a4e60bd07712" providerId="ADAL" clId="{00873937-8841-4394-9081-668AB0E0F950}" dt="2026-09-08T02:34:14.984" v="0" actId="47"/>
        <pc:sldMkLst>
          <pc:docMk/>
          <pc:sldMk cId="0" sldId="379"/>
        </pc:sldMkLst>
      </pc:sldChg>
      <pc:sldChg chg="del">
        <pc:chgData name="Amanda Countryman" userId="0be1c61d-c610-49a2-ae7e-a4e60bd07712" providerId="ADAL" clId="{00873937-8841-4394-9081-668AB0E0F950}" dt="2026-09-08T02:34:14.984" v="0" actId="47"/>
        <pc:sldMkLst>
          <pc:docMk/>
          <pc:sldMk cId="0" sldId="380"/>
        </pc:sldMkLst>
      </pc:sldChg>
      <pc:sldChg chg="del">
        <pc:chgData name="Amanda Countryman" userId="0be1c61d-c610-49a2-ae7e-a4e60bd07712" providerId="ADAL" clId="{00873937-8841-4394-9081-668AB0E0F950}" dt="2026-09-08T02:34:14.984" v="0" actId="47"/>
        <pc:sldMkLst>
          <pc:docMk/>
          <pc:sldMk cId="0" sldId="381"/>
        </pc:sldMkLst>
      </pc:sldChg>
      <pc:sldChg chg="del">
        <pc:chgData name="Amanda Countryman" userId="0be1c61d-c610-49a2-ae7e-a4e60bd07712" providerId="ADAL" clId="{00873937-8841-4394-9081-668AB0E0F950}" dt="2026-09-08T02:34:14.984" v="0" actId="47"/>
        <pc:sldMkLst>
          <pc:docMk/>
          <pc:sldMk cId="0" sldId="382"/>
        </pc:sldMkLst>
      </pc:sldChg>
      <pc:sldChg chg="del">
        <pc:chgData name="Amanda Countryman" userId="0be1c61d-c610-49a2-ae7e-a4e60bd07712" providerId="ADAL" clId="{00873937-8841-4394-9081-668AB0E0F950}" dt="2026-09-08T02:34:14.984" v="0" actId="47"/>
        <pc:sldMkLst>
          <pc:docMk/>
          <pc:sldMk cId="0" sldId="383"/>
        </pc:sldMkLst>
      </pc:sldChg>
      <pc:sldChg chg="del">
        <pc:chgData name="Amanda Countryman" userId="0be1c61d-c610-49a2-ae7e-a4e60bd07712" providerId="ADAL" clId="{00873937-8841-4394-9081-668AB0E0F950}" dt="2026-09-08T02:34:14.984" v="0" actId="47"/>
        <pc:sldMkLst>
          <pc:docMk/>
          <pc:sldMk cId="0" sldId="384"/>
        </pc:sldMkLst>
      </pc:sldChg>
      <pc:sldChg chg="del">
        <pc:chgData name="Amanda Countryman" userId="0be1c61d-c610-49a2-ae7e-a4e60bd07712" providerId="ADAL" clId="{00873937-8841-4394-9081-668AB0E0F950}" dt="2026-09-08T02:34:14.984" v="0" actId="47"/>
        <pc:sldMkLst>
          <pc:docMk/>
          <pc:sldMk cId="0" sldId="385"/>
        </pc:sldMkLst>
      </pc:sldChg>
      <pc:sldChg chg="del">
        <pc:chgData name="Amanda Countryman" userId="0be1c61d-c610-49a2-ae7e-a4e60bd07712" providerId="ADAL" clId="{00873937-8841-4394-9081-668AB0E0F950}" dt="2026-09-08T02:34:14.984" v="0" actId="47"/>
        <pc:sldMkLst>
          <pc:docMk/>
          <pc:sldMk cId="0" sldId="386"/>
        </pc:sldMkLst>
      </pc:sldChg>
      <pc:sldChg chg="del">
        <pc:chgData name="Amanda Countryman" userId="0be1c61d-c610-49a2-ae7e-a4e60bd07712" providerId="ADAL" clId="{00873937-8841-4394-9081-668AB0E0F950}" dt="2026-09-08T02:34:14.984" v="0" actId="47"/>
        <pc:sldMkLst>
          <pc:docMk/>
          <pc:sldMk cId="0" sldId="387"/>
        </pc:sldMkLst>
      </pc:sldChg>
      <pc:sldChg chg="del">
        <pc:chgData name="Amanda Countryman" userId="0be1c61d-c610-49a2-ae7e-a4e60bd07712" providerId="ADAL" clId="{00873937-8841-4394-9081-668AB0E0F950}" dt="2026-09-08T02:34:14.984" v="0" actId="47"/>
        <pc:sldMkLst>
          <pc:docMk/>
          <pc:sldMk cId="0" sldId="388"/>
        </pc:sldMkLst>
      </pc:sldChg>
      <pc:sldChg chg="del">
        <pc:chgData name="Amanda Countryman" userId="0be1c61d-c610-49a2-ae7e-a4e60bd07712" providerId="ADAL" clId="{00873937-8841-4394-9081-668AB0E0F950}" dt="2026-09-08T02:34:14.984" v="0" actId="47"/>
        <pc:sldMkLst>
          <pc:docMk/>
          <pc:sldMk cId="0" sldId="389"/>
        </pc:sldMkLst>
      </pc:sldChg>
      <pc:sldChg chg="del">
        <pc:chgData name="Amanda Countryman" userId="0be1c61d-c610-49a2-ae7e-a4e60bd07712" providerId="ADAL" clId="{00873937-8841-4394-9081-668AB0E0F950}" dt="2026-09-08T02:34:14.984" v="0" actId="47"/>
        <pc:sldMkLst>
          <pc:docMk/>
          <pc:sldMk cId="0" sldId="390"/>
        </pc:sldMkLst>
      </pc:sldChg>
      <pc:sldChg chg="del">
        <pc:chgData name="Amanda Countryman" userId="0be1c61d-c610-49a2-ae7e-a4e60bd07712" providerId="ADAL" clId="{00873937-8841-4394-9081-668AB0E0F950}" dt="2026-09-08T02:34:14.984" v="0" actId="47"/>
        <pc:sldMkLst>
          <pc:docMk/>
          <pc:sldMk cId="0" sldId="391"/>
        </pc:sldMkLst>
      </pc:sldChg>
      <pc:sldChg chg="del">
        <pc:chgData name="Amanda Countryman" userId="0be1c61d-c610-49a2-ae7e-a4e60bd07712" providerId="ADAL" clId="{00873937-8841-4394-9081-668AB0E0F950}" dt="2026-09-08T02:34:14.984" v="0" actId="47"/>
        <pc:sldMkLst>
          <pc:docMk/>
          <pc:sldMk cId="0" sldId="392"/>
        </pc:sldMkLst>
      </pc:sldChg>
      <pc:sldChg chg="del">
        <pc:chgData name="Amanda Countryman" userId="0be1c61d-c610-49a2-ae7e-a4e60bd07712" providerId="ADAL" clId="{00873937-8841-4394-9081-668AB0E0F950}" dt="2026-09-08T02:34:14.984" v="0" actId="47"/>
        <pc:sldMkLst>
          <pc:docMk/>
          <pc:sldMk cId="0" sldId="393"/>
        </pc:sldMkLst>
      </pc:sldChg>
      <pc:sldChg chg="del">
        <pc:chgData name="Amanda Countryman" userId="0be1c61d-c610-49a2-ae7e-a4e60bd07712" providerId="ADAL" clId="{00873937-8841-4394-9081-668AB0E0F950}" dt="2026-09-08T02:34:14.984" v="0" actId="47"/>
        <pc:sldMkLst>
          <pc:docMk/>
          <pc:sldMk cId="0" sldId="394"/>
        </pc:sldMkLst>
      </pc:sldChg>
      <pc:sldChg chg="del">
        <pc:chgData name="Amanda Countryman" userId="0be1c61d-c610-49a2-ae7e-a4e60bd07712" providerId="ADAL" clId="{00873937-8841-4394-9081-668AB0E0F950}" dt="2026-09-08T02:34:14.984" v="0" actId="47"/>
        <pc:sldMkLst>
          <pc:docMk/>
          <pc:sldMk cId="0" sldId="395"/>
        </pc:sldMkLst>
      </pc:sldChg>
      <pc:sldChg chg="del">
        <pc:chgData name="Amanda Countryman" userId="0be1c61d-c610-49a2-ae7e-a4e60bd07712" providerId="ADAL" clId="{00873937-8841-4394-9081-668AB0E0F950}" dt="2026-09-08T02:34:14.984" v="0" actId="47"/>
        <pc:sldMkLst>
          <pc:docMk/>
          <pc:sldMk cId="0" sldId="396"/>
        </pc:sldMkLst>
      </pc:sldChg>
      <pc:sldChg chg="del">
        <pc:chgData name="Amanda Countryman" userId="0be1c61d-c610-49a2-ae7e-a4e60bd07712" providerId="ADAL" clId="{00873937-8841-4394-9081-668AB0E0F950}" dt="2026-09-08T02:34:14.984" v="0" actId="47"/>
        <pc:sldMkLst>
          <pc:docMk/>
          <pc:sldMk cId="0" sldId="397"/>
        </pc:sldMkLst>
      </pc:sldChg>
      <pc:sldChg chg="del">
        <pc:chgData name="Amanda Countryman" userId="0be1c61d-c610-49a2-ae7e-a4e60bd07712" providerId="ADAL" clId="{00873937-8841-4394-9081-668AB0E0F950}" dt="2026-09-08T02:34:14.984" v="0" actId="47"/>
        <pc:sldMkLst>
          <pc:docMk/>
          <pc:sldMk cId="0" sldId="398"/>
        </pc:sldMkLst>
      </pc:sldChg>
      <pc:sldChg chg="del">
        <pc:chgData name="Amanda Countryman" userId="0be1c61d-c610-49a2-ae7e-a4e60bd07712" providerId="ADAL" clId="{00873937-8841-4394-9081-668AB0E0F950}" dt="2026-09-08T02:34:14.984" v="0" actId="47"/>
        <pc:sldMkLst>
          <pc:docMk/>
          <pc:sldMk cId="0" sldId="399"/>
        </pc:sldMkLst>
      </pc:sldChg>
      <pc:sldChg chg="del">
        <pc:chgData name="Amanda Countryman" userId="0be1c61d-c610-49a2-ae7e-a4e60bd07712" providerId="ADAL" clId="{00873937-8841-4394-9081-668AB0E0F950}" dt="2026-09-08T02:34:14.984" v="0" actId="47"/>
        <pc:sldMkLst>
          <pc:docMk/>
          <pc:sldMk cId="0" sldId="400"/>
        </pc:sldMkLst>
      </pc:sldChg>
      <pc:sldChg chg="del">
        <pc:chgData name="Amanda Countryman" userId="0be1c61d-c610-49a2-ae7e-a4e60bd07712" providerId="ADAL" clId="{00873937-8841-4394-9081-668AB0E0F950}" dt="2026-09-08T02:34:14.984" v="0" actId="47"/>
        <pc:sldMkLst>
          <pc:docMk/>
          <pc:sldMk cId="0" sldId="401"/>
        </pc:sldMkLst>
      </pc:sldChg>
      <pc:sldChg chg="del">
        <pc:chgData name="Amanda Countryman" userId="0be1c61d-c610-49a2-ae7e-a4e60bd07712" providerId="ADAL" clId="{00873937-8841-4394-9081-668AB0E0F950}" dt="2026-09-08T02:34:14.984" v="0" actId="47"/>
        <pc:sldMkLst>
          <pc:docMk/>
          <pc:sldMk cId="0" sldId="402"/>
        </pc:sldMkLst>
      </pc:sldChg>
      <pc:sldMasterChg chg="delSldLayout">
        <pc:chgData name="Amanda Countryman" userId="0be1c61d-c610-49a2-ae7e-a4e60bd07712" providerId="ADAL" clId="{00873937-8841-4394-9081-668AB0E0F950}" dt="2026-09-08T02:34:14.984" v="0" actId="47"/>
        <pc:sldMasterMkLst>
          <pc:docMk/>
          <pc:sldMasterMk cId="0" sldId="2147483659"/>
        </pc:sldMasterMkLst>
        <pc:sldLayoutChg chg="del">
          <pc:chgData name="Amanda Countryman" userId="0be1c61d-c610-49a2-ae7e-a4e60bd07712" providerId="ADAL" clId="{00873937-8841-4394-9081-668AB0E0F950}" dt="2026-09-08T02:34:14.984" v="0" actId="47"/>
          <pc:sldLayoutMkLst>
            <pc:docMk/>
            <pc:sldMasterMk cId="0" sldId="2147483659"/>
            <pc:sldLayoutMk cId="0" sldId="2147483658"/>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e8fa69a014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e8fa69a014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0"/>
        <p:cNvGrpSpPr/>
        <p:nvPr/>
      </p:nvGrpSpPr>
      <p:grpSpPr>
        <a:xfrm>
          <a:off x="0" y="0"/>
          <a:ext cx="0" cy="0"/>
          <a:chOff x="0" y="0"/>
          <a:chExt cx="0" cy="0"/>
        </a:xfrm>
      </p:grpSpPr>
      <p:sp>
        <p:nvSpPr>
          <p:cNvPr id="601" name="Google Shape;601;gebdeb8a99d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2" name="Google Shape;602;gebdeb8a99d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
        <p:cNvGrpSpPr/>
        <p:nvPr/>
      </p:nvGrpSpPr>
      <p:grpSpPr>
        <a:xfrm>
          <a:off x="0" y="0"/>
          <a:ext cx="0" cy="0"/>
          <a:chOff x="0" y="0"/>
          <a:chExt cx="0" cy="0"/>
        </a:xfrm>
      </p:grpSpPr>
      <p:sp>
        <p:nvSpPr>
          <p:cNvPr id="606" name="Google Shape;606;gebdeb8a99d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7" name="Google Shape;607;gebdeb8a99d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
          <a:extLst>
            <a:ext uri="{FF2B5EF4-FFF2-40B4-BE49-F238E27FC236}">
              <a16:creationId xmlns:a16="http://schemas.microsoft.com/office/drawing/2014/main" id="{4A1E3EEB-17A4-BBE6-9FE0-3F97021ED14A}"/>
            </a:ext>
          </a:extLst>
        </p:cNvPr>
        <p:cNvGrpSpPr/>
        <p:nvPr/>
      </p:nvGrpSpPr>
      <p:grpSpPr>
        <a:xfrm>
          <a:off x="0" y="0"/>
          <a:ext cx="0" cy="0"/>
          <a:chOff x="0" y="0"/>
          <a:chExt cx="0" cy="0"/>
        </a:xfrm>
      </p:grpSpPr>
      <p:sp>
        <p:nvSpPr>
          <p:cNvPr id="611" name="Google Shape;611;gebdeb8a99d_0_20:notes">
            <a:extLst>
              <a:ext uri="{FF2B5EF4-FFF2-40B4-BE49-F238E27FC236}">
                <a16:creationId xmlns:a16="http://schemas.microsoft.com/office/drawing/2014/main" id="{3BD766F2-909B-C0CA-AFAA-B9B1E832C31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2" name="Google Shape;612;gebdeb8a99d_0_20:notes">
            <a:extLst>
              <a:ext uri="{FF2B5EF4-FFF2-40B4-BE49-F238E27FC236}">
                <a16:creationId xmlns:a16="http://schemas.microsoft.com/office/drawing/2014/main" id="{E2EFF10A-F00B-C876-6FA8-9738220847C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541688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
        <p:cNvGrpSpPr/>
        <p:nvPr/>
      </p:nvGrpSpPr>
      <p:grpSpPr>
        <a:xfrm>
          <a:off x="0" y="0"/>
          <a:ext cx="0" cy="0"/>
          <a:chOff x="0" y="0"/>
          <a:chExt cx="0" cy="0"/>
        </a:xfrm>
      </p:grpSpPr>
      <p:sp>
        <p:nvSpPr>
          <p:cNvPr id="611" name="Google Shape;611;gebdeb8a99d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2" name="Google Shape;612;gebdeb8a99d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6"/>
        <p:cNvGrpSpPr/>
        <p:nvPr/>
      </p:nvGrpSpPr>
      <p:grpSpPr>
        <a:xfrm>
          <a:off x="0" y="0"/>
          <a:ext cx="0" cy="0"/>
          <a:chOff x="0" y="0"/>
          <a:chExt cx="0" cy="0"/>
        </a:xfrm>
      </p:grpSpPr>
      <p:sp>
        <p:nvSpPr>
          <p:cNvPr id="617" name="Google Shape;617;gebdeb8a99d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8" name="Google Shape;618;gebdeb8a99d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g156316478f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3" name="Google Shape;623;g156316478f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7"/>
        <p:cNvGrpSpPr/>
        <p:nvPr/>
      </p:nvGrpSpPr>
      <p:grpSpPr>
        <a:xfrm>
          <a:off x="0" y="0"/>
          <a:ext cx="0" cy="0"/>
          <a:chOff x="0" y="0"/>
          <a:chExt cx="0" cy="0"/>
        </a:xfrm>
      </p:grpSpPr>
      <p:sp>
        <p:nvSpPr>
          <p:cNvPr id="628" name="Google Shape;628;gebdeb8a99d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9" name="Google Shape;629;gebdeb8a99d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3"/>
        <p:cNvGrpSpPr/>
        <p:nvPr/>
      </p:nvGrpSpPr>
      <p:grpSpPr>
        <a:xfrm>
          <a:off x="0" y="0"/>
          <a:ext cx="0" cy="0"/>
          <a:chOff x="0" y="0"/>
          <a:chExt cx="0" cy="0"/>
        </a:xfrm>
      </p:grpSpPr>
      <p:sp>
        <p:nvSpPr>
          <p:cNvPr id="634" name="Google Shape;634;g1527be06bf5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5" name="Google Shape;635;g1527be06bf5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p:cNvGrpSpPr/>
        <p:nvPr/>
      </p:nvGrpSpPr>
      <p:grpSpPr>
        <a:xfrm>
          <a:off x="0" y="0"/>
          <a:ext cx="0" cy="0"/>
          <a:chOff x="0" y="0"/>
          <a:chExt cx="0" cy="0"/>
        </a:xfrm>
      </p:grpSpPr>
      <p:sp>
        <p:nvSpPr>
          <p:cNvPr id="640" name="Google Shape;640;g1527be06bf5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1" name="Google Shape;641;g1527be06bf5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5"/>
        <p:cNvGrpSpPr/>
        <p:nvPr/>
      </p:nvGrpSpPr>
      <p:grpSpPr>
        <a:xfrm>
          <a:off x="0" y="0"/>
          <a:ext cx="0" cy="0"/>
          <a:chOff x="0" y="0"/>
          <a:chExt cx="0" cy="0"/>
        </a:xfrm>
      </p:grpSpPr>
      <p:sp>
        <p:nvSpPr>
          <p:cNvPr id="646" name="Google Shape;646;g1527be06bf5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7" name="Google Shape;647;g1527be06bf5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p:cNvGrpSpPr/>
        <p:nvPr/>
      </p:nvGrpSpPr>
      <p:grpSpPr>
        <a:xfrm>
          <a:off x="0" y="0"/>
          <a:ext cx="0" cy="0"/>
          <a:chOff x="0" y="0"/>
          <a:chExt cx="0" cy="0"/>
        </a:xfrm>
      </p:grpSpPr>
      <p:sp>
        <p:nvSpPr>
          <p:cNvPr id="652" name="Google Shape;652;g1527be06bf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3" name="Google Shape;653;g1527be06bf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p:cNvGrpSpPr/>
        <p:nvPr/>
      </p:nvGrpSpPr>
      <p:grpSpPr>
        <a:xfrm>
          <a:off x="0" y="0"/>
          <a:ext cx="0" cy="0"/>
          <a:chOff x="0" y="0"/>
          <a:chExt cx="0" cy="0"/>
        </a:xfrm>
      </p:grpSpPr>
      <p:sp>
        <p:nvSpPr>
          <p:cNvPr id="658" name="Google Shape;658;gebdeb8a99d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9" name="Google Shape;659;gebdeb8a99d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ebdeb8a99d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4" name="Google Shape;664;gebdeb8a99d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8"/>
        <p:cNvGrpSpPr/>
        <p:nvPr/>
      </p:nvGrpSpPr>
      <p:grpSpPr>
        <a:xfrm>
          <a:off x="0" y="0"/>
          <a:ext cx="0" cy="0"/>
          <a:chOff x="0" y="0"/>
          <a:chExt cx="0" cy="0"/>
        </a:xfrm>
      </p:grpSpPr>
      <p:sp>
        <p:nvSpPr>
          <p:cNvPr id="669" name="Google Shape;669;gebdeb8a99d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0" name="Google Shape;670;gebdeb8a99d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4"/>
        <p:cNvGrpSpPr/>
        <p:nvPr/>
      </p:nvGrpSpPr>
      <p:grpSpPr>
        <a:xfrm>
          <a:off x="0" y="0"/>
          <a:ext cx="0" cy="0"/>
          <a:chOff x="0" y="0"/>
          <a:chExt cx="0" cy="0"/>
        </a:xfrm>
      </p:grpSpPr>
      <p:sp>
        <p:nvSpPr>
          <p:cNvPr id="675" name="Google Shape;675;gef71b72d0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6" name="Google Shape;676;gef71b72d0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0"/>
        <p:cNvGrpSpPr/>
        <p:nvPr/>
      </p:nvGrpSpPr>
      <p:grpSpPr>
        <a:xfrm>
          <a:off x="0" y="0"/>
          <a:ext cx="0" cy="0"/>
          <a:chOff x="0" y="0"/>
          <a:chExt cx="0" cy="0"/>
        </a:xfrm>
      </p:grpSpPr>
      <p:sp>
        <p:nvSpPr>
          <p:cNvPr id="681" name="Google Shape;681;gebdeb8a99d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2" name="Google Shape;682;gebdeb8a99d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6"/>
        <p:cNvGrpSpPr/>
        <p:nvPr/>
      </p:nvGrpSpPr>
      <p:grpSpPr>
        <a:xfrm>
          <a:off x="0" y="0"/>
          <a:ext cx="0" cy="0"/>
          <a:chOff x="0" y="0"/>
          <a:chExt cx="0" cy="0"/>
        </a:xfrm>
      </p:grpSpPr>
      <p:sp>
        <p:nvSpPr>
          <p:cNvPr id="687" name="Google Shape;687;g156316478f4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8" name="Google Shape;688;g156316478f4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gebdeb8a99d_0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4" name="Google Shape;694;gebdeb8a99d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8"/>
        <p:cNvGrpSpPr/>
        <p:nvPr/>
      </p:nvGrpSpPr>
      <p:grpSpPr>
        <a:xfrm>
          <a:off x="0" y="0"/>
          <a:ext cx="0" cy="0"/>
          <a:chOff x="0" y="0"/>
          <a:chExt cx="0" cy="0"/>
        </a:xfrm>
      </p:grpSpPr>
      <p:sp>
        <p:nvSpPr>
          <p:cNvPr id="699" name="Google Shape;699;gebdeb8a99d_0_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0" name="Google Shape;700;gebdeb8a99d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4"/>
        <p:cNvGrpSpPr/>
        <p:nvPr/>
      </p:nvGrpSpPr>
      <p:grpSpPr>
        <a:xfrm>
          <a:off x="0" y="0"/>
          <a:ext cx="0" cy="0"/>
          <a:chOff x="0" y="0"/>
          <a:chExt cx="0" cy="0"/>
        </a:xfrm>
      </p:grpSpPr>
      <p:sp>
        <p:nvSpPr>
          <p:cNvPr id="705" name="Google Shape;705;gebdeb8a99d_0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6" name="Google Shape;706;gebdeb8a99d_0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0"/>
        <p:cNvGrpSpPr/>
        <p:nvPr/>
      </p:nvGrpSpPr>
      <p:grpSpPr>
        <a:xfrm>
          <a:off x="0" y="0"/>
          <a:ext cx="0" cy="0"/>
          <a:chOff x="0" y="0"/>
          <a:chExt cx="0" cy="0"/>
        </a:xfrm>
      </p:grpSpPr>
      <p:sp>
        <p:nvSpPr>
          <p:cNvPr id="711" name="Google Shape;711;gebdeb8a99d_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2" name="Google Shape;712;gebdeb8a99d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3" r:id="rId4"/>
    <p:sldLayoutId id="2147483655" r:id="rId5"/>
    <p:sldLayoutId id="2147483656" r:id="rId6"/>
    <p:sldLayoutId id="2147483657"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AREC 570 Slides</a:t>
            </a:r>
            <a:endParaRPr/>
          </a:p>
        </p:txBody>
      </p:sp>
      <p:sp>
        <p:nvSpPr>
          <p:cNvPr id="55" name="Google Shape;55;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Shape 603"/>
        <p:cNvGrpSpPr/>
        <p:nvPr/>
      </p:nvGrpSpPr>
      <p:grpSpPr>
        <a:xfrm>
          <a:off x="0" y="0"/>
          <a:ext cx="0" cy="0"/>
          <a:chOff x="0" y="0"/>
          <a:chExt cx="0" cy="0"/>
        </a:xfrm>
      </p:grpSpPr>
      <p:sp>
        <p:nvSpPr>
          <p:cNvPr id="604" name="Google Shape;604;p105"/>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Unit 2 </a:t>
            </a:r>
            <a:endParaRPr/>
          </a:p>
          <a:p>
            <a:pPr marL="0" lvl="0" indent="0" algn="ctr" rtl="0">
              <a:spcBef>
                <a:spcPts val="0"/>
              </a:spcBef>
              <a:spcAft>
                <a:spcPts val="0"/>
              </a:spcAft>
              <a:buNone/>
            </a:pPr>
            <a:r>
              <a:rPr lang="en"/>
              <a:t>Defining a research problem/question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08"/>
        <p:cNvGrpSpPr/>
        <p:nvPr/>
      </p:nvGrpSpPr>
      <p:grpSpPr>
        <a:xfrm>
          <a:off x="0" y="0"/>
          <a:ext cx="0" cy="0"/>
          <a:chOff x="0" y="0"/>
          <a:chExt cx="0" cy="0"/>
        </a:xfrm>
      </p:grpSpPr>
      <p:sp>
        <p:nvSpPr>
          <p:cNvPr id="609" name="Google Shape;609;p106"/>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Greenlaw Chapter 2</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13">
          <a:extLst>
            <a:ext uri="{FF2B5EF4-FFF2-40B4-BE49-F238E27FC236}">
              <a16:creationId xmlns:a16="http://schemas.microsoft.com/office/drawing/2014/main" id="{3EB96B7E-47B1-C626-E210-5F63D3DD4251}"/>
            </a:ext>
          </a:extLst>
        </p:cNvPr>
        <p:cNvGrpSpPr/>
        <p:nvPr/>
      </p:nvGrpSpPr>
      <p:grpSpPr>
        <a:xfrm>
          <a:off x="0" y="0"/>
          <a:ext cx="0" cy="0"/>
          <a:chOff x="0" y="0"/>
          <a:chExt cx="0" cy="0"/>
        </a:xfrm>
      </p:grpSpPr>
      <p:sp>
        <p:nvSpPr>
          <p:cNvPr id="614" name="Google Shape;614;p107">
            <a:extLst>
              <a:ext uri="{FF2B5EF4-FFF2-40B4-BE49-F238E27FC236}">
                <a16:creationId xmlns:a16="http://schemas.microsoft.com/office/drawing/2014/main" id="{1131BE4F-FF9C-5A92-1FB9-5D2BF8BF0782}"/>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The Research Process in Economics</a:t>
            </a:r>
            <a:endParaRPr dirty="0"/>
          </a:p>
        </p:txBody>
      </p:sp>
      <p:sp>
        <p:nvSpPr>
          <p:cNvPr id="615" name="Google Shape;615;p107">
            <a:extLst>
              <a:ext uri="{FF2B5EF4-FFF2-40B4-BE49-F238E27FC236}">
                <a16:creationId xmlns:a16="http://schemas.microsoft.com/office/drawing/2014/main" id="{299DBFB8-9F62-5E1A-1A5E-F3482C974F3D}"/>
              </a:ext>
            </a:extLst>
          </p:cNvPr>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r>
              <a:rPr lang="en-US" b="1" dirty="0"/>
              <a:t>Developing an Effective Research Question</a:t>
            </a:r>
          </a:p>
          <a:p>
            <a:r>
              <a:rPr lang="en-US" dirty="0"/>
              <a:t>Surveying the Literature on the Topic</a:t>
            </a:r>
          </a:p>
          <a:p>
            <a:r>
              <a:rPr lang="en-US" dirty="0"/>
              <a:t>Analyzing the </a:t>
            </a:r>
            <a:r>
              <a:rPr lang="en-US" dirty="0" err="1"/>
              <a:t>lssue</a:t>
            </a:r>
            <a:r>
              <a:rPr lang="en-US" dirty="0"/>
              <a:t> or Problem</a:t>
            </a:r>
          </a:p>
          <a:p>
            <a:r>
              <a:rPr lang="en-US" dirty="0"/>
              <a:t>Testing Your Analysis</a:t>
            </a:r>
          </a:p>
          <a:p>
            <a:r>
              <a:rPr lang="en-US" dirty="0"/>
              <a:t>Interpreting the Results and Drawing Conclusions</a:t>
            </a:r>
          </a:p>
          <a:p>
            <a:r>
              <a:rPr lang="en-US" dirty="0"/>
              <a:t>Communicating the Findings of the Research Project</a:t>
            </a:r>
            <a:endParaRPr dirty="0"/>
          </a:p>
        </p:txBody>
      </p:sp>
    </p:spTree>
    <p:extLst>
      <p:ext uri="{BB962C8B-B14F-4D97-AF65-F5344CB8AC3E}">
        <p14:creationId xmlns:p14="http://schemas.microsoft.com/office/powerpoint/2010/main" val="9246803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13"/>
        <p:cNvGrpSpPr/>
        <p:nvPr/>
      </p:nvGrpSpPr>
      <p:grpSpPr>
        <a:xfrm>
          <a:off x="0" y="0"/>
          <a:ext cx="0" cy="0"/>
          <a:chOff x="0" y="0"/>
          <a:chExt cx="0" cy="0"/>
        </a:xfrm>
      </p:grpSpPr>
      <p:sp>
        <p:nvSpPr>
          <p:cNvPr id="614" name="Google Shape;614;p10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Step 1: 3 Questions</a:t>
            </a:r>
            <a:endParaRPr/>
          </a:p>
        </p:txBody>
      </p:sp>
      <p:sp>
        <p:nvSpPr>
          <p:cNvPr id="615" name="Google Shape;615;p10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t>What is the research topic?</a:t>
            </a:r>
            <a:endParaRPr dirty="0"/>
          </a:p>
          <a:p>
            <a:pPr marL="0" lvl="0" indent="0" algn="l" rtl="0">
              <a:spcBef>
                <a:spcPts val="1600"/>
              </a:spcBef>
              <a:spcAft>
                <a:spcPts val="0"/>
              </a:spcAft>
              <a:buClr>
                <a:schemeClr val="dk1"/>
              </a:buClr>
              <a:buSzPts val="1100"/>
              <a:buFont typeface="Arial"/>
              <a:buNone/>
            </a:pPr>
            <a:r>
              <a:rPr lang="en" dirty="0"/>
              <a:t>What is the research question?</a:t>
            </a:r>
            <a:endParaRPr dirty="0"/>
          </a:p>
          <a:p>
            <a:pPr marL="0" lvl="0" indent="0" algn="l" rtl="0">
              <a:spcBef>
                <a:spcPts val="1600"/>
              </a:spcBef>
              <a:spcAft>
                <a:spcPts val="1600"/>
              </a:spcAft>
              <a:buNone/>
            </a:pPr>
            <a:r>
              <a:rPr lang="en" dirty="0"/>
              <a:t>What is/are the hypotheses?</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19"/>
        <p:cNvGrpSpPr/>
        <p:nvPr/>
      </p:nvGrpSpPr>
      <p:grpSpPr>
        <a:xfrm>
          <a:off x="0" y="0"/>
          <a:ext cx="0" cy="0"/>
          <a:chOff x="0" y="0"/>
          <a:chExt cx="0" cy="0"/>
        </a:xfrm>
      </p:grpSpPr>
      <p:sp>
        <p:nvSpPr>
          <p:cNvPr id="620" name="Google Shape;620;p108"/>
          <p:cNvSpPr txBox="1">
            <a:spLocks noGrp="1"/>
          </p:cNvSpPr>
          <p:nvPr>
            <p:ph type="body" idx="1"/>
          </p:nvPr>
        </p:nvSpPr>
        <p:spPr>
          <a:xfrm>
            <a:off x="311700" y="198825"/>
            <a:ext cx="8520600" cy="4370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t>Topic is the general area of the research - what you might tell someone that asks what you work on in passing</a:t>
            </a:r>
            <a:endParaRPr dirty="0"/>
          </a:p>
          <a:p>
            <a:pPr marL="0" lvl="0" indent="0" algn="l" rtl="0">
              <a:spcBef>
                <a:spcPts val="1600"/>
              </a:spcBef>
              <a:spcAft>
                <a:spcPts val="0"/>
              </a:spcAft>
              <a:buClr>
                <a:schemeClr val="dk1"/>
              </a:buClr>
              <a:buSzPts val="1100"/>
              <a:buFont typeface="Arial"/>
              <a:buNone/>
            </a:pPr>
            <a:r>
              <a:rPr lang="en" dirty="0"/>
              <a:t>Research question: </a:t>
            </a:r>
            <a:endParaRPr dirty="0"/>
          </a:p>
          <a:p>
            <a:pPr marL="457200" lvl="0" indent="-342900" algn="l" rtl="0">
              <a:spcBef>
                <a:spcPts val="1600"/>
              </a:spcBef>
              <a:spcAft>
                <a:spcPts val="0"/>
              </a:spcAft>
              <a:buSzPts val="1800"/>
              <a:buChar char="●"/>
            </a:pPr>
            <a:r>
              <a:rPr lang="en" dirty="0"/>
              <a:t>Most important part during planning phase - a good research question will focus your efforts throughout the project</a:t>
            </a:r>
            <a:endParaRPr dirty="0"/>
          </a:p>
          <a:p>
            <a:pPr marL="457200" lvl="0" indent="-342900" algn="l" rtl="0">
              <a:spcBef>
                <a:spcPts val="0"/>
              </a:spcBef>
              <a:spcAft>
                <a:spcPts val="0"/>
              </a:spcAft>
              <a:buSzPts val="1800"/>
              <a:buChar char="●"/>
            </a:pPr>
            <a:r>
              <a:rPr lang="en" dirty="0"/>
              <a:t>Interest = significance to the field… how does it help us better understand the topic. To what degree are you asking your audience to change their beliefs</a:t>
            </a:r>
            <a:endParaRPr dirty="0"/>
          </a:p>
          <a:p>
            <a:pPr marL="0" lvl="0" indent="0" algn="l" rtl="0">
              <a:spcBef>
                <a:spcPts val="1600"/>
              </a:spcBef>
              <a:spcAft>
                <a:spcPts val="0"/>
              </a:spcAft>
              <a:buClr>
                <a:schemeClr val="dk1"/>
              </a:buClr>
              <a:buSzPts val="1100"/>
              <a:buFont typeface="Arial"/>
              <a:buNone/>
            </a:pPr>
            <a:r>
              <a:rPr lang="en" dirty="0"/>
              <a:t>Hypothesis: the researcher's proposed answer to the research question</a:t>
            </a:r>
            <a:endParaRPr dirty="0"/>
          </a:p>
          <a:p>
            <a:pPr marL="457200" lvl="0" indent="-342900" algn="l" rtl="0">
              <a:spcBef>
                <a:spcPts val="1600"/>
              </a:spcBef>
              <a:spcAft>
                <a:spcPts val="0"/>
              </a:spcAft>
              <a:buSzPts val="1800"/>
              <a:buChar char="●"/>
            </a:pPr>
            <a:r>
              <a:rPr lang="en" dirty="0"/>
              <a:t>Example: People avoid health risks by forgoing outdoor recreation activities</a:t>
            </a:r>
            <a:endParaRPr dirty="0"/>
          </a:p>
          <a:p>
            <a:pPr marL="0" lvl="0" indent="0" algn="l" rtl="0">
              <a:spcBef>
                <a:spcPts val="1600"/>
              </a:spcBef>
              <a:spcAft>
                <a:spcPts val="0"/>
              </a:spcAft>
              <a:buClr>
                <a:schemeClr val="dk1"/>
              </a:buClr>
              <a:buSzPts val="1100"/>
              <a:buFont typeface="Arial"/>
              <a:buNone/>
            </a:pPr>
            <a:endParaRPr dirty="0"/>
          </a:p>
          <a:p>
            <a:pPr marL="0" lvl="0" indent="0" algn="l" rtl="0">
              <a:spcBef>
                <a:spcPts val="1600"/>
              </a:spcBef>
              <a:spcAft>
                <a:spcPts val="1600"/>
              </a:spcAft>
              <a:buNone/>
            </a:pP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sp>
        <p:nvSpPr>
          <p:cNvPr id="625" name="Google Shape;625;p10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Example 1</a:t>
            </a:r>
            <a:endParaRPr/>
          </a:p>
        </p:txBody>
      </p:sp>
      <p:sp>
        <p:nvSpPr>
          <p:cNvPr id="626" name="Google Shape;626;p10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Topic: Exposure to air quality</a:t>
            </a:r>
            <a:endParaRPr/>
          </a:p>
          <a:p>
            <a:pPr marL="0" lvl="0" indent="0" algn="l" rtl="0">
              <a:spcBef>
                <a:spcPts val="1600"/>
              </a:spcBef>
              <a:spcAft>
                <a:spcPts val="0"/>
              </a:spcAft>
              <a:buNone/>
            </a:pPr>
            <a:r>
              <a:rPr lang="en"/>
              <a:t>Research Question: Do people forgo outdoor recreation activities in response to bad air quality caused by wildfire smoke?</a:t>
            </a:r>
            <a:endParaRPr/>
          </a:p>
          <a:p>
            <a:pPr marL="0" lvl="0" indent="0" algn="l" rtl="0">
              <a:spcBef>
                <a:spcPts val="1600"/>
              </a:spcBef>
              <a:spcAft>
                <a:spcPts val="0"/>
              </a:spcAft>
              <a:buNone/>
            </a:pPr>
            <a:r>
              <a:rPr lang="en"/>
              <a:t>Hypothesis: yes, but it depends on: health state, severity of smoke…</a:t>
            </a:r>
            <a:endParaRPr/>
          </a:p>
          <a:p>
            <a:pPr marL="0" lvl="0" indent="0" algn="l" rtl="0">
              <a:spcBef>
                <a:spcPts val="1600"/>
              </a:spcBef>
              <a:spcAft>
                <a:spcPts val="0"/>
              </a:spcAft>
              <a:buClr>
                <a:schemeClr val="dk1"/>
              </a:buClr>
              <a:buSzPts val="1100"/>
              <a:buFont typeface="Arial"/>
              <a:buNone/>
            </a:pPr>
            <a:endParaRPr/>
          </a:p>
          <a:p>
            <a:pPr marL="0" lvl="0" indent="0" algn="l" rtl="0">
              <a:spcBef>
                <a:spcPts val="1600"/>
              </a:spcBef>
              <a:spcAft>
                <a:spcPts val="1600"/>
              </a:spcAft>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30"/>
        <p:cNvGrpSpPr/>
        <p:nvPr/>
      </p:nvGrpSpPr>
      <p:grpSpPr>
        <a:xfrm>
          <a:off x="0" y="0"/>
          <a:ext cx="0" cy="0"/>
          <a:chOff x="0" y="0"/>
          <a:chExt cx="0" cy="0"/>
        </a:xfrm>
      </p:grpSpPr>
      <p:sp>
        <p:nvSpPr>
          <p:cNvPr id="631" name="Google Shape;631;p11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Characteristics of a good economics research question</a:t>
            </a:r>
            <a:endParaRPr/>
          </a:p>
        </p:txBody>
      </p:sp>
      <p:sp>
        <p:nvSpPr>
          <p:cNvPr id="632" name="Google Shape;632;p110"/>
          <p:cNvSpPr txBox="1">
            <a:spLocks noGrp="1"/>
          </p:cNvSpPr>
          <p:nvPr>
            <p:ph type="body" idx="1"/>
          </p:nvPr>
        </p:nvSpPr>
        <p:spPr>
          <a:xfrm>
            <a:off x="311700" y="1469575"/>
            <a:ext cx="8520600" cy="3388800"/>
          </a:xfrm>
          <a:prstGeom prst="rect">
            <a:avLst/>
          </a:prstGeom>
        </p:spPr>
        <p:txBody>
          <a:bodyPr spcFirstLastPara="1" wrap="square" lIns="91425" tIns="91425" rIns="91425" bIns="91425" anchor="t" anchorCtr="0">
            <a:noAutofit/>
          </a:bodyPr>
          <a:lstStyle/>
          <a:p>
            <a:pPr marL="285750" indent="-285750">
              <a:buClr>
                <a:schemeClr val="dk1"/>
              </a:buClr>
              <a:buSzPts val="1100"/>
            </a:pPr>
            <a:r>
              <a:rPr lang="en" dirty="0"/>
              <a:t>Problem oriented - what does this mean?  Examples?</a:t>
            </a:r>
            <a:endParaRPr dirty="0"/>
          </a:p>
          <a:p>
            <a:pPr marL="285750" indent="-285750">
              <a:spcBef>
                <a:spcPts val="1600"/>
              </a:spcBef>
              <a:buClr>
                <a:schemeClr val="dk1"/>
              </a:buClr>
              <a:buSzPts val="1100"/>
            </a:pPr>
            <a:r>
              <a:rPr lang="en" dirty="0"/>
              <a:t>Analytical rather than descriptive</a:t>
            </a:r>
            <a:endParaRPr dirty="0"/>
          </a:p>
          <a:p>
            <a:pPr marL="285750" indent="-285750">
              <a:spcBef>
                <a:spcPts val="1600"/>
              </a:spcBef>
              <a:buClr>
                <a:schemeClr val="dk1"/>
              </a:buClr>
              <a:buSzPts val="1100"/>
            </a:pPr>
            <a:r>
              <a:rPr lang="en" dirty="0"/>
              <a:t>Interesting and significant</a:t>
            </a:r>
            <a:endParaRPr dirty="0"/>
          </a:p>
          <a:p>
            <a:pPr marL="285750" indent="-285750">
              <a:spcBef>
                <a:spcPts val="1600"/>
              </a:spcBef>
              <a:buClr>
                <a:schemeClr val="dk1"/>
              </a:buClr>
              <a:buSzPts val="1100"/>
            </a:pPr>
            <a:r>
              <a:rPr lang="en" dirty="0"/>
              <a:t>Amenable to economic analysis</a:t>
            </a:r>
            <a:endParaRPr dirty="0"/>
          </a:p>
          <a:p>
            <a:pPr marL="285750" indent="-285750">
              <a:spcBef>
                <a:spcPts val="1600"/>
              </a:spcBef>
              <a:buClr>
                <a:schemeClr val="dk1"/>
              </a:buClr>
              <a:buSzPts val="1100"/>
            </a:pPr>
            <a:r>
              <a:rPr lang="en" dirty="0"/>
              <a:t>Feasible</a:t>
            </a:r>
            <a:endParaRPr dirty="0"/>
          </a:p>
          <a:p>
            <a:pPr marL="0" lvl="0" indent="0" algn="l" rtl="0">
              <a:spcBef>
                <a:spcPts val="1600"/>
              </a:spcBef>
              <a:spcAft>
                <a:spcPts val="1600"/>
              </a:spcAft>
              <a:buNone/>
            </a:pPr>
            <a:r>
              <a:rPr lang="en" dirty="0"/>
              <a:t>Example: Does parental employment have a negative impact on children’s cognitive development</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36"/>
        <p:cNvGrpSpPr/>
        <p:nvPr/>
      </p:nvGrpSpPr>
      <p:grpSpPr>
        <a:xfrm>
          <a:off x="0" y="0"/>
          <a:ext cx="0" cy="0"/>
          <a:chOff x="0" y="0"/>
          <a:chExt cx="0" cy="0"/>
        </a:xfrm>
      </p:grpSpPr>
      <p:sp>
        <p:nvSpPr>
          <p:cNvPr id="637" name="Google Shape;637;p11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Characteristics of a good economics research question cont…</a:t>
            </a:r>
            <a:endParaRPr dirty="0"/>
          </a:p>
        </p:txBody>
      </p:sp>
      <p:sp>
        <p:nvSpPr>
          <p:cNvPr id="638" name="Google Shape;638;p111"/>
          <p:cNvSpPr txBox="1">
            <a:spLocks noGrp="1"/>
          </p:cNvSpPr>
          <p:nvPr>
            <p:ph type="body" idx="1"/>
          </p:nvPr>
        </p:nvSpPr>
        <p:spPr>
          <a:xfrm>
            <a:off x="311700" y="1469575"/>
            <a:ext cx="8520600" cy="3388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t>Analytical rather than descriptive</a:t>
            </a:r>
            <a:endParaRPr dirty="0"/>
          </a:p>
          <a:p>
            <a:pPr marL="0" lvl="0" indent="0" algn="l" rtl="0">
              <a:spcBef>
                <a:spcPts val="1600"/>
              </a:spcBef>
              <a:spcAft>
                <a:spcPts val="0"/>
              </a:spcAft>
              <a:buClr>
                <a:schemeClr val="dk1"/>
              </a:buClr>
              <a:buSzPts val="1100"/>
              <a:buFont typeface="Arial"/>
              <a:buNone/>
            </a:pPr>
            <a:r>
              <a:rPr lang="en" dirty="0"/>
              <a:t>“... purpose should be to explain some aspect of the problem rather than describe it.”</a:t>
            </a:r>
            <a:endParaRPr dirty="0"/>
          </a:p>
          <a:p>
            <a:pPr marL="0" lvl="0" indent="0" algn="l" rtl="0">
              <a:spcBef>
                <a:spcPts val="1600"/>
              </a:spcBef>
              <a:spcAft>
                <a:spcPts val="0"/>
              </a:spcAft>
              <a:buClr>
                <a:schemeClr val="dk1"/>
              </a:buClr>
              <a:buSzPts val="1100"/>
              <a:buFont typeface="Arial"/>
              <a:buNone/>
            </a:pPr>
            <a:r>
              <a:rPr lang="en" dirty="0"/>
              <a:t>“... observe that factual questions tend to ask who, what, when, or where, while</a:t>
            </a:r>
            <a:endParaRPr dirty="0"/>
          </a:p>
          <a:p>
            <a:pPr marL="0" lvl="0" indent="0" algn="l" rtl="0">
              <a:spcBef>
                <a:spcPts val="1600"/>
              </a:spcBef>
              <a:spcAft>
                <a:spcPts val="1600"/>
              </a:spcAft>
              <a:buClr>
                <a:schemeClr val="dk1"/>
              </a:buClr>
              <a:buSzPts val="1100"/>
              <a:buFont typeface="Arial"/>
              <a:buNone/>
            </a:pPr>
            <a:r>
              <a:rPr lang="en" dirty="0"/>
              <a:t>Analytical questions tend to ask why or how?”</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42"/>
        <p:cNvGrpSpPr/>
        <p:nvPr/>
      </p:nvGrpSpPr>
      <p:grpSpPr>
        <a:xfrm>
          <a:off x="0" y="0"/>
          <a:ext cx="0" cy="0"/>
          <a:chOff x="0" y="0"/>
          <a:chExt cx="0" cy="0"/>
        </a:xfrm>
      </p:grpSpPr>
      <p:sp>
        <p:nvSpPr>
          <p:cNvPr id="643" name="Google Shape;643;p11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Characteristics of a good economics research question cont.</a:t>
            </a:r>
            <a:endParaRPr/>
          </a:p>
        </p:txBody>
      </p:sp>
      <p:sp>
        <p:nvSpPr>
          <p:cNvPr id="644" name="Google Shape;644;p112"/>
          <p:cNvSpPr txBox="1">
            <a:spLocks noGrp="1"/>
          </p:cNvSpPr>
          <p:nvPr>
            <p:ph type="body" idx="1"/>
          </p:nvPr>
        </p:nvSpPr>
        <p:spPr>
          <a:xfrm>
            <a:off x="311700" y="1469575"/>
            <a:ext cx="8520600" cy="3388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Interesting and significant</a:t>
            </a:r>
            <a:endParaRPr/>
          </a:p>
          <a:p>
            <a:pPr marL="0" lvl="0" indent="0" algn="l" rtl="0">
              <a:spcBef>
                <a:spcPts val="1600"/>
              </a:spcBef>
              <a:spcAft>
                <a:spcPts val="0"/>
              </a:spcAft>
              <a:buClr>
                <a:schemeClr val="dk1"/>
              </a:buClr>
              <a:buSzPts val="1100"/>
              <a:buFont typeface="Arial"/>
              <a:buNone/>
            </a:pPr>
            <a:r>
              <a:rPr lang="en"/>
              <a:t>“... a good research question should be interesting to one's audience [community].”</a:t>
            </a:r>
            <a:endParaRPr/>
          </a:p>
          <a:p>
            <a:pPr marL="0" lvl="0" indent="0" algn="l" rtl="0">
              <a:spcBef>
                <a:spcPts val="1600"/>
              </a:spcBef>
              <a:spcAft>
                <a:spcPts val="0"/>
              </a:spcAft>
              <a:buClr>
                <a:schemeClr val="dk1"/>
              </a:buClr>
              <a:buSzPts val="1100"/>
              <a:buFont typeface="Arial"/>
              <a:buNone/>
            </a:pPr>
            <a:r>
              <a:rPr lang="en"/>
              <a:t>“... A research question should be of interest to this audience because if it is not, the research project is not worth doing. Remember, the point of research is to contribute to the conversation of scholars on an issue.”</a:t>
            </a:r>
            <a:endParaRPr/>
          </a:p>
          <a:p>
            <a:pPr marL="0" lvl="0" indent="0" algn="l" rtl="0">
              <a:spcBef>
                <a:spcPts val="1600"/>
              </a:spcBef>
              <a:spcAft>
                <a:spcPts val="1600"/>
              </a:spcAft>
              <a:buNone/>
            </a:pPr>
            <a:r>
              <a:rPr lang="en"/>
              <a:t>“... will be especially interested if you can convince them that they don't understand [it] as well as they thought they did.”</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48"/>
        <p:cNvGrpSpPr/>
        <p:nvPr/>
      </p:nvGrpSpPr>
      <p:grpSpPr>
        <a:xfrm>
          <a:off x="0" y="0"/>
          <a:ext cx="0" cy="0"/>
          <a:chOff x="0" y="0"/>
          <a:chExt cx="0" cy="0"/>
        </a:xfrm>
      </p:grpSpPr>
      <p:sp>
        <p:nvSpPr>
          <p:cNvPr id="649" name="Google Shape;649;p11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Characteristics of a good economics research question</a:t>
            </a:r>
            <a:endParaRPr/>
          </a:p>
        </p:txBody>
      </p:sp>
      <p:sp>
        <p:nvSpPr>
          <p:cNvPr id="650" name="Google Shape;650;p113"/>
          <p:cNvSpPr txBox="1">
            <a:spLocks noGrp="1"/>
          </p:cNvSpPr>
          <p:nvPr>
            <p:ph type="body" idx="1"/>
          </p:nvPr>
        </p:nvSpPr>
        <p:spPr>
          <a:xfrm>
            <a:off x="311700" y="1469575"/>
            <a:ext cx="8520600" cy="3388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Amenable to economic analysis</a:t>
            </a:r>
            <a:endParaRPr/>
          </a:p>
          <a:p>
            <a:pPr marL="0" lvl="0" indent="0" algn="l" rtl="0">
              <a:spcBef>
                <a:spcPts val="1600"/>
              </a:spcBef>
              <a:spcAft>
                <a:spcPts val="0"/>
              </a:spcAft>
              <a:buNone/>
            </a:pPr>
            <a:r>
              <a:rPr lang="en"/>
              <a:t>“...  questions that originate from the general condition of scarcity.”</a:t>
            </a:r>
            <a:endParaRPr/>
          </a:p>
          <a:p>
            <a:pPr marL="0" lvl="0" indent="0" algn="l" rtl="0">
              <a:spcBef>
                <a:spcPts val="1600"/>
              </a:spcBef>
              <a:spcAft>
                <a:spcPts val="0"/>
              </a:spcAft>
              <a:buNone/>
            </a:pPr>
            <a:r>
              <a:rPr lang="en"/>
              <a:t>“... can economic analysis give us some insights into the problem?”</a:t>
            </a:r>
            <a:endParaRPr/>
          </a:p>
          <a:p>
            <a:pPr marL="0" lvl="0" indent="0" algn="l" rtl="0">
              <a:spcBef>
                <a:spcPts val="1600"/>
              </a:spcBef>
              <a:spcAft>
                <a:spcPts val="0"/>
              </a:spcAft>
              <a:buNone/>
            </a:pPr>
            <a:r>
              <a:rPr lang="en"/>
              <a:t>“Does the question deal with choice under constraints?” </a:t>
            </a:r>
            <a:endParaRPr/>
          </a:p>
          <a:p>
            <a:pPr marL="0" lvl="0" indent="0" algn="l" rtl="0">
              <a:spcBef>
                <a:spcPts val="1600"/>
              </a:spcBef>
              <a:spcAft>
                <a:spcPts val="0"/>
              </a:spcAft>
              <a:buNone/>
            </a:pPr>
            <a:r>
              <a:rPr lang="en"/>
              <a:t>“Does it involve demand or supply, needs, wants, availability?</a:t>
            </a:r>
            <a:endParaRPr/>
          </a:p>
          <a:p>
            <a:pPr marL="0" lvl="0" indent="0" algn="l" rtl="0">
              <a:spcBef>
                <a:spcPts val="1600"/>
              </a:spcBef>
              <a:spcAft>
                <a:spcPts val="1600"/>
              </a:spcAft>
              <a:buNone/>
            </a:pPr>
            <a:r>
              <a:rPr lang="en"/>
              <a:t>This is not an exhaustive list of questions that make economic research.</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54"/>
        <p:cNvGrpSpPr/>
        <p:nvPr/>
      </p:nvGrpSpPr>
      <p:grpSpPr>
        <a:xfrm>
          <a:off x="0" y="0"/>
          <a:ext cx="0" cy="0"/>
          <a:chOff x="0" y="0"/>
          <a:chExt cx="0" cy="0"/>
        </a:xfrm>
      </p:grpSpPr>
      <p:sp>
        <p:nvSpPr>
          <p:cNvPr id="655" name="Google Shape;655;p1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Workshop: Try it on your research question</a:t>
            </a:r>
            <a:endParaRPr/>
          </a:p>
        </p:txBody>
      </p:sp>
      <p:sp>
        <p:nvSpPr>
          <p:cNvPr id="656" name="Google Shape;656;p1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Is your question:</a:t>
            </a:r>
            <a:endParaRPr/>
          </a:p>
          <a:p>
            <a:pPr marL="0" lvl="0" indent="0" algn="l" rtl="0">
              <a:spcBef>
                <a:spcPts val="1600"/>
              </a:spcBef>
              <a:spcAft>
                <a:spcPts val="0"/>
              </a:spcAft>
              <a:buClr>
                <a:schemeClr val="dk1"/>
              </a:buClr>
              <a:buSzPts val="1100"/>
              <a:buFont typeface="Arial"/>
              <a:buNone/>
            </a:pPr>
            <a:r>
              <a:rPr lang="en"/>
              <a:t>Problem oriented</a:t>
            </a:r>
            <a:endParaRPr/>
          </a:p>
          <a:p>
            <a:pPr marL="0" lvl="0" indent="0" algn="l" rtl="0">
              <a:spcBef>
                <a:spcPts val="1600"/>
              </a:spcBef>
              <a:spcAft>
                <a:spcPts val="0"/>
              </a:spcAft>
              <a:buClr>
                <a:schemeClr val="dk1"/>
              </a:buClr>
              <a:buSzPts val="1100"/>
              <a:buFont typeface="Arial"/>
              <a:buNone/>
            </a:pPr>
            <a:r>
              <a:rPr lang="en"/>
              <a:t>Analytical rather than descriptive</a:t>
            </a:r>
            <a:endParaRPr/>
          </a:p>
          <a:p>
            <a:pPr marL="0" lvl="0" indent="0" algn="l" rtl="0">
              <a:spcBef>
                <a:spcPts val="1600"/>
              </a:spcBef>
              <a:spcAft>
                <a:spcPts val="0"/>
              </a:spcAft>
              <a:buClr>
                <a:schemeClr val="dk1"/>
              </a:buClr>
              <a:buSzPts val="1100"/>
              <a:buFont typeface="Arial"/>
              <a:buNone/>
            </a:pPr>
            <a:r>
              <a:rPr lang="en"/>
              <a:t>Interesting and significant</a:t>
            </a:r>
            <a:endParaRPr/>
          </a:p>
          <a:p>
            <a:pPr marL="0" lvl="0" indent="0" algn="l" rtl="0">
              <a:spcBef>
                <a:spcPts val="1600"/>
              </a:spcBef>
              <a:spcAft>
                <a:spcPts val="0"/>
              </a:spcAft>
              <a:buClr>
                <a:schemeClr val="dk1"/>
              </a:buClr>
              <a:buSzPts val="1100"/>
              <a:buFont typeface="Arial"/>
              <a:buNone/>
            </a:pPr>
            <a:r>
              <a:rPr lang="en"/>
              <a:t>Amenable to economic analysis</a:t>
            </a:r>
            <a:endParaRPr/>
          </a:p>
          <a:p>
            <a:pPr marL="0" lvl="0" indent="0" algn="l" rtl="0">
              <a:spcBef>
                <a:spcPts val="1600"/>
              </a:spcBef>
              <a:spcAft>
                <a:spcPts val="0"/>
              </a:spcAft>
              <a:buClr>
                <a:schemeClr val="dk1"/>
              </a:buClr>
              <a:buSzPts val="1100"/>
              <a:buFont typeface="Arial"/>
              <a:buNone/>
            </a:pPr>
            <a:r>
              <a:rPr lang="en"/>
              <a:t>Feasible</a:t>
            </a:r>
            <a:endParaRPr/>
          </a:p>
          <a:p>
            <a:pPr marL="0" lvl="0" indent="0" algn="l" rtl="0">
              <a:spcBef>
                <a:spcPts val="1600"/>
              </a:spcBef>
              <a:spcAft>
                <a:spcPts val="1600"/>
              </a:spcAft>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p115"/>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Ethridge Chapter 6</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666" name="Google Shape;666;p1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Overview</a:t>
            </a:r>
            <a:endParaRPr/>
          </a:p>
        </p:txBody>
      </p:sp>
      <p:sp>
        <p:nvSpPr>
          <p:cNvPr id="667" name="Google Shape;667;p1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Research vs decision problem</a:t>
            </a:r>
            <a:endParaRPr/>
          </a:p>
          <a:p>
            <a:pPr marL="0" lvl="0" indent="0" algn="l" rtl="0">
              <a:spcBef>
                <a:spcPts val="1600"/>
              </a:spcBef>
              <a:spcAft>
                <a:spcPts val="0"/>
              </a:spcAft>
              <a:buNone/>
            </a:pPr>
            <a:r>
              <a:rPr lang="en"/>
              <a:t>Problematic situation vs research problem</a:t>
            </a:r>
            <a:endParaRPr/>
          </a:p>
          <a:p>
            <a:pPr marL="0" lvl="0" indent="0" algn="l" rtl="0">
              <a:spcBef>
                <a:spcPts val="1600"/>
              </a:spcBef>
              <a:spcAft>
                <a:spcPts val="0"/>
              </a:spcAft>
              <a:buNone/>
            </a:pPr>
            <a:r>
              <a:rPr lang="en"/>
              <a:t>Problem statement</a:t>
            </a:r>
            <a:endParaRPr/>
          </a:p>
          <a:p>
            <a:pPr marL="0" lvl="0" indent="0" algn="l" rtl="0">
              <a:spcBef>
                <a:spcPts val="1600"/>
              </a:spcBef>
              <a:spcAft>
                <a:spcPts val="1600"/>
              </a:spcAft>
              <a:buNone/>
            </a:pPr>
            <a:r>
              <a:rPr lang="en"/>
              <a:t>Objectives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71"/>
        <p:cNvGrpSpPr/>
        <p:nvPr/>
      </p:nvGrpSpPr>
      <p:grpSpPr>
        <a:xfrm>
          <a:off x="0" y="0"/>
          <a:ext cx="0" cy="0"/>
          <a:chOff x="0" y="0"/>
          <a:chExt cx="0" cy="0"/>
        </a:xfrm>
      </p:grpSpPr>
      <p:sp>
        <p:nvSpPr>
          <p:cNvPr id="672" name="Google Shape;672;p1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Research problem vs decision problem</a:t>
            </a:r>
            <a:endParaRPr/>
          </a:p>
        </p:txBody>
      </p:sp>
      <p:sp>
        <p:nvSpPr>
          <p:cNvPr id="673" name="Google Shape;673;p11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t>What is the research problem? </a:t>
            </a:r>
            <a:endParaRPr dirty="0"/>
          </a:p>
          <a:p>
            <a:pPr marL="457200" lvl="0" indent="-342900" algn="l" rtl="0">
              <a:spcBef>
                <a:spcPts val="1600"/>
              </a:spcBef>
              <a:spcAft>
                <a:spcPts val="0"/>
              </a:spcAft>
              <a:buSzPts val="1800"/>
              <a:buChar char="●"/>
            </a:pPr>
            <a:r>
              <a:rPr lang="en" dirty="0"/>
              <a:t>The research problem is a discrepancy between what is known or understood and what is needed or desired to be known or understood</a:t>
            </a:r>
            <a:endParaRPr dirty="0"/>
          </a:p>
          <a:p>
            <a:pPr marL="0" lvl="0" indent="0" algn="l" rtl="0">
              <a:spcBef>
                <a:spcPts val="1600"/>
              </a:spcBef>
              <a:spcAft>
                <a:spcPts val="0"/>
              </a:spcAft>
              <a:buClr>
                <a:schemeClr val="dk1"/>
              </a:buClr>
              <a:buSzPts val="1100"/>
              <a:buFont typeface="Arial"/>
              <a:buNone/>
            </a:pPr>
            <a:r>
              <a:rPr lang="en" dirty="0"/>
              <a:t>Research may provide knowledge and offer prescriptions but it cannot make decisions and implement them</a:t>
            </a:r>
            <a:endParaRPr dirty="0"/>
          </a:p>
          <a:p>
            <a:pPr marL="457200" lvl="0" indent="-342900" algn="l" rtl="0">
              <a:spcBef>
                <a:spcPts val="1600"/>
              </a:spcBef>
              <a:spcAft>
                <a:spcPts val="0"/>
              </a:spcAft>
              <a:buSzPts val="1800"/>
              <a:buChar char="●"/>
            </a:pPr>
            <a:r>
              <a:rPr lang="en" dirty="0"/>
              <a:t>Etheridge distinguishes between research and decision problems</a:t>
            </a:r>
            <a:endParaRPr dirty="0"/>
          </a:p>
          <a:p>
            <a:pPr marL="457200" lvl="0" indent="-342900" algn="l" rtl="0">
              <a:spcBef>
                <a:spcPts val="0"/>
              </a:spcBef>
              <a:spcAft>
                <a:spcPts val="0"/>
              </a:spcAft>
              <a:buSzPts val="1800"/>
              <a:buChar char="●"/>
            </a:pPr>
            <a:r>
              <a:rPr lang="en" dirty="0"/>
              <a:t>Research problems involve obtaining information about potential outcomes</a:t>
            </a:r>
            <a:endParaRPr dirty="0"/>
          </a:p>
          <a:p>
            <a:pPr marL="457200" lvl="0" indent="-342900" algn="l" rtl="0">
              <a:spcBef>
                <a:spcPts val="0"/>
              </a:spcBef>
              <a:spcAft>
                <a:spcPts val="0"/>
              </a:spcAft>
              <a:buSzPts val="1800"/>
              <a:buChar char="●"/>
            </a:pPr>
            <a:r>
              <a:rPr lang="en" dirty="0"/>
              <a:t>Decision problems involve choosing among the alternative approaches</a:t>
            </a:r>
            <a:endParaRPr dirty="0"/>
          </a:p>
          <a:p>
            <a:pPr marL="0" lvl="0" indent="0" algn="l" rtl="0">
              <a:spcBef>
                <a:spcPts val="1600"/>
              </a:spcBef>
              <a:spcAft>
                <a:spcPts val="0"/>
              </a:spcAft>
              <a:buClr>
                <a:schemeClr val="dk1"/>
              </a:buClr>
              <a:buSzPts val="1100"/>
              <a:buFont typeface="Arial"/>
              <a:buNone/>
            </a:pPr>
            <a:r>
              <a:rPr lang="en" dirty="0"/>
              <a:t>Keeping these two things separate helps the researcher maintain objectivity</a:t>
            </a:r>
            <a:endParaRPr dirty="0"/>
          </a:p>
          <a:p>
            <a:pPr marL="0" lvl="0" indent="0" algn="l" rtl="0">
              <a:spcBef>
                <a:spcPts val="1600"/>
              </a:spcBef>
              <a:spcAft>
                <a:spcPts val="0"/>
              </a:spcAft>
              <a:buClr>
                <a:schemeClr val="dk1"/>
              </a:buClr>
              <a:buSzPts val="1100"/>
              <a:buFont typeface="Arial"/>
              <a:buNone/>
            </a:pPr>
            <a:endParaRPr dirty="0"/>
          </a:p>
          <a:p>
            <a:pPr marL="0" lvl="0" indent="0" algn="l" rtl="0">
              <a:spcBef>
                <a:spcPts val="1600"/>
              </a:spcBef>
              <a:spcAft>
                <a:spcPts val="1600"/>
              </a:spcAft>
              <a:buNone/>
            </a:pP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sp>
        <p:nvSpPr>
          <p:cNvPr id="678" name="Google Shape;678;p1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Working with policy makers</a:t>
            </a:r>
            <a:endParaRPr/>
          </a:p>
        </p:txBody>
      </p:sp>
      <p:sp>
        <p:nvSpPr>
          <p:cNvPr id="679" name="Google Shape;679;p1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Policy makers would like research to tell them if they should or should not implement a policy - a decision problem</a:t>
            </a:r>
            <a:endParaRPr/>
          </a:p>
          <a:p>
            <a:pPr marL="0" lvl="0" indent="0" algn="l" rtl="0">
              <a:spcBef>
                <a:spcPts val="1600"/>
              </a:spcBef>
              <a:spcAft>
                <a:spcPts val="0"/>
              </a:spcAft>
              <a:buNone/>
            </a:pPr>
            <a:r>
              <a:rPr lang="en"/>
              <a:t>Researchers push back - what is your goal?  We can help provide the information to help you make the decision</a:t>
            </a:r>
            <a:endParaRPr/>
          </a:p>
          <a:p>
            <a:pPr marL="457200" lvl="0" indent="-342900" algn="l" rtl="0">
              <a:spcBef>
                <a:spcPts val="1600"/>
              </a:spcBef>
              <a:spcAft>
                <a:spcPts val="0"/>
              </a:spcAft>
              <a:buSzPts val="1800"/>
              <a:buChar char="●"/>
            </a:pPr>
            <a:r>
              <a:rPr lang="en"/>
              <a:t>Covid hospitalizations are rising and are expected to continue rising given mobility data, testing positivity</a:t>
            </a:r>
            <a:endParaRPr/>
          </a:p>
          <a:p>
            <a:pPr marL="457200" lvl="0" indent="-342900" algn="l" rtl="0">
              <a:spcBef>
                <a:spcPts val="0"/>
              </a:spcBef>
              <a:spcAft>
                <a:spcPts val="0"/>
              </a:spcAft>
              <a:buSzPts val="1800"/>
              <a:buChar char="●"/>
            </a:pPr>
            <a:r>
              <a:rPr lang="en"/>
              <a:t>If things remain on this trajectory, healthcare capacity will become strained on xx date</a:t>
            </a:r>
            <a:endParaRPr/>
          </a:p>
          <a:p>
            <a:pPr marL="457200" lvl="0" indent="-342900" algn="l" rtl="0">
              <a:spcBef>
                <a:spcPts val="0"/>
              </a:spcBef>
              <a:spcAft>
                <a:spcPts val="0"/>
              </a:spcAft>
              <a:buSzPts val="1800"/>
              <a:buChar char="●"/>
            </a:pPr>
            <a:r>
              <a:rPr lang="en"/>
              <a:t>We project that intervention Y will have impact transmission by Z%</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83"/>
        <p:cNvGrpSpPr/>
        <p:nvPr/>
      </p:nvGrpSpPr>
      <p:grpSpPr>
        <a:xfrm>
          <a:off x="0" y="0"/>
          <a:ext cx="0" cy="0"/>
          <a:chOff x="0" y="0"/>
          <a:chExt cx="0" cy="0"/>
        </a:xfrm>
      </p:grpSpPr>
      <p:sp>
        <p:nvSpPr>
          <p:cNvPr id="684" name="Google Shape;684;p1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Problematic situation vs researchable problem</a:t>
            </a:r>
            <a:endParaRPr/>
          </a:p>
        </p:txBody>
      </p:sp>
      <p:sp>
        <p:nvSpPr>
          <p:cNvPr id="685" name="Google Shape;685;p11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Problematic situation is the general or broad phenomenon generally known to the audience</a:t>
            </a:r>
            <a:endParaRPr/>
          </a:p>
          <a:p>
            <a:pPr marL="0" lvl="0" indent="0" algn="l" rtl="0">
              <a:spcBef>
                <a:spcPts val="1600"/>
              </a:spcBef>
              <a:spcAft>
                <a:spcPts val="0"/>
              </a:spcAft>
              <a:buClr>
                <a:schemeClr val="dk1"/>
              </a:buClr>
              <a:buSzPts val="1100"/>
              <a:buFont typeface="Arial"/>
              <a:buNone/>
            </a:pPr>
            <a:r>
              <a:rPr lang="en"/>
              <a:t>Researchable problem is the specific instance or aspect that the objectives of your research are designed to provide information on</a:t>
            </a:r>
            <a:endParaRPr/>
          </a:p>
          <a:p>
            <a:pPr marL="0" lvl="0" indent="0" algn="l" rtl="0">
              <a:spcBef>
                <a:spcPts val="1600"/>
              </a:spcBef>
              <a:spcAft>
                <a:spcPts val="0"/>
              </a:spcAft>
              <a:buClr>
                <a:schemeClr val="dk1"/>
              </a:buClr>
              <a:buSzPts val="1100"/>
              <a:buFont typeface="Arial"/>
              <a:buNone/>
            </a:pPr>
            <a:r>
              <a:rPr lang="en"/>
              <a:t>Example given is world hunger as a problematic situation and a particular food/development policy as the researchable problem</a:t>
            </a:r>
            <a:endParaRPr/>
          </a:p>
          <a:p>
            <a:pPr marL="0" lvl="0" indent="0" algn="l" rtl="0">
              <a:spcBef>
                <a:spcPts val="1600"/>
              </a:spcBef>
              <a:spcAft>
                <a:spcPts val="1600"/>
              </a:spcAft>
              <a:buNone/>
            </a:pPr>
            <a:r>
              <a:rPr lang="en"/>
              <a:t>The problematic situation it is beyond the scope of any single research project but insights into the problematic situation emerge as people make specific contributions to the literature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89"/>
        <p:cNvGrpSpPr/>
        <p:nvPr/>
      </p:nvGrpSpPr>
      <p:grpSpPr>
        <a:xfrm>
          <a:off x="0" y="0"/>
          <a:ext cx="0" cy="0"/>
          <a:chOff x="0" y="0"/>
          <a:chExt cx="0" cy="0"/>
        </a:xfrm>
      </p:grpSpPr>
      <p:sp>
        <p:nvSpPr>
          <p:cNvPr id="690" name="Google Shape;690;p1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Example</a:t>
            </a:r>
            <a:endParaRPr/>
          </a:p>
        </p:txBody>
      </p:sp>
      <p:sp>
        <p:nvSpPr>
          <p:cNvPr id="691" name="Google Shape;691;p1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Problematic situation: Retention in the wildland firefighting workforce</a:t>
            </a:r>
            <a:endParaRPr/>
          </a:p>
          <a:p>
            <a:pPr marL="0" lvl="0" indent="0" algn="l" rtl="0">
              <a:spcBef>
                <a:spcPts val="1600"/>
              </a:spcBef>
              <a:spcAft>
                <a:spcPts val="1600"/>
              </a:spcAft>
              <a:buNone/>
            </a:pPr>
            <a:r>
              <a:rPr lang="en"/>
              <a:t>Researchable problem: Is recruitment and retention in federal firefighting decreasing because of low wages and/or high opportunity cost?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95"/>
        <p:cNvGrpSpPr/>
        <p:nvPr/>
      </p:nvGrpSpPr>
      <p:grpSpPr>
        <a:xfrm>
          <a:off x="0" y="0"/>
          <a:ext cx="0" cy="0"/>
          <a:chOff x="0" y="0"/>
          <a:chExt cx="0" cy="0"/>
        </a:xfrm>
      </p:grpSpPr>
      <p:sp>
        <p:nvSpPr>
          <p:cNvPr id="696" name="Google Shape;696;p1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Problem statement</a:t>
            </a:r>
            <a:endParaRPr/>
          </a:p>
        </p:txBody>
      </p:sp>
      <p:sp>
        <p:nvSpPr>
          <p:cNvPr id="697" name="Google Shape;697;p12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General problem statement to provide context for the research. This can be but does not have to be the lead sentence of the article.</a:t>
            </a:r>
            <a:endParaRPr/>
          </a:p>
          <a:p>
            <a:pPr marL="0" lvl="0" indent="0" algn="l" rtl="0">
              <a:spcBef>
                <a:spcPts val="1600"/>
              </a:spcBef>
              <a:spcAft>
                <a:spcPts val="0"/>
              </a:spcAft>
              <a:buClr>
                <a:schemeClr val="dk1"/>
              </a:buClr>
              <a:buSzPts val="1100"/>
              <a:buFont typeface="Arial"/>
              <a:buNone/>
            </a:pPr>
            <a:r>
              <a:rPr lang="en"/>
              <a:t>The second part specifies the specific knowledge or information that is needed.   </a:t>
            </a:r>
            <a:endParaRPr/>
          </a:p>
          <a:p>
            <a:pPr marL="457200" lvl="0" indent="-342900" algn="l" rtl="0">
              <a:spcBef>
                <a:spcPts val="1600"/>
              </a:spcBef>
              <a:spcAft>
                <a:spcPts val="0"/>
              </a:spcAft>
              <a:buSzPts val="1800"/>
              <a:buChar char="●"/>
            </a:pPr>
            <a:r>
              <a:rPr lang="en"/>
              <a:t>The purpose is to justify the objectives of the research. </a:t>
            </a:r>
            <a:endParaRPr/>
          </a:p>
          <a:p>
            <a:pPr marL="457200" lvl="0" indent="-342900" algn="l" rtl="0">
              <a:spcBef>
                <a:spcPts val="0"/>
              </a:spcBef>
              <a:spcAft>
                <a:spcPts val="0"/>
              </a:spcAft>
              <a:buSzPts val="1800"/>
              <a:buChar char="●"/>
            </a:pPr>
            <a:r>
              <a:rPr lang="en"/>
              <a:t>The readers’ response should be “of course that is what is needed” if the problem statement has effectively achieved its purpose</a:t>
            </a:r>
            <a:endParaRPr/>
          </a:p>
          <a:p>
            <a:pPr marL="0" lvl="0" indent="0" algn="l" rtl="0">
              <a:spcBef>
                <a:spcPts val="1600"/>
              </a:spcBef>
              <a:spcAft>
                <a:spcPts val="0"/>
              </a:spcAft>
              <a:buClr>
                <a:schemeClr val="dk1"/>
              </a:buClr>
              <a:buSzPts val="1100"/>
              <a:buFont typeface="Arial"/>
              <a:buNone/>
            </a:pPr>
            <a:endParaRPr/>
          </a:p>
          <a:p>
            <a:pPr marL="0" lvl="0" indent="0" algn="l" rtl="0">
              <a:spcBef>
                <a:spcPts val="1600"/>
              </a:spcBef>
              <a:spcAft>
                <a:spcPts val="1600"/>
              </a:spcAft>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01"/>
        <p:cNvGrpSpPr/>
        <p:nvPr/>
      </p:nvGrpSpPr>
      <p:grpSpPr>
        <a:xfrm>
          <a:off x="0" y="0"/>
          <a:ext cx="0" cy="0"/>
          <a:chOff x="0" y="0"/>
          <a:chExt cx="0" cy="0"/>
        </a:xfrm>
      </p:grpSpPr>
      <p:sp>
        <p:nvSpPr>
          <p:cNvPr id="702" name="Google Shape;702;p1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Problem statement requirements</a:t>
            </a:r>
            <a:endParaRPr/>
          </a:p>
        </p:txBody>
      </p:sp>
      <p:sp>
        <p:nvSpPr>
          <p:cNvPr id="703" name="Google Shape;703;p122"/>
          <p:cNvSpPr txBox="1">
            <a:spLocks noGrp="1"/>
          </p:cNvSpPr>
          <p:nvPr>
            <p:ph type="body" idx="1"/>
          </p:nvPr>
        </p:nvSpPr>
        <p:spPr>
          <a:xfrm>
            <a:off x="311700" y="1017725"/>
            <a:ext cx="8520600" cy="381709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t>Researchable problem must be sufficiently specific that it can be addressed with the available resources</a:t>
            </a:r>
            <a:endParaRPr dirty="0"/>
          </a:p>
          <a:p>
            <a:pPr marL="0" lvl="0" indent="0" algn="l" rtl="0">
              <a:spcBef>
                <a:spcPts val="1600"/>
              </a:spcBef>
              <a:spcAft>
                <a:spcPts val="0"/>
              </a:spcAft>
              <a:buClr>
                <a:schemeClr val="dk1"/>
              </a:buClr>
              <a:buSzPts val="1100"/>
              <a:buFont typeface="Arial"/>
              <a:buNone/>
            </a:pPr>
            <a:r>
              <a:rPr lang="en" dirty="0"/>
              <a:t>Dimensions of the problem should be described in objective terms.  Not: this policy is bad and should be changed</a:t>
            </a:r>
            <a:endParaRPr dirty="0"/>
          </a:p>
          <a:p>
            <a:pPr marL="0" lvl="0" indent="0" algn="l" rtl="0">
              <a:spcBef>
                <a:spcPts val="1600"/>
              </a:spcBef>
              <a:spcAft>
                <a:spcPts val="0"/>
              </a:spcAft>
              <a:buClr>
                <a:schemeClr val="dk1"/>
              </a:buClr>
              <a:buSzPts val="1100"/>
              <a:buFont typeface="Arial"/>
              <a:buNone/>
            </a:pPr>
            <a:r>
              <a:rPr lang="en" dirty="0"/>
              <a:t>The problem must be understandable by the audience (and we should strive to make it understandable to nearly everyone)</a:t>
            </a:r>
          </a:p>
          <a:p>
            <a:pPr marL="0" lvl="0" indent="0" algn="l" rtl="0">
              <a:spcBef>
                <a:spcPts val="1600"/>
              </a:spcBef>
              <a:spcAft>
                <a:spcPts val="0"/>
              </a:spcAft>
              <a:buClr>
                <a:schemeClr val="dk1"/>
              </a:buClr>
              <a:buSzPts val="1100"/>
              <a:buFont typeface="Arial"/>
              <a:buNone/>
            </a:pPr>
            <a:r>
              <a:rPr lang="en" dirty="0"/>
              <a:t>Researcher’s perception of the problem maybe derived from intuition but should be developed logically</a:t>
            </a:r>
          </a:p>
          <a:p>
            <a:pPr marL="0" lvl="0" indent="0" algn="l" rtl="0">
              <a:spcBef>
                <a:spcPts val="1600"/>
              </a:spcBef>
              <a:spcAft>
                <a:spcPts val="0"/>
              </a:spcAft>
              <a:buClr>
                <a:schemeClr val="dk1"/>
              </a:buClr>
              <a:buSzPts val="1100"/>
              <a:buFont typeface="Arial"/>
              <a:buNone/>
            </a:pPr>
            <a:r>
              <a:rPr lang="en" dirty="0"/>
              <a:t>T</a:t>
            </a:r>
            <a:r>
              <a:rPr lang="en-US" dirty="0"/>
              <a:t>h</a:t>
            </a:r>
            <a:r>
              <a:rPr lang="en" dirty="0"/>
              <a:t>e iquiry may be initiated with a research objective, but the problem should be developed to provide the justification for the objective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07"/>
        <p:cNvGrpSpPr/>
        <p:nvPr/>
      </p:nvGrpSpPr>
      <p:grpSpPr>
        <a:xfrm>
          <a:off x="0" y="0"/>
          <a:ext cx="0" cy="0"/>
          <a:chOff x="0" y="0"/>
          <a:chExt cx="0" cy="0"/>
        </a:xfrm>
      </p:grpSpPr>
      <p:sp>
        <p:nvSpPr>
          <p:cNvPr id="708" name="Google Shape;708;p1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Objectives</a:t>
            </a:r>
            <a:endParaRPr/>
          </a:p>
        </p:txBody>
      </p:sp>
      <p:sp>
        <p:nvSpPr>
          <p:cNvPr id="709" name="Google Shape;709;p12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t>Objectives specify what the research proposes to accomplish</a:t>
            </a:r>
          </a:p>
          <a:p>
            <a:pPr marL="0" lvl="0" indent="0" algn="l" rtl="0">
              <a:spcBef>
                <a:spcPts val="0"/>
              </a:spcBef>
              <a:spcAft>
                <a:spcPts val="0"/>
              </a:spcAft>
              <a:buClr>
                <a:schemeClr val="dk1"/>
              </a:buClr>
              <a:buSzPts val="1100"/>
              <a:buFont typeface="Arial"/>
              <a:buNone/>
            </a:pPr>
            <a:endParaRPr lang="en" dirty="0"/>
          </a:p>
          <a:p>
            <a:pPr marL="0" lvl="0" indent="0" algn="l" rtl="0">
              <a:spcBef>
                <a:spcPts val="0"/>
              </a:spcBef>
              <a:spcAft>
                <a:spcPts val="0"/>
              </a:spcAft>
              <a:buClr>
                <a:schemeClr val="dk1"/>
              </a:buClr>
              <a:buSzPts val="1100"/>
              <a:buFont typeface="Arial"/>
              <a:buNone/>
            </a:pPr>
            <a:r>
              <a:rPr lang="en" dirty="0"/>
              <a:t>A general objective: states the main purpose that should flow from the specific part of the problem statement.  Should be succinct and precise. </a:t>
            </a:r>
            <a:endParaRPr dirty="0"/>
          </a:p>
          <a:p>
            <a:pPr marL="0" lvl="0" indent="0" algn="l" rtl="0">
              <a:spcBef>
                <a:spcPts val="1600"/>
              </a:spcBef>
              <a:spcAft>
                <a:spcPts val="0"/>
              </a:spcAft>
              <a:buClr>
                <a:schemeClr val="dk1"/>
              </a:buClr>
              <a:buSzPts val="1100"/>
              <a:buFont typeface="Arial"/>
              <a:buNone/>
            </a:pPr>
            <a:r>
              <a:rPr lang="en" dirty="0"/>
              <a:t>Set of specific objectives: list of sub-objectives that support or contribute to the main objective.  This might be build or estimate a model; collect data</a:t>
            </a:r>
            <a:endParaRPr dirty="0"/>
          </a:p>
          <a:p>
            <a:pPr marL="0" lvl="0" indent="0" algn="l" rtl="0">
              <a:spcBef>
                <a:spcPts val="1600"/>
              </a:spcBef>
              <a:spcAft>
                <a:spcPts val="0"/>
              </a:spcAft>
              <a:buClr>
                <a:schemeClr val="dk1"/>
              </a:buClr>
              <a:buSzPts val="1100"/>
              <a:buFont typeface="Arial"/>
              <a:buNone/>
            </a:pPr>
            <a:endParaRPr dirty="0"/>
          </a:p>
          <a:p>
            <a:pPr marL="0" lvl="0" indent="0" algn="l" rtl="0">
              <a:spcBef>
                <a:spcPts val="1600"/>
              </a:spcBef>
              <a:spcAft>
                <a:spcPts val="1600"/>
              </a:spcAft>
              <a:buNone/>
            </a:pPr>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713"/>
        <p:cNvGrpSpPr/>
        <p:nvPr/>
      </p:nvGrpSpPr>
      <p:grpSpPr>
        <a:xfrm>
          <a:off x="0" y="0"/>
          <a:ext cx="0" cy="0"/>
          <a:chOff x="0" y="0"/>
          <a:chExt cx="0" cy="0"/>
        </a:xfrm>
      </p:grpSpPr>
      <p:sp>
        <p:nvSpPr>
          <p:cNvPr id="714" name="Google Shape;714;p124"/>
          <p:cNvSpPr txBox="1">
            <a:spLocks noGrp="1"/>
          </p:cNvSpPr>
          <p:nvPr>
            <p:ph type="title"/>
          </p:nvPr>
        </p:nvSpPr>
        <p:spPr>
          <a:xfrm>
            <a:off x="311700" y="69641"/>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Developing research problem and objective statements</a:t>
            </a:r>
            <a:endParaRPr dirty="0"/>
          </a:p>
        </p:txBody>
      </p:sp>
      <p:sp>
        <p:nvSpPr>
          <p:cNvPr id="715" name="Google Shape;715;p124"/>
          <p:cNvSpPr txBox="1">
            <a:spLocks noGrp="1"/>
          </p:cNvSpPr>
          <p:nvPr>
            <p:ph type="body" idx="1"/>
          </p:nvPr>
        </p:nvSpPr>
        <p:spPr>
          <a:xfrm>
            <a:off x="311700" y="1102841"/>
            <a:ext cx="7675800" cy="309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t>If starting broad: segment the problem into smaller parts; discuss with others; iterate on this process</a:t>
            </a:r>
            <a:endParaRPr dirty="0"/>
          </a:p>
          <a:p>
            <a:pPr marL="0" lvl="0" indent="0" algn="l" rtl="0">
              <a:spcBef>
                <a:spcPts val="1600"/>
              </a:spcBef>
              <a:spcAft>
                <a:spcPts val="0"/>
              </a:spcAft>
              <a:buClr>
                <a:schemeClr val="dk1"/>
              </a:buClr>
              <a:buSzPts val="1100"/>
              <a:buFont typeface="Arial"/>
              <a:buNone/>
            </a:pPr>
            <a:r>
              <a:rPr lang="en" dirty="0"/>
              <a:t>If developing from a narrow topic: You need to develop the broader context; Ask yourself questions like: </a:t>
            </a:r>
            <a:endParaRPr dirty="0"/>
          </a:p>
          <a:p>
            <a:pPr marL="457200" lvl="0" indent="-342900" algn="l" rtl="0">
              <a:spcBef>
                <a:spcPts val="1600"/>
              </a:spcBef>
              <a:spcAft>
                <a:spcPts val="0"/>
              </a:spcAft>
              <a:buSzPts val="1800"/>
              <a:buChar char="●"/>
            </a:pPr>
            <a:r>
              <a:rPr lang="en" dirty="0"/>
              <a:t>Why do we need this knowledge?  </a:t>
            </a:r>
            <a:endParaRPr dirty="0"/>
          </a:p>
          <a:p>
            <a:pPr marL="457200" lvl="0" indent="-342900" algn="l" rtl="0">
              <a:spcBef>
                <a:spcPts val="0"/>
              </a:spcBef>
              <a:spcAft>
                <a:spcPts val="0"/>
              </a:spcAft>
              <a:buSzPts val="1800"/>
              <a:buChar char="●"/>
            </a:pPr>
            <a:r>
              <a:rPr lang="en" dirty="0"/>
              <a:t>Who </a:t>
            </a:r>
            <a:r>
              <a:rPr lang="en"/>
              <a:t>needs this knowledge?</a:t>
            </a:r>
            <a:endParaRPr dirty="0"/>
          </a:p>
          <a:p>
            <a:pPr marL="0" lvl="0" indent="0" algn="l" rtl="0">
              <a:spcBef>
                <a:spcPts val="1600"/>
              </a:spcBef>
              <a:spcAft>
                <a:spcPts val="0"/>
              </a:spcAft>
              <a:buClr>
                <a:schemeClr val="dk1"/>
              </a:buClr>
              <a:buSzPts val="1100"/>
              <a:buFont typeface="Arial"/>
              <a:buNone/>
            </a:pPr>
            <a:r>
              <a:rPr lang="en" dirty="0"/>
              <a:t>Break the problem/information down into logical steps or tasks</a:t>
            </a:r>
            <a:endParaRPr dirty="0"/>
          </a:p>
          <a:p>
            <a:pPr marL="0" lvl="0" indent="0" algn="l" rtl="0">
              <a:spcBef>
                <a:spcPts val="1600"/>
              </a:spcBef>
              <a:spcAft>
                <a:spcPts val="0"/>
              </a:spcAft>
              <a:buClr>
                <a:schemeClr val="dk1"/>
              </a:buClr>
              <a:buSzPts val="1100"/>
              <a:buFont typeface="Arial"/>
              <a:buNone/>
            </a:pPr>
            <a:r>
              <a:rPr lang="en" dirty="0"/>
              <a:t>Note about confusing the objectives with the methods.  There is a way to do this… We develop a model to estimate the impact of x on y. </a:t>
            </a:r>
            <a:endParaRPr dirty="0"/>
          </a:p>
          <a:p>
            <a:pPr marL="0" lvl="0" indent="0" algn="l" rtl="0">
              <a:spcBef>
                <a:spcPts val="1600"/>
              </a:spcBef>
              <a:spcAft>
                <a:spcPts val="0"/>
              </a:spcAft>
              <a:buClr>
                <a:schemeClr val="dk1"/>
              </a:buClr>
              <a:buSzPts val="1100"/>
              <a:buFont typeface="Arial"/>
              <a:buNone/>
            </a:pPr>
            <a:endParaRPr dirty="0"/>
          </a:p>
          <a:p>
            <a:pPr marL="0" lvl="0" indent="0" algn="l" rtl="0">
              <a:spcBef>
                <a:spcPts val="1600"/>
              </a:spcBef>
              <a:spcAft>
                <a:spcPts val="1600"/>
              </a:spcAft>
              <a:buNone/>
            </a:pPr>
            <a:endParaRPr dirty="0"/>
          </a:p>
        </p:txBody>
      </p:sp>
      <p:sp>
        <p:nvSpPr>
          <p:cNvPr id="716" name="Google Shape;716;p124"/>
          <p:cNvSpPr/>
          <p:nvPr/>
        </p:nvSpPr>
        <p:spPr>
          <a:xfrm rot="10800000">
            <a:off x="7667825" y="1227500"/>
            <a:ext cx="916200" cy="847200"/>
          </a:xfrm>
          <a:prstGeom prst="triangle">
            <a:avLst>
              <a:gd name="adj" fmla="val 50000"/>
            </a:avLst>
          </a:prstGeom>
          <a:solidFill>
            <a:schemeClr val="accent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124"/>
          <p:cNvSpPr/>
          <p:nvPr/>
        </p:nvSpPr>
        <p:spPr>
          <a:xfrm>
            <a:off x="7667825" y="2498275"/>
            <a:ext cx="916200" cy="890400"/>
          </a:xfrm>
          <a:prstGeom prst="triangle">
            <a:avLst>
              <a:gd name="adj" fmla="val 50000"/>
            </a:avLst>
          </a:prstGeom>
          <a:solidFill>
            <a:schemeClr val="accent5"/>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afb58802-ff7a-4bb1-ab21-367ff2ecfc8b}" enabled="0" method="" siteId="{afb58802-ff7a-4bb1-ab21-367ff2ecfc8b}" removed="1"/>
</clbl:labelList>
</file>

<file path=docProps/app.xml><?xml version="1.0" encoding="utf-8"?>
<Properties xmlns="http://schemas.openxmlformats.org/officeDocument/2006/extended-properties" xmlns:vt="http://schemas.openxmlformats.org/officeDocument/2006/docPropsVTypes">
  <TotalTime>48933</TotalTime>
  <Words>1142</Words>
  <Application>Microsoft Office PowerPoint</Application>
  <PresentationFormat>On-screen Show (16:9)</PresentationFormat>
  <Paragraphs>107</Paragraphs>
  <Slides>22</Slides>
  <Notes>22</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22</vt:i4>
      </vt:variant>
    </vt:vector>
  </HeadingPairs>
  <TitlesOfParts>
    <vt:vector size="24" baseType="lpstr">
      <vt:lpstr>Arial</vt:lpstr>
      <vt:lpstr>Simple Light</vt:lpstr>
      <vt:lpstr>AREC 570 Slides</vt:lpstr>
      <vt:lpstr>Unit 2  Defining a research problem/question</vt:lpstr>
      <vt:lpstr>Greenlaw Chapter 2</vt:lpstr>
      <vt:lpstr>The Research Process in Economics</vt:lpstr>
      <vt:lpstr>Step 1: 3 Questions</vt:lpstr>
      <vt:lpstr>PowerPoint Presentation</vt:lpstr>
      <vt:lpstr>Example 1</vt:lpstr>
      <vt:lpstr>Characteristics of a good economics research question</vt:lpstr>
      <vt:lpstr>Characteristics of a good economics research question cont…</vt:lpstr>
      <vt:lpstr>Characteristics of a good economics research question cont.</vt:lpstr>
      <vt:lpstr>Characteristics of a good economics research question</vt:lpstr>
      <vt:lpstr>Workshop: Try it on your research question</vt:lpstr>
      <vt:lpstr>Ethridge Chapter 6</vt:lpstr>
      <vt:lpstr>Overview</vt:lpstr>
      <vt:lpstr>Research problem vs decision problem</vt:lpstr>
      <vt:lpstr>Working with policy makers</vt:lpstr>
      <vt:lpstr>Problematic situation vs researchable problem</vt:lpstr>
      <vt:lpstr>Example</vt:lpstr>
      <vt:lpstr>Problem statement</vt:lpstr>
      <vt:lpstr>Problem statement requirements</vt:lpstr>
      <vt:lpstr>Objectives</vt:lpstr>
      <vt:lpstr>Developing research problem and objective statements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AREC 570 Slides</dc:title>
  <cp:lastModifiedBy>Amanda Countryman</cp:lastModifiedBy>
  <cp:revision>263</cp:revision>
  <dcterms:modified xsi:type="dcterms:W3CDTF">2026-09-08T03:35:46Z</dcterms:modified>
</cp:coreProperties>
</file>