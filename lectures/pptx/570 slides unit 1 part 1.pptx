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36"/>
  </p:notesMasterIdLst>
  <p:sldIdLst>
    <p:sldId id="256" r:id="rId2"/>
    <p:sldId id="257" r:id="rId3"/>
    <p:sldId id="680"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6" r:id="rId22"/>
    <p:sldId id="280" r:id="rId23"/>
    <p:sldId id="282" r:id="rId24"/>
    <p:sldId id="283" r:id="rId25"/>
    <p:sldId id="284" r:id="rId26"/>
    <p:sldId id="285" r:id="rId27"/>
    <p:sldId id="286" r:id="rId28"/>
    <p:sldId id="287" r:id="rId29"/>
    <p:sldId id="288" r:id="rId30"/>
    <p:sldId id="289" r:id="rId31"/>
    <p:sldId id="290" r:id="rId32"/>
    <p:sldId id="291" r:id="rId33"/>
    <p:sldId id="292" r:id="rId34"/>
    <p:sldId id="634" r:id="rId35"/>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84DF2DC-0085-43A8-A628-614D45359268}" v="4" dt="2026-08-27T05:48:10.207"/>
    <p1510:client id="{2AEBA53C-7A0A-4A29-B96A-B0CB7067BE1C}" v="1" dt="2026-08-27T06:24:48.585"/>
  </p1510:revLst>
</p1510:revInfo>
</file>

<file path=ppt/tableStyles.xml><?xml version="1.0" encoding="utf-8"?>
<a:tblStyleLst xmlns:a="http://schemas.openxmlformats.org/drawingml/2006/main" def="{C3914263-E9C5-46C8-9AAA-96102F47AFED}">
  <a:tblStyle styleId="{C3914263-E9C5-46C8-9AAA-96102F47AFED}" styleName="Table_0">
    <a:wholeTbl>
      <a:tcTxStyle>
        <a:font>
          <a:latin typeface="Arial"/>
          <a:ea typeface="Arial"/>
          <a:cs typeface="Arial"/>
        </a:font>
        <a:srgbClr val="000000"/>
      </a:tcTxStyle>
      <a:tcStyle>
        <a:tcBdr>
          <a:left>
            <a:ln w="12700" cap="flat" cmpd="sng">
              <a:solidFill>
                <a:srgbClr val="000000"/>
              </a:solidFill>
              <a:prstDash val="solid"/>
              <a:round/>
              <a:headEnd type="none" w="sm" len="sm"/>
              <a:tailEnd type="none" w="sm" len="sm"/>
            </a:ln>
          </a:left>
          <a:right>
            <a:ln w="12700" cap="flat" cmpd="sng">
              <a:solidFill>
                <a:srgbClr val="000000"/>
              </a:solidFill>
              <a:prstDash val="solid"/>
              <a:round/>
              <a:headEnd type="none" w="sm" len="sm"/>
              <a:tailEnd type="none" w="sm" len="sm"/>
            </a:ln>
          </a:right>
          <a:top>
            <a:ln w="12700" cap="flat" cmpd="sng">
              <a:solidFill>
                <a:srgbClr val="000000"/>
              </a:solidFill>
              <a:prstDash val="solid"/>
              <a:round/>
              <a:headEnd type="none" w="sm" len="sm"/>
              <a:tailEnd type="none" w="sm" len="sm"/>
            </a:ln>
          </a:top>
          <a:bottom>
            <a:ln w="12700" cap="flat" cmpd="sng">
              <a:solidFill>
                <a:srgbClr val="000000"/>
              </a:solidFill>
              <a:prstDash val="solid"/>
              <a:round/>
              <a:headEnd type="none" w="sm" len="sm"/>
              <a:tailEnd type="none" w="sm" len="sm"/>
            </a:ln>
          </a:bottom>
          <a:insideH>
            <a:ln w="12700" cap="flat" cmpd="sng">
              <a:solidFill>
                <a:srgbClr val="000000"/>
              </a:solidFill>
              <a:prstDash val="solid"/>
              <a:round/>
              <a:headEnd type="none" w="sm" len="sm"/>
              <a:tailEnd type="none" w="sm" len="sm"/>
            </a:ln>
          </a:insideH>
          <a:insideV>
            <a:ln w="12700"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056"/>
    <p:restoredTop sz="81741"/>
  </p:normalViewPr>
  <p:slideViewPr>
    <p:cSldViewPr snapToGrid="0">
      <p:cViewPr varScale="1">
        <p:scale>
          <a:sx n="80" d="100"/>
          <a:sy n="80" d="100"/>
        </p:scale>
        <p:origin x="1168" y="52"/>
      </p:cViewPr>
      <p:guideLst>
        <p:guide orient="horz" pos="1620"/>
        <p:guide pos="2880"/>
      </p:guideLst>
    </p:cSldViewPr>
  </p:slideViewPr>
  <p:notesTextViewPr>
    <p:cViewPr>
      <p:scale>
        <a:sx n="1" d="1"/>
        <a:sy n="1" d="1"/>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e8fa69a014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e8fa69a014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14a7460c34a_0_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14a7460c34a_0_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a:extLst>
            <a:ext uri="{FF2B5EF4-FFF2-40B4-BE49-F238E27FC236}">
              <a16:creationId xmlns:a16="http://schemas.microsoft.com/office/drawing/2014/main" id="{FF9C4486-0B65-DE03-D045-7B027D729296}"/>
            </a:ext>
          </a:extLst>
        </p:cNvPr>
        <p:cNvGrpSpPr/>
        <p:nvPr/>
      </p:nvGrpSpPr>
      <p:grpSpPr>
        <a:xfrm>
          <a:off x="0" y="0"/>
          <a:ext cx="0" cy="0"/>
          <a:chOff x="0" y="0"/>
          <a:chExt cx="0" cy="0"/>
        </a:xfrm>
      </p:grpSpPr>
      <p:sp>
        <p:nvSpPr>
          <p:cNvPr id="57" name="Google Shape;57;g14a7460c34a_0_72:notes">
            <a:extLst>
              <a:ext uri="{FF2B5EF4-FFF2-40B4-BE49-F238E27FC236}">
                <a16:creationId xmlns:a16="http://schemas.microsoft.com/office/drawing/2014/main" id="{2A6F7346-AC45-6CE3-894E-A1E40DC2901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14a7460c34a_0_72:notes">
            <a:extLst>
              <a:ext uri="{FF2B5EF4-FFF2-40B4-BE49-F238E27FC236}">
                <a16:creationId xmlns:a16="http://schemas.microsoft.com/office/drawing/2014/main" id="{498FCD26-EC69-324A-79C4-2BBC6285618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826312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14a37d3b795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14a37d3b795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g14a37d3b795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14a37d3b795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14a7460c34a_0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14a7460c34a_0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14a7460c34a_0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4a7460c34a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14a37d3b795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14a37d3b795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14a37d3b795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14a37d3b795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14a7460c34a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14a7460c34a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14a7460c34a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14a7460c34a_0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g14a37d3b795_0_1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 name="Google Shape;117;g14a37d3b795_0_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14a37d3b795_0_1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14a37d3b795_0_1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e8fa69a01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ge8fa69a01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e8fa69a014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 name="Google Shape;135;ge8fa69a014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e8fa69a014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1" name="Google Shape;141;ge8fa69a014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e8fa69a014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e8fa69a014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e8fa69a014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 name="Google Shape;153;ge8fa69a014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e8fa69a014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9" name="Google Shape;159;ge8fa69a014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e8fa69a014_0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 name="Google Shape;171;ge8fa69a014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ec497927c2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5" name="Google Shape;195;gec497927c2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ec497927c2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 name="Google Shape;210;gec497927c2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gec497927c2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 name="Google Shape;216;gec497927c2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ec66bd64c6_1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2" name="Google Shape;222;gec66bd64c6_1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gec497927c2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9" name="Google Shape;229;gec497927c2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ec66bd64c6_1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ec66bd64c6_1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gec66bd64c6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1" name="Google Shape;241;gec66bd64c6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gec66bd64c6_1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7" name="Google Shape;247;gec66bd64c6_1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gec66bd64c6_1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3" name="Google Shape;253;gec66bd64c6_1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gec66bd64c6_1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9" name="Google Shape;259;gec66bd64c6_1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gec497927c2_0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5" name="Google Shape;265;gec497927c2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gec66bd64c6_1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2" name="Google Shape;272;gec66bd64c6_1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3" r:id="rId4"/>
    <p:sldLayoutId id="2147483655" r:id="rId5"/>
    <p:sldLayoutId id="2147483656" r:id="rId6"/>
    <p:sldLayoutId id="2147483657"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hyperlink" Target="https://www.cato.org/policy-analysis/making-sense-minimum-wage-roadmap-navigating-recent-research#research-on-the-long-history-of-u-s-minimum-wage-changes" TargetMode="External"/><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AREC 570 Slides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92D050"/>
        </a:solidFill>
        <a:effectLst/>
      </p:bgPr>
    </p:bg>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311700" y="1917225"/>
            <a:ext cx="8520600" cy="1075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a:t>Unit 1</a:t>
            </a:r>
            <a:br>
              <a:rPr lang="en-US" dirty="0"/>
            </a:br>
            <a:r>
              <a:rPr lang="en-US" dirty="0"/>
              <a:t>Foundations of Economic Research</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9">
          <a:extLst>
            <a:ext uri="{FF2B5EF4-FFF2-40B4-BE49-F238E27FC236}">
              <a16:creationId xmlns:a16="http://schemas.microsoft.com/office/drawing/2014/main" id="{3634A9BC-BD08-84FA-301A-115300BC4F5C}"/>
            </a:ext>
          </a:extLst>
        </p:cNvPr>
        <p:cNvGrpSpPr/>
        <p:nvPr/>
      </p:nvGrpSpPr>
      <p:grpSpPr>
        <a:xfrm>
          <a:off x="0" y="0"/>
          <a:ext cx="0" cy="0"/>
          <a:chOff x="0" y="0"/>
          <a:chExt cx="0" cy="0"/>
        </a:xfrm>
      </p:grpSpPr>
      <p:sp>
        <p:nvSpPr>
          <p:cNvPr id="60" name="Google Shape;60;p14">
            <a:extLst>
              <a:ext uri="{FF2B5EF4-FFF2-40B4-BE49-F238E27FC236}">
                <a16:creationId xmlns:a16="http://schemas.microsoft.com/office/drawing/2014/main" id="{18B49D6D-63AE-4F91-F003-7219C4E29F5F}"/>
              </a:ext>
            </a:extLst>
          </p:cNvPr>
          <p:cNvSpPr txBox="1">
            <a:spLocks noGrp="1"/>
          </p:cNvSpPr>
          <p:nvPr>
            <p:ph type="title"/>
          </p:nvPr>
        </p:nvSpPr>
        <p:spPr>
          <a:xfrm>
            <a:off x="311700" y="1917225"/>
            <a:ext cx="8520600" cy="1075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Introduction</a:t>
            </a:r>
            <a:endParaRPr dirty="0"/>
          </a:p>
          <a:p>
            <a:pPr marL="0" lvl="0" indent="0" algn="ctr" rtl="0">
              <a:spcBef>
                <a:spcPts val="0"/>
              </a:spcBef>
              <a:spcAft>
                <a:spcPts val="0"/>
              </a:spcAft>
              <a:buNone/>
            </a:pPr>
            <a:r>
              <a:rPr lang="en" dirty="0"/>
              <a:t>Greenlaw Ch 1; Ethridge Ch 2; Popper</a:t>
            </a:r>
            <a:endParaRPr dirty="0"/>
          </a:p>
        </p:txBody>
      </p:sp>
    </p:spTree>
    <p:extLst>
      <p:ext uri="{BB962C8B-B14F-4D97-AF65-F5344CB8AC3E}">
        <p14:creationId xmlns:p14="http://schemas.microsoft.com/office/powerpoint/2010/main" val="32099333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lnSpc>
                <a:spcPct val="200000"/>
              </a:lnSpc>
              <a:spcBef>
                <a:spcPts val="0"/>
              </a:spcBef>
              <a:spcAft>
                <a:spcPts val="0"/>
              </a:spcAft>
              <a:buNone/>
            </a:pPr>
            <a:r>
              <a:rPr lang="en" sz="2400">
                <a:solidFill>
                  <a:schemeClr val="dk1"/>
                </a:solidFill>
                <a:latin typeface="Calibri"/>
                <a:ea typeface="Calibri"/>
                <a:cs typeface="Calibri"/>
                <a:sym typeface="Calibri"/>
              </a:rPr>
              <a:t>What is economic research?  </a:t>
            </a:r>
            <a:endParaRPr sz="2400">
              <a:solidFill>
                <a:schemeClr val="dk1"/>
              </a:solidFill>
              <a:latin typeface="Calibri"/>
              <a:ea typeface="Calibri"/>
              <a:cs typeface="Calibri"/>
              <a:sym typeface="Calibri"/>
            </a:endParaRPr>
          </a:p>
          <a:p>
            <a:pPr marL="0" lvl="0" indent="0" algn="l" rtl="0">
              <a:lnSpc>
                <a:spcPct val="200000"/>
              </a:lnSpc>
              <a:spcBef>
                <a:spcPts val="0"/>
              </a:spcBef>
              <a:spcAft>
                <a:spcPts val="0"/>
              </a:spcAft>
              <a:buNone/>
            </a:pPr>
            <a:r>
              <a:rPr lang="en" sz="2400">
                <a:solidFill>
                  <a:schemeClr val="dk1"/>
                </a:solidFill>
                <a:latin typeface="Calibri"/>
                <a:ea typeface="Calibri"/>
                <a:cs typeface="Calibri"/>
                <a:sym typeface="Calibri"/>
              </a:rPr>
              <a:t>What is the goal of economic research?  </a:t>
            </a:r>
            <a:endParaRPr sz="2400">
              <a:solidFill>
                <a:schemeClr val="dk1"/>
              </a:solidFill>
              <a:latin typeface="Calibri"/>
              <a:ea typeface="Calibri"/>
              <a:cs typeface="Calibri"/>
              <a:sym typeface="Calibri"/>
            </a:endParaRPr>
          </a:p>
          <a:p>
            <a:pPr marL="0" lvl="0" indent="0" algn="l" rtl="0">
              <a:lnSpc>
                <a:spcPct val="200000"/>
              </a:lnSpc>
              <a:spcBef>
                <a:spcPts val="0"/>
              </a:spcBef>
              <a:spcAft>
                <a:spcPts val="0"/>
              </a:spcAft>
              <a:buNone/>
            </a:pPr>
            <a:r>
              <a:rPr lang="en" sz="2400">
                <a:solidFill>
                  <a:schemeClr val="dk1"/>
                </a:solidFill>
                <a:latin typeface="Calibri"/>
                <a:ea typeface="Calibri"/>
                <a:cs typeface="Calibri"/>
                <a:sym typeface="Calibri"/>
              </a:rPr>
              <a:t>How do we do economic research?  </a:t>
            </a:r>
            <a:endParaRPr sz="2400">
              <a:solidFill>
                <a:schemeClr val="dk1"/>
              </a:solidFill>
              <a:latin typeface="Calibri"/>
              <a:ea typeface="Calibri"/>
              <a:cs typeface="Calibri"/>
              <a:sym typeface="Calibri"/>
            </a:endParaRPr>
          </a:p>
          <a:p>
            <a:pPr marL="0" lvl="0" indent="0" algn="l" rtl="0">
              <a:lnSpc>
                <a:spcPct val="200000"/>
              </a:lnSpc>
              <a:spcBef>
                <a:spcPts val="0"/>
              </a:spcBef>
              <a:spcAft>
                <a:spcPts val="0"/>
              </a:spcAft>
              <a:buNone/>
            </a:pPr>
            <a:r>
              <a:rPr lang="en" sz="2400">
                <a:solidFill>
                  <a:schemeClr val="dk1"/>
                </a:solidFill>
                <a:latin typeface="Calibri"/>
                <a:ea typeface="Calibri"/>
                <a:cs typeface="Calibri"/>
                <a:sym typeface="Calibri"/>
              </a:rPr>
              <a:t>How do we evaluate economic research?</a:t>
            </a:r>
            <a:endParaRPr sz="2400">
              <a:solidFill>
                <a:schemeClr val="dk1"/>
              </a:solidFill>
              <a:latin typeface="Calibri"/>
              <a:ea typeface="Calibri"/>
              <a:cs typeface="Calibri"/>
              <a:sym typeface="Calibri"/>
            </a:endParaRPr>
          </a:p>
          <a:p>
            <a:pPr marL="0" lvl="0" indent="0" algn="l" rtl="0">
              <a:lnSpc>
                <a:spcPct val="200000"/>
              </a:lnSpc>
              <a:spcBef>
                <a:spcPts val="0"/>
              </a:spcBef>
              <a:spcAft>
                <a:spcPts val="0"/>
              </a:spcAft>
              <a:buNone/>
            </a:pPr>
            <a:r>
              <a:rPr lang="en" sz="2400">
                <a:solidFill>
                  <a:schemeClr val="dk1"/>
                </a:solidFill>
                <a:latin typeface="Calibri"/>
                <a:ea typeface="Calibri"/>
                <a:cs typeface="Calibri"/>
                <a:sym typeface="Calibri"/>
              </a:rPr>
              <a:t>Why should we study economic research methodology?</a:t>
            </a:r>
            <a:endParaRPr sz="2600"/>
          </a:p>
        </p:txBody>
      </p:sp>
      <p:sp>
        <p:nvSpPr>
          <p:cNvPr id="66" name="Google Shape;66;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Introduction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What is economic research?</a:t>
            </a:r>
            <a:endParaRPr/>
          </a:p>
        </p:txBody>
      </p:sp>
      <p:sp>
        <p:nvSpPr>
          <p:cNvPr id="72" name="Google Shape;72;p1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“research is the systematic approach to obtaining new and reliable knowledge… the process by which we discover, evaluate, and confirm the stock of economic knowledge.” - Ethridge Ch 2</a:t>
            </a:r>
            <a:endParaRPr/>
          </a:p>
          <a:p>
            <a:pPr marL="0" lvl="0" indent="0" algn="l" rtl="0">
              <a:spcBef>
                <a:spcPts val="1600"/>
              </a:spcBef>
              <a:spcAft>
                <a:spcPts val="0"/>
              </a:spcAft>
              <a:buNone/>
            </a:pPr>
            <a:r>
              <a:rPr lang="en"/>
              <a:t>Farmer vs detective metaphor - knowledge is created through argument</a:t>
            </a:r>
            <a:endParaRPr/>
          </a:p>
          <a:p>
            <a:pPr marL="0" lvl="0" indent="0" algn="l" rtl="0">
              <a:spcBef>
                <a:spcPts val="1600"/>
              </a:spcBef>
              <a:spcAft>
                <a:spcPts val="1600"/>
              </a:spcAft>
              <a:buClr>
                <a:schemeClr val="dk1"/>
              </a:buClr>
              <a:buSzPts val="1100"/>
              <a:buFont typeface="Arial"/>
              <a:buNone/>
            </a:pPr>
            <a:r>
              <a:rPr lang="en"/>
              <a:t>Journals are the forum for discussion. “Through this dialog, arguments are evaluated, the weaker ones are winnowed out, and the stronger ones are refined and improved” (we will return to this in McCloskey)</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2"/>
                                        </p:tgtEl>
                                        <p:attrNameLst>
                                          <p:attrName>style.visibility</p:attrName>
                                        </p:attrNameLst>
                                      </p:cBhvr>
                                      <p:to>
                                        <p:strVal val="visible"/>
                                      </p:to>
                                    </p:set>
                                    <p:animEffect transition="in" filter="fade">
                                      <p:cBhvr>
                                        <p:cTn id="7" dur="100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Minimum wage example</a:t>
            </a:r>
            <a:endParaRPr/>
          </a:p>
        </p:txBody>
      </p:sp>
      <p:sp>
        <p:nvSpPr>
          <p:cNvPr id="78" name="Google Shape;78;p1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Those doing economic research observe and theorize about the laws governing employment in a market economy.  </a:t>
            </a:r>
            <a:endParaRPr/>
          </a:p>
          <a:p>
            <a:pPr marL="0" lvl="0" indent="0" algn="l" rtl="0">
              <a:spcBef>
                <a:spcPts val="1600"/>
              </a:spcBef>
              <a:spcAft>
                <a:spcPts val="0"/>
              </a:spcAft>
              <a:buNone/>
            </a:pPr>
            <a:r>
              <a:rPr lang="en"/>
              <a:t>From that theory comes a prediction that, ceteris peribus, an increase in the minimum wage above the equilibrium will result in lower employment.  </a:t>
            </a:r>
            <a:endParaRPr/>
          </a:p>
          <a:p>
            <a:pPr marL="0" lvl="0" indent="0" algn="l" rtl="0">
              <a:spcBef>
                <a:spcPts val="1600"/>
              </a:spcBef>
              <a:spcAft>
                <a:spcPts val="0"/>
              </a:spcAft>
              <a:buNone/>
            </a:pPr>
            <a:r>
              <a:rPr lang="en"/>
              <a:t>This theory can then be evaluated by empirical study.  </a:t>
            </a:r>
            <a:endParaRPr/>
          </a:p>
          <a:p>
            <a:pPr marL="0" lvl="0" indent="0" algn="l" rtl="0">
              <a:spcBef>
                <a:spcPts val="1600"/>
              </a:spcBef>
              <a:spcAft>
                <a:spcPts val="1600"/>
              </a:spcAft>
              <a:buNone/>
            </a:pPr>
            <a:r>
              <a:rPr lang="en"/>
              <a:t>We either confirm or reject the theory and possibly revise theory.</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Ethridge: What research is and isn’t</a:t>
            </a:r>
            <a:endParaRPr/>
          </a:p>
        </p:txBody>
      </p:sp>
      <p:sp>
        <p:nvSpPr>
          <p:cNvPr id="84" name="Google Shape;84;p18"/>
          <p:cNvSpPr txBox="1">
            <a:spLocks noGrp="1"/>
          </p:cNvSpPr>
          <p:nvPr>
            <p:ph type="body" idx="1"/>
          </p:nvPr>
        </p:nvSpPr>
        <p:spPr>
          <a:xfrm>
            <a:off x="311700" y="1017725"/>
            <a:ext cx="8520600" cy="355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Research is the systematic approach to obtaining and confirming new and reliable knowledge</a:t>
            </a:r>
            <a:endParaRPr/>
          </a:p>
          <a:p>
            <a:pPr marL="0" lvl="0" indent="0" algn="l" rtl="0">
              <a:spcBef>
                <a:spcPts val="1600"/>
              </a:spcBef>
              <a:spcAft>
                <a:spcPts val="0"/>
              </a:spcAft>
              <a:buClr>
                <a:schemeClr val="dk1"/>
              </a:buClr>
              <a:buSzPts val="1100"/>
              <a:buFont typeface="Arial"/>
              <a:buNone/>
            </a:pPr>
            <a:r>
              <a:rPr lang="en"/>
              <a:t>Research is:</a:t>
            </a:r>
            <a:endParaRPr/>
          </a:p>
          <a:p>
            <a:pPr marL="457200" lvl="0" indent="-342900" algn="l" rtl="0">
              <a:spcBef>
                <a:spcPts val="1600"/>
              </a:spcBef>
              <a:spcAft>
                <a:spcPts val="0"/>
              </a:spcAft>
              <a:buSzPts val="1800"/>
              <a:buChar char="●"/>
            </a:pPr>
            <a:r>
              <a:rPr lang="en"/>
              <a:t>Searching for explanations</a:t>
            </a:r>
            <a:endParaRPr/>
          </a:p>
          <a:p>
            <a:pPr marL="457200" lvl="0" indent="-342900" algn="l" rtl="0">
              <a:spcBef>
                <a:spcPts val="0"/>
              </a:spcBef>
              <a:spcAft>
                <a:spcPts val="0"/>
              </a:spcAft>
              <a:buSzPts val="1800"/>
              <a:buChar char="●"/>
            </a:pPr>
            <a:r>
              <a:rPr lang="en"/>
              <a:t>A process</a:t>
            </a:r>
            <a:endParaRPr/>
          </a:p>
          <a:p>
            <a:pPr marL="0" lvl="0" indent="0" algn="l" rtl="0">
              <a:spcBef>
                <a:spcPts val="1600"/>
              </a:spcBef>
              <a:spcAft>
                <a:spcPts val="0"/>
              </a:spcAft>
              <a:buClr>
                <a:schemeClr val="dk1"/>
              </a:buClr>
              <a:buSzPts val="1100"/>
              <a:buFont typeface="Arial"/>
              <a:buNone/>
            </a:pPr>
            <a:r>
              <a:rPr lang="en"/>
              <a:t>Research is not:</a:t>
            </a:r>
            <a:endParaRPr/>
          </a:p>
          <a:p>
            <a:pPr marL="457200" lvl="0" indent="-342900" algn="l" rtl="0">
              <a:spcBef>
                <a:spcPts val="1600"/>
              </a:spcBef>
              <a:spcAft>
                <a:spcPts val="0"/>
              </a:spcAft>
              <a:buSzPts val="1800"/>
              <a:buChar char="●"/>
            </a:pPr>
            <a:r>
              <a:rPr lang="en"/>
              <a:t>Accidental discovery</a:t>
            </a:r>
            <a:endParaRPr/>
          </a:p>
          <a:p>
            <a:pPr marL="457200" lvl="0" indent="-342900" algn="l" rtl="0">
              <a:spcBef>
                <a:spcPts val="0"/>
              </a:spcBef>
              <a:spcAft>
                <a:spcPts val="0"/>
              </a:spcAft>
              <a:buSzPts val="1800"/>
              <a:buChar char="●"/>
            </a:pPr>
            <a:r>
              <a:rPr lang="en"/>
              <a:t>Data collection (though it is a critical part of research)</a:t>
            </a:r>
            <a:endParaRPr/>
          </a:p>
          <a:p>
            <a:pPr marL="457200" lvl="0" indent="-342900" algn="l" rtl="0">
              <a:spcBef>
                <a:spcPts val="0"/>
              </a:spcBef>
              <a:spcAft>
                <a:spcPts val="0"/>
              </a:spcAft>
              <a:buSzPts val="1800"/>
              <a:buChar char="●"/>
            </a:pPr>
            <a:r>
              <a:rPr lang="en"/>
              <a:t>Searching out published research (though literature review is important part of the research process)</a:t>
            </a:r>
            <a:endParaRPr/>
          </a:p>
          <a:p>
            <a:pPr marL="0" lvl="0" indent="0" algn="l" rtl="0">
              <a:spcBef>
                <a:spcPts val="1600"/>
              </a:spcBef>
              <a:spcAft>
                <a:spcPts val="0"/>
              </a:spcAft>
              <a:buClr>
                <a:schemeClr val="dk1"/>
              </a:buClr>
              <a:buSzPts val="1100"/>
              <a:buFont typeface="Arial"/>
              <a:buNone/>
            </a:pPr>
            <a:endParaRPr/>
          </a:p>
          <a:p>
            <a:pPr marL="0" lvl="0" indent="0" algn="l" rtl="0">
              <a:spcBef>
                <a:spcPts val="1600"/>
              </a:spcBef>
              <a:spcAft>
                <a:spcPts val="1600"/>
              </a:spcAft>
              <a:buNone/>
            </a:pP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Basic and applied research</a:t>
            </a:r>
            <a:endParaRPr/>
          </a:p>
        </p:txBody>
      </p:sp>
      <p:sp>
        <p:nvSpPr>
          <p:cNvPr id="90" name="Google Shape;90;p1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Basic: proposing new theories or methods and investigating their properties.  Ex: new functional forms, new estimators.  Audience is other economists/researchers</a:t>
            </a:r>
            <a:endParaRPr/>
          </a:p>
          <a:p>
            <a:pPr marL="457200" lvl="0" indent="-342900" algn="l" rtl="0">
              <a:spcBef>
                <a:spcPts val="1600"/>
              </a:spcBef>
              <a:spcAft>
                <a:spcPts val="0"/>
              </a:spcAft>
              <a:buSzPts val="1800"/>
              <a:buChar char="●"/>
            </a:pPr>
            <a:r>
              <a:rPr lang="en"/>
              <a:t>Fundamental economic research is still about human behavior</a:t>
            </a:r>
            <a:endParaRPr/>
          </a:p>
          <a:p>
            <a:pPr marL="457200" lvl="0" indent="-342900" algn="l" rtl="0">
              <a:spcBef>
                <a:spcPts val="0"/>
              </a:spcBef>
              <a:spcAft>
                <a:spcPts val="0"/>
              </a:spcAft>
              <a:buSzPts val="1800"/>
              <a:buChar char="●"/>
            </a:pPr>
            <a:r>
              <a:rPr lang="en"/>
              <a:t>Disciplinary research</a:t>
            </a:r>
            <a:endParaRPr/>
          </a:p>
          <a:p>
            <a:pPr marL="0" lvl="0" indent="0" algn="l" rtl="0">
              <a:spcBef>
                <a:spcPts val="1600"/>
              </a:spcBef>
              <a:spcAft>
                <a:spcPts val="0"/>
              </a:spcAft>
              <a:buClr>
                <a:schemeClr val="dk1"/>
              </a:buClr>
              <a:buSzPts val="1100"/>
              <a:buFont typeface="Arial"/>
              <a:buNone/>
            </a:pPr>
            <a:r>
              <a:rPr lang="en"/>
              <a:t>Applied: applying theories or tools to study real world problems.</a:t>
            </a:r>
            <a:endParaRPr/>
          </a:p>
          <a:p>
            <a:pPr marL="457200" lvl="0" indent="-342900" algn="l" rtl="0">
              <a:spcBef>
                <a:spcPts val="1600"/>
              </a:spcBef>
              <a:spcAft>
                <a:spcPts val="0"/>
              </a:spcAft>
              <a:buSzPts val="1800"/>
              <a:buChar char="●"/>
            </a:pPr>
            <a:r>
              <a:rPr lang="en"/>
              <a:t>Subject-matter: climate change </a:t>
            </a:r>
            <a:endParaRPr/>
          </a:p>
          <a:p>
            <a:pPr marL="457200" lvl="0" indent="-342900" algn="l" rtl="0">
              <a:spcBef>
                <a:spcPts val="0"/>
              </a:spcBef>
              <a:spcAft>
                <a:spcPts val="0"/>
              </a:spcAft>
              <a:buSzPts val="1800"/>
              <a:buChar char="●"/>
            </a:pPr>
            <a:r>
              <a:rPr lang="en"/>
              <a:t>Problem solving: cap and trade in CA policy analysis</a:t>
            </a:r>
            <a:endParaRPr/>
          </a:p>
          <a:p>
            <a:pPr marL="0" lvl="0" indent="0" algn="l" rtl="0">
              <a:spcBef>
                <a:spcPts val="1600"/>
              </a:spcBef>
              <a:spcAft>
                <a:spcPts val="0"/>
              </a:spcAft>
              <a:buClr>
                <a:schemeClr val="dk1"/>
              </a:buClr>
              <a:buSzPts val="1100"/>
              <a:buFont typeface="Arial"/>
              <a:buNone/>
            </a:pPr>
            <a:r>
              <a:rPr lang="en"/>
              <a:t>Both and interdependent and influence each other. How?</a:t>
            </a:r>
            <a:endParaRPr/>
          </a:p>
          <a:p>
            <a:pPr marL="0" lvl="0" indent="0" algn="l" rtl="0">
              <a:spcBef>
                <a:spcPts val="1600"/>
              </a:spcBef>
              <a:spcAft>
                <a:spcPts val="0"/>
              </a:spcAft>
              <a:buClr>
                <a:schemeClr val="dk1"/>
              </a:buClr>
              <a:buSzPts val="1100"/>
              <a:buFont typeface="Arial"/>
              <a:buNone/>
            </a:pPr>
            <a:endParaRPr/>
          </a:p>
          <a:p>
            <a:pPr marL="0" lvl="0" indent="0" algn="l" rtl="0">
              <a:spcBef>
                <a:spcPts val="1600"/>
              </a:spcBef>
              <a:spcAft>
                <a:spcPts val="1600"/>
              </a:spcAft>
              <a:buNone/>
            </a:pP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What is the goal of economic research?  </a:t>
            </a:r>
            <a:endParaRPr/>
          </a:p>
        </p:txBody>
      </p:sp>
      <p:sp>
        <p:nvSpPr>
          <p:cNvPr id="96" name="Google Shape;96;p2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To learn or better understand economic processes, relationships between people/firms in society, relationships between people and natural resources</a:t>
            </a:r>
            <a:endParaRPr/>
          </a:p>
          <a:p>
            <a:pPr marL="0" lvl="0" indent="0" algn="l" rtl="0">
              <a:spcBef>
                <a:spcPts val="1600"/>
              </a:spcBef>
              <a:spcAft>
                <a:spcPts val="0"/>
              </a:spcAft>
              <a:buNone/>
            </a:pPr>
            <a:r>
              <a:rPr lang="en"/>
              <a:t>Doing the research frequently requires solving problems… solving a model or doing econometrics, but this is not the goal of the research</a:t>
            </a:r>
            <a:endParaRPr/>
          </a:p>
          <a:p>
            <a:pPr marL="0" lvl="0" indent="0" algn="l" rtl="0">
              <a:spcBef>
                <a:spcPts val="1600"/>
              </a:spcBef>
              <a:spcAft>
                <a:spcPts val="0"/>
              </a:spcAft>
              <a:buNone/>
            </a:pPr>
            <a:r>
              <a:rPr lang="en"/>
              <a:t>Throughout the research process ask yourself </a:t>
            </a:r>
            <a:endParaRPr/>
          </a:p>
          <a:p>
            <a:pPr marL="0" lvl="0" indent="457200" algn="l" rtl="0">
              <a:spcBef>
                <a:spcPts val="1600"/>
              </a:spcBef>
              <a:spcAft>
                <a:spcPts val="1600"/>
              </a:spcAft>
              <a:buNone/>
            </a:pPr>
            <a:r>
              <a:rPr lang="en"/>
              <a:t>“Is what I am doing helping me achieve the goal of research”</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6">
                                            <p:txEl>
                                              <p:pRg st="0" end="0"/>
                                            </p:txEl>
                                          </p:spTgt>
                                        </p:tgtEl>
                                        <p:attrNameLst>
                                          <p:attrName>style.visibility</p:attrName>
                                        </p:attrNameLst>
                                      </p:cBhvr>
                                      <p:to>
                                        <p:strVal val="visible"/>
                                      </p:to>
                                    </p:set>
                                    <p:animEffect transition="in" filter="fade">
                                      <p:cBhvr>
                                        <p:cTn id="7" dur="1"/>
                                        <p:tgtEl>
                                          <p:spTgt spid="9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6">
                                            <p:txEl>
                                              <p:pRg st="1" end="1"/>
                                            </p:txEl>
                                          </p:spTgt>
                                        </p:tgtEl>
                                        <p:attrNameLst>
                                          <p:attrName>style.visibility</p:attrName>
                                        </p:attrNameLst>
                                      </p:cBhvr>
                                      <p:to>
                                        <p:strVal val="visible"/>
                                      </p:to>
                                    </p:set>
                                    <p:animEffect transition="in" filter="fade">
                                      <p:cBhvr>
                                        <p:cTn id="12" dur="1"/>
                                        <p:tgtEl>
                                          <p:spTgt spid="9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6">
                                            <p:txEl>
                                              <p:pRg st="2" end="2"/>
                                            </p:txEl>
                                          </p:spTgt>
                                        </p:tgtEl>
                                        <p:attrNameLst>
                                          <p:attrName>style.visibility</p:attrName>
                                        </p:attrNameLst>
                                      </p:cBhvr>
                                      <p:to>
                                        <p:strVal val="visible"/>
                                      </p:to>
                                    </p:set>
                                    <p:animEffect transition="in" filter="fade">
                                      <p:cBhvr>
                                        <p:cTn id="17" dur="1"/>
                                        <p:tgtEl>
                                          <p:spTgt spid="9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6">
                                            <p:txEl>
                                              <p:pRg st="3" end="3"/>
                                            </p:txEl>
                                          </p:spTgt>
                                        </p:tgtEl>
                                        <p:attrNameLst>
                                          <p:attrName>style.visibility</p:attrName>
                                        </p:attrNameLst>
                                      </p:cBhvr>
                                      <p:to>
                                        <p:strVal val="visible"/>
                                      </p:to>
                                    </p:set>
                                    <p:animEffect transition="in" filter="fade">
                                      <p:cBhvr>
                                        <p:cTn id="22" dur="1"/>
                                        <p:tgtEl>
                                          <p:spTgt spid="9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2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How do we do economic research?</a:t>
            </a:r>
            <a:endParaRPr/>
          </a:p>
        </p:txBody>
      </p:sp>
      <p:sp>
        <p:nvSpPr>
          <p:cNvPr id="102" name="Google Shape;102;p2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dirty="0"/>
              <a:t>Apply methods to solve identified economic research questions</a:t>
            </a:r>
            <a:endParaRPr dirty="0"/>
          </a:p>
          <a:p>
            <a:pPr marL="0" lvl="0" indent="0" algn="l" rtl="0">
              <a:spcBef>
                <a:spcPts val="1600"/>
              </a:spcBef>
              <a:spcAft>
                <a:spcPts val="0"/>
              </a:spcAft>
              <a:buClr>
                <a:schemeClr val="dk1"/>
              </a:buClr>
              <a:buSzPts val="1100"/>
              <a:buFont typeface="Arial"/>
              <a:buNone/>
            </a:pPr>
            <a:r>
              <a:rPr lang="en" dirty="0"/>
              <a:t>Identify questions → develop hypothesis (based on theory) → collect and analyze data → revise theory → repeat</a:t>
            </a:r>
            <a:endParaRPr dirty="0"/>
          </a:p>
          <a:p>
            <a:pPr marL="0" lvl="0" indent="0" algn="l" rtl="0">
              <a:spcBef>
                <a:spcPts val="1600"/>
              </a:spcBef>
              <a:spcAft>
                <a:spcPts val="0"/>
              </a:spcAft>
              <a:buClr>
                <a:schemeClr val="dk1"/>
              </a:buClr>
              <a:buSzPts val="1100"/>
              <a:buFont typeface="Arial"/>
              <a:buNone/>
            </a:pPr>
            <a:r>
              <a:rPr lang="en" dirty="0"/>
              <a:t>Research does not proceed linearly or as easily as it may sound when reading a journal article.  Often fits and starts with many dead ends. </a:t>
            </a:r>
          </a:p>
          <a:p>
            <a:pPr marL="0" lvl="0" indent="0" algn="l" rtl="0">
              <a:spcBef>
                <a:spcPts val="1600"/>
              </a:spcBef>
              <a:spcAft>
                <a:spcPts val="0"/>
              </a:spcAft>
              <a:buClr>
                <a:schemeClr val="dk1"/>
              </a:buClr>
              <a:buSzPts val="1100"/>
              <a:buFont typeface="Arial"/>
              <a:buNone/>
            </a:pPr>
            <a:r>
              <a:rPr lang="en" dirty="0"/>
              <a:t>Any examples?</a:t>
            </a:r>
            <a:endParaRPr dirty="0"/>
          </a:p>
          <a:p>
            <a:pPr marL="0" lvl="0" indent="0" algn="l" rtl="0">
              <a:spcBef>
                <a:spcPts val="1600"/>
              </a:spcBef>
              <a:spcAft>
                <a:spcPts val="1600"/>
              </a:spcAft>
              <a:buNone/>
            </a:pPr>
            <a:r>
              <a:rPr lang="en" dirty="0"/>
              <a:t>Collaboration: Economics is inherently multidisciplinary. Economics deals with human activities that are affected by social religious political governmental institutional physical by and biological factors. </a:t>
            </a: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2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Research Process</a:t>
            </a:r>
            <a:endParaRPr/>
          </a:p>
        </p:txBody>
      </p:sp>
      <p:sp>
        <p:nvSpPr>
          <p:cNvPr id="108" name="Google Shape;108;p2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Identify problem and develop research question</a:t>
            </a:r>
            <a:endParaRPr/>
          </a:p>
          <a:p>
            <a:pPr marL="0" lvl="0" indent="0" algn="l" rtl="0">
              <a:spcBef>
                <a:spcPts val="1600"/>
              </a:spcBef>
              <a:spcAft>
                <a:spcPts val="0"/>
              </a:spcAft>
              <a:buClr>
                <a:schemeClr val="dk1"/>
              </a:buClr>
              <a:buSzPts val="1100"/>
              <a:buFont typeface="Arial"/>
              <a:buNone/>
            </a:pPr>
            <a:r>
              <a:rPr lang="en"/>
              <a:t>Formulate objectives</a:t>
            </a:r>
            <a:endParaRPr/>
          </a:p>
          <a:p>
            <a:pPr marL="0" lvl="0" indent="0" algn="l" rtl="0">
              <a:spcBef>
                <a:spcPts val="1600"/>
              </a:spcBef>
              <a:spcAft>
                <a:spcPts val="0"/>
              </a:spcAft>
              <a:buClr>
                <a:schemeClr val="dk1"/>
              </a:buClr>
              <a:buSzPts val="1100"/>
              <a:buFont typeface="Arial"/>
              <a:buNone/>
            </a:pPr>
            <a:r>
              <a:rPr lang="en"/>
              <a:t>Plan and design research methods</a:t>
            </a:r>
            <a:endParaRPr/>
          </a:p>
          <a:p>
            <a:pPr marL="0" lvl="0" indent="0" algn="l" rtl="0">
              <a:spcBef>
                <a:spcPts val="1600"/>
              </a:spcBef>
              <a:spcAft>
                <a:spcPts val="0"/>
              </a:spcAft>
              <a:buClr>
                <a:schemeClr val="dk1"/>
              </a:buClr>
              <a:buSzPts val="1100"/>
              <a:buFont typeface="Arial"/>
              <a:buNone/>
            </a:pPr>
            <a:r>
              <a:rPr lang="en"/>
              <a:t>Do project and generate results</a:t>
            </a:r>
            <a:endParaRPr/>
          </a:p>
          <a:p>
            <a:pPr marL="0" lvl="0" indent="0" algn="l" rtl="0">
              <a:spcBef>
                <a:spcPts val="1600"/>
              </a:spcBef>
              <a:spcAft>
                <a:spcPts val="0"/>
              </a:spcAft>
              <a:buClr>
                <a:schemeClr val="dk1"/>
              </a:buClr>
              <a:buSzPts val="1100"/>
              <a:buFont typeface="Arial"/>
              <a:buNone/>
            </a:pPr>
            <a:r>
              <a:rPr lang="en"/>
              <a:t>Interpret and draw conclusions</a:t>
            </a:r>
            <a:endParaRPr/>
          </a:p>
          <a:p>
            <a:pPr marL="0" lvl="0" indent="0" algn="l" rtl="0">
              <a:spcBef>
                <a:spcPts val="1600"/>
              </a:spcBef>
              <a:spcAft>
                <a:spcPts val="0"/>
              </a:spcAft>
              <a:buNone/>
            </a:pPr>
            <a:r>
              <a:rPr lang="en"/>
              <a:t>Communicate your research to audience</a:t>
            </a:r>
            <a:endParaRPr/>
          </a:p>
          <a:p>
            <a:pPr marL="457200" lvl="0" indent="-342900" algn="l" rtl="0">
              <a:spcBef>
                <a:spcPts val="1600"/>
              </a:spcBef>
              <a:spcAft>
                <a:spcPts val="0"/>
              </a:spcAft>
              <a:buSzPts val="1800"/>
              <a:buChar char="●"/>
            </a:pPr>
            <a:r>
              <a:rPr lang="en"/>
              <a:t>Sub-discipline, discipline, academic, practitioners, general audience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2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Creativity</a:t>
            </a:r>
            <a:endParaRPr/>
          </a:p>
        </p:txBody>
      </p:sp>
      <p:sp>
        <p:nvSpPr>
          <p:cNvPr id="114" name="Google Shape;114;p2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Prescriptive: creativity in converting research into policy</a:t>
            </a:r>
            <a:endParaRPr/>
          </a:p>
          <a:p>
            <a:pPr marL="457200" lvl="0" indent="-342900" algn="l" rtl="0">
              <a:spcBef>
                <a:spcPts val="1600"/>
              </a:spcBef>
              <a:spcAft>
                <a:spcPts val="0"/>
              </a:spcAft>
              <a:buSzPts val="1800"/>
              <a:buChar char="●"/>
            </a:pPr>
            <a:r>
              <a:rPr lang="en"/>
              <a:t>Transferable quota in commercial fishing</a:t>
            </a:r>
            <a:endParaRPr/>
          </a:p>
          <a:p>
            <a:pPr marL="0" lvl="0" indent="0" algn="l" rtl="0">
              <a:spcBef>
                <a:spcPts val="1600"/>
              </a:spcBef>
              <a:spcAft>
                <a:spcPts val="0"/>
              </a:spcAft>
              <a:buClr>
                <a:schemeClr val="dk1"/>
              </a:buClr>
              <a:buSzPts val="1100"/>
              <a:buFont typeface="Arial"/>
              <a:buNone/>
            </a:pPr>
            <a:r>
              <a:rPr lang="en"/>
              <a:t>Applied: creativity in finding appropriate solution concepts to problems</a:t>
            </a:r>
            <a:endParaRPr/>
          </a:p>
          <a:p>
            <a:pPr marL="457200" lvl="0" indent="-342900" algn="l" rtl="0">
              <a:spcBef>
                <a:spcPts val="1600"/>
              </a:spcBef>
              <a:spcAft>
                <a:spcPts val="0"/>
              </a:spcAft>
              <a:buSzPts val="1800"/>
              <a:buChar char="●"/>
            </a:pPr>
            <a:r>
              <a:rPr lang="en"/>
              <a:t>Nash equilibrium to the location choice</a:t>
            </a:r>
            <a:endParaRPr/>
          </a:p>
          <a:p>
            <a:pPr marL="0" lvl="0" indent="0" algn="l" rtl="0">
              <a:spcBef>
                <a:spcPts val="1600"/>
              </a:spcBef>
              <a:spcAft>
                <a:spcPts val="0"/>
              </a:spcAft>
              <a:buClr>
                <a:schemeClr val="dk1"/>
              </a:buClr>
              <a:buSzPts val="1100"/>
              <a:buFont typeface="Arial"/>
              <a:buNone/>
            </a:pPr>
            <a:r>
              <a:rPr lang="en"/>
              <a:t>Theoretical: drawing connections between abstract concepts</a:t>
            </a:r>
            <a:endParaRPr/>
          </a:p>
          <a:p>
            <a:pPr marL="457200" lvl="0" indent="-342900" algn="l" rtl="0">
              <a:spcBef>
                <a:spcPts val="1600"/>
              </a:spcBef>
              <a:spcAft>
                <a:spcPts val="0"/>
              </a:spcAft>
              <a:buSzPts val="1800"/>
              <a:buChar char="●"/>
            </a:pPr>
            <a:r>
              <a:rPr lang="en"/>
              <a:t>Fire and moral hazard</a:t>
            </a:r>
            <a:endParaRPr/>
          </a:p>
          <a:p>
            <a:pPr marL="0" lvl="0" indent="0" algn="l" rtl="0">
              <a:spcBef>
                <a:spcPts val="1600"/>
              </a:spcBef>
              <a:spcAft>
                <a:spcPts val="1600"/>
              </a:spcAft>
              <a:buNone/>
            </a:pPr>
            <a:r>
              <a:rPr lang="en"/>
              <a:t>How can you cultivate creativity?</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2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How do we evaluate economic research?</a:t>
            </a:r>
            <a:endParaRPr/>
          </a:p>
        </p:txBody>
      </p:sp>
      <p:sp>
        <p:nvSpPr>
          <p:cNvPr id="120" name="Google Shape;120;p2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dirty="0"/>
              <a:t>Evaluate an argument by thinking critically about the component parts: assumptions, logic, evidence</a:t>
            </a:r>
            <a:endParaRPr dirty="0"/>
          </a:p>
          <a:p>
            <a:pPr marL="457200" lvl="0" indent="-342900" algn="l" rtl="0">
              <a:spcBef>
                <a:spcPts val="1600"/>
              </a:spcBef>
              <a:spcAft>
                <a:spcPts val="0"/>
              </a:spcAft>
              <a:buSzPts val="1800"/>
              <a:buChar char="●"/>
            </a:pPr>
            <a:r>
              <a:rPr lang="en" dirty="0"/>
              <a:t>Is the logic flawed?  This is usually handled by the model and logic is imposed by mathematics.  Move toward empirics is making this less clear in papers</a:t>
            </a:r>
            <a:endParaRPr dirty="0"/>
          </a:p>
          <a:p>
            <a:pPr marL="457200" lvl="0" indent="-342900" algn="l" rtl="0">
              <a:spcBef>
                <a:spcPts val="0"/>
              </a:spcBef>
              <a:spcAft>
                <a:spcPts val="0"/>
              </a:spcAft>
              <a:buSzPts val="1800"/>
              <a:buChar char="●"/>
            </a:pPr>
            <a:r>
              <a:rPr lang="en" dirty="0"/>
              <a:t>Are the assumptions necessary to draw the conclusions?  Would changing the assumptions lead to different conclusions. Recognize implicit assumptions and try to make them explicit  </a:t>
            </a:r>
            <a:endParaRPr dirty="0"/>
          </a:p>
          <a:p>
            <a:pPr marL="457200" lvl="0" indent="-342900" algn="l" rtl="0">
              <a:spcBef>
                <a:spcPts val="0"/>
              </a:spcBef>
              <a:spcAft>
                <a:spcPts val="0"/>
              </a:spcAft>
              <a:buSzPts val="1800"/>
              <a:buChar char="●"/>
            </a:pPr>
            <a:r>
              <a:rPr lang="en" dirty="0"/>
              <a:t>Does the evidence support the conclusion?</a:t>
            </a:r>
            <a:endParaRPr dirty="0"/>
          </a:p>
          <a:p>
            <a:pPr marL="457200" lvl="0" indent="-342900" algn="l" rtl="0">
              <a:spcBef>
                <a:spcPts val="0"/>
              </a:spcBef>
              <a:spcAft>
                <a:spcPts val="0"/>
              </a:spcAft>
              <a:buSzPts val="1800"/>
              <a:buChar char="●"/>
            </a:pPr>
            <a:r>
              <a:rPr lang="en" dirty="0"/>
              <a:t>Is the argument persuasive?</a:t>
            </a:r>
            <a:endParaRP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25"/>
          <p:cNvSpPr txBox="1">
            <a:spLocks noGrp="1"/>
          </p:cNvSpPr>
          <p:nvPr>
            <p:ph type="title"/>
          </p:nvPr>
        </p:nvSpPr>
        <p:spPr>
          <a:xfrm>
            <a:off x="113950" y="445025"/>
            <a:ext cx="8958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700"/>
              <a:t>Why should we study economic research methodology?</a:t>
            </a:r>
            <a:endParaRPr sz="2700"/>
          </a:p>
        </p:txBody>
      </p:sp>
      <p:sp>
        <p:nvSpPr>
          <p:cNvPr id="126" name="Google Shape;126;p2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Understanding the process by which we conduct research is the most efficient way to produce new knowledge</a:t>
            </a:r>
            <a:endParaRPr/>
          </a:p>
          <a:p>
            <a:pPr marL="0" lvl="0" indent="0" algn="l" rtl="0">
              <a:spcBef>
                <a:spcPts val="1600"/>
              </a:spcBef>
              <a:spcAft>
                <a:spcPts val="0"/>
              </a:spcAft>
              <a:buNone/>
            </a:pPr>
            <a:r>
              <a:rPr lang="en"/>
              <a:t>Methods vs. methodology</a:t>
            </a:r>
            <a:endParaRPr/>
          </a:p>
          <a:p>
            <a:pPr marL="457200" lvl="0" indent="-342900" algn="l" rtl="0">
              <a:spcBef>
                <a:spcPts val="1600"/>
              </a:spcBef>
              <a:spcAft>
                <a:spcPts val="0"/>
              </a:spcAft>
              <a:buSzPts val="1800"/>
              <a:buChar char="●"/>
            </a:pPr>
            <a:r>
              <a:rPr lang="en"/>
              <a:t>Methods are the specific details about how a problem is solved </a:t>
            </a:r>
            <a:endParaRPr/>
          </a:p>
          <a:p>
            <a:pPr marL="914400" lvl="1" indent="-317500" algn="l" rtl="0">
              <a:spcBef>
                <a:spcPts val="0"/>
              </a:spcBef>
              <a:spcAft>
                <a:spcPts val="0"/>
              </a:spcAft>
              <a:buSzPts val="1400"/>
              <a:buChar char="○"/>
            </a:pPr>
            <a:r>
              <a:rPr lang="en"/>
              <a:t>The other courses you will take cover methods of economics</a:t>
            </a:r>
            <a:endParaRPr/>
          </a:p>
          <a:p>
            <a:pPr marL="457200" lvl="0" indent="-342900" algn="l" rtl="0">
              <a:spcBef>
                <a:spcPts val="0"/>
              </a:spcBef>
              <a:spcAft>
                <a:spcPts val="0"/>
              </a:spcAft>
              <a:buSzPts val="1800"/>
              <a:buChar char="●"/>
            </a:pPr>
            <a:r>
              <a:rPr lang="en"/>
              <a:t>Methodology provides the principles for organizing, planning, designing, and conducting research.</a:t>
            </a:r>
            <a:endParaRPr/>
          </a:p>
          <a:p>
            <a:pPr marL="914400" lvl="1" indent="-317500" algn="l" rtl="0">
              <a:spcBef>
                <a:spcPts val="0"/>
              </a:spcBef>
              <a:spcAft>
                <a:spcPts val="0"/>
              </a:spcAft>
              <a:buSzPts val="1400"/>
              <a:buChar char="○"/>
            </a:pPr>
            <a:r>
              <a:rPr lang="en"/>
              <a:t>The science and art of research</a:t>
            </a:r>
            <a:endParaRPr/>
          </a:p>
          <a:p>
            <a:pPr marL="914400" lvl="1" indent="-317500" algn="l" rtl="0">
              <a:spcBef>
                <a:spcPts val="0"/>
              </a:spcBef>
              <a:spcAft>
                <a:spcPts val="0"/>
              </a:spcAft>
              <a:buSzPts val="1400"/>
              <a:buChar char="○"/>
            </a:pPr>
            <a:r>
              <a:rPr lang="en"/>
              <a:t>Goal is to expand and confirm body of knowledge.  Research methodology is the study of how we accomplish that goal.</a:t>
            </a:r>
            <a:endParaRPr/>
          </a:p>
          <a:p>
            <a:pPr marL="0" lvl="0" indent="0" algn="l" rtl="0">
              <a:spcBef>
                <a:spcPts val="1600"/>
              </a:spcBef>
              <a:spcAft>
                <a:spcPts val="0"/>
              </a:spcAft>
              <a:buNone/>
            </a:pPr>
            <a:endParaRPr/>
          </a:p>
          <a:p>
            <a:pPr marL="0" lvl="0" indent="0" algn="l" rtl="0">
              <a:spcBef>
                <a:spcPts val="1600"/>
              </a:spcBef>
              <a:spcAft>
                <a:spcPts val="1600"/>
              </a:spcAft>
              <a:buNone/>
            </a:pP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Poppers Philosophy of Science</a:t>
            </a:r>
            <a:endParaRPr/>
          </a:p>
        </p:txBody>
      </p:sp>
      <p:sp>
        <p:nvSpPr>
          <p:cNvPr id="132" name="Google Shape;132;p2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Evaluating logic</a:t>
            </a:r>
            <a:endParaRPr/>
          </a:p>
          <a:p>
            <a:pPr marL="457200" lvl="0" indent="-342900" algn="l" rtl="0">
              <a:spcBef>
                <a:spcPts val="1600"/>
              </a:spcBef>
              <a:spcAft>
                <a:spcPts val="0"/>
              </a:spcAft>
              <a:buSzPts val="1800"/>
              <a:buChar char="●"/>
            </a:pPr>
            <a:r>
              <a:rPr lang="en"/>
              <a:t>Modes of argument</a:t>
            </a:r>
            <a:endParaRPr/>
          </a:p>
          <a:p>
            <a:pPr marL="457200" lvl="0" indent="-342900" algn="l" rtl="0">
              <a:spcBef>
                <a:spcPts val="0"/>
              </a:spcBef>
              <a:spcAft>
                <a:spcPts val="0"/>
              </a:spcAft>
              <a:buSzPts val="1800"/>
              <a:buChar char="●"/>
            </a:pPr>
            <a:r>
              <a:rPr lang="en"/>
              <a:t>Validity</a:t>
            </a:r>
            <a:endParaRPr/>
          </a:p>
          <a:p>
            <a:pPr marL="457200" lvl="0" indent="-342900" algn="l" rtl="0">
              <a:spcBef>
                <a:spcPts val="0"/>
              </a:spcBef>
              <a:spcAft>
                <a:spcPts val="0"/>
              </a:spcAft>
              <a:buSzPts val="1800"/>
              <a:buChar char="●"/>
            </a:pPr>
            <a:r>
              <a:rPr lang="en"/>
              <a:t>Soundness</a:t>
            </a:r>
            <a:endParaRPr/>
          </a:p>
          <a:p>
            <a:pPr marL="0" lvl="0" indent="0" algn="l" rtl="0">
              <a:spcBef>
                <a:spcPts val="1600"/>
              </a:spcBef>
              <a:spcAft>
                <a:spcPts val="0"/>
              </a:spcAft>
              <a:buNone/>
            </a:pPr>
            <a:r>
              <a:rPr lang="en"/>
              <a:t>Forms of reasoning</a:t>
            </a:r>
            <a:endParaRPr/>
          </a:p>
          <a:p>
            <a:pPr marL="0" lvl="0" indent="0" algn="l" rtl="0">
              <a:spcBef>
                <a:spcPts val="1600"/>
              </a:spcBef>
              <a:spcAft>
                <a:spcPts val="1600"/>
              </a:spcAft>
              <a:buNone/>
            </a:pPr>
            <a:r>
              <a:rPr lang="en"/>
              <a:t>Scientific Theory</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2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a:t>Two modes of argument from philosophy</a:t>
            </a:r>
            <a:endParaRPr/>
          </a:p>
        </p:txBody>
      </p:sp>
      <p:sp>
        <p:nvSpPr>
          <p:cNvPr id="138" name="Google Shape;138;p27"/>
          <p:cNvSpPr txBox="1">
            <a:spLocks noGrp="1"/>
          </p:cNvSpPr>
          <p:nvPr>
            <p:ph type="body" idx="1"/>
          </p:nvPr>
        </p:nvSpPr>
        <p:spPr>
          <a:xfrm>
            <a:off x="311700" y="1152475"/>
            <a:ext cx="8520600" cy="37452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600">
                <a:solidFill>
                  <a:schemeClr val="dk1"/>
                </a:solidFill>
                <a:latin typeface="Calibri"/>
                <a:ea typeface="Calibri"/>
                <a:cs typeface="Calibri"/>
                <a:sym typeface="Calibri"/>
              </a:rPr>
              <a:t>Modus ponens (mode that affirms): the rule of logic stating that if a conditional statement (“if p then q ”) is accepted, and the antecedent ( p ) holds, then the consequent ( q ) may be inferred.  </a:t>
            </a:r>
            <a:endParaRPr sz="1600">
              <a:solidFill>
                <a:schemeClr val="dk1"/>
              </a:solidFill>
              <a:latin typeface="Calibri"/>
              <a:ea typeface="Calibri"/>
              <a:cs typeface="Calibri"/>
              <a:sym typeface="Calibri"/>
            </a:endParaRPr>
          </a:p>
          <a:p>
            <a:pPr marL="457200" lvl="0" indent="-330200" algn="l" rtl="0">
              <a:lnSpc>
                <a:spcPct val="100000"/>
              </a:lnSpc>
              <a:spcBef>
                <a:spcPts val="0"/>
              </a:spcBef>
              <a:spcAft>
                <a:spcPts val="0"/>
              </a:spcAft>
              <a:buClr>
                <a:schemeClr val="dk1"/>
              </a:buClr>
              <a:buSzPts val="1600"/>
              <a:buFont typeface="Noto Sans Symbols"/>
              <a:buChar char="●"/>
            </a:pPr>
            <a:r>
              <a:rPr lang="en" sz="1600">
                <a:solidFill>
                  <a:schemeClr val="dk1"/>
                </a:solidFill>
                <a:latin typeface="Calibri"/>
                <a:ea typeface="Calibri"/>
                <a:cs typeface="Calibri"/>
                <a:sym typeface="Calibri"/>
              </a:rPr>
              <a:t>Ex: If Socrates is a man then Socrates is mortal. Socrates is a man.</a:t>
            </a:r>
            <a:r>
              <a:rPr lang="en" sz="1600">
                <a:solidFill>
                  <a:schemeClr val="dk1"/>
                </a:solidFill>
                <a:latin typeface="MS Mincho"/>
                <a:ea typeface="MS Mincho"/>
                <a:cs typeface="MS Mincho"/>
                <a:sym typeface="MS Mincho"/>
              </a:rPr>
              <a:t> </a:t>
            </a:r>
            <a:r>
              <a:rPr lang="en" sz="1600">
                <a:solidFill>
                  <a:schemeClr val="dk1"/>
                </a:solidFill>
                <a:latin typeface="Calibri"/>
                <a:ea typeface="Calibri"/>
                <a:cs typeface="Calibri"/>
                <a:sym typeface="Calibri"/>
              </a:rPr>
              <a:t>Therefore, Socrates is mortal.</a:t>
            </a:r>
            <a:endParaRPr sz="1600">
              <a:solidFill>
                <a:schemeClr val="dk1"/>
              </a:solidFill>
              <a:latin typeface="Calibri"/>
              <a:ea typeface="Calibri"/>
              <a:cs typeface="Calibri"/>
              <a:sym typeface="Calibri"/>
            </a:endParaRPr>
          </a:p>
          <a:p>
            <a:pPr marL="457200" lvl="0" indent="-330200" algn="l" rtl="0">
              <a:lnSpc>
                <a:spcPct val="100000"/>
              </a:lnSpc>
              <a:spcBef>
                <a:spcPts val="0"/>
              </a:spcBef>
              <a:spcAft>
                <a:spcPts val="0"/>
              </a:spcAft>
              <a:buClr>
                <a:schemeClr val="dk1"/>
              </a:buClr>
              <a:buSzPts val="1600"/>
              <a:buFont typeface="Noto Sans Symbols"/>
              <a:buChar char="●"/>
            </a:pPr>
            <a:r>
              <a:rPr lang="en" sz="1600">
                <a:solidFill>
                  <a:schemeClr val="dk1"/>
                </a:solidFill>
                <a:latin typeface="Calibri"/>
                <a:ea typeface="Calibri"/>
                <a:cs typeface="Calibri"/>
                <a:sym typeface="Calibri"/>
              </a:rPr>
              <a:t>At one point, most research progressed in this way… and most people think that it does today.</a:t>
            </a:r>
            <a:endParaRPr sz="1600">
              <a:solidFill>
                <a:schemeClr val="dk1"/>
              </a:solidFill>
              <a:latin typeface="Calibri"/>
              <a:ea typeface="Calibri"/>
              <a:cs typeface="Calibri"/>
              <a:sym typeface="Calibri"/>
            </a:endParaRPr>
          </a:p>
          <a:p>
            <a:pPr marL="0" lvl="0" indent="0" algn="l" rtl="0">
              <a:lnSpc>
                <a:spcPct val="100000"/>
              </a:lnSpc>
              <a:spcBef>
                <a:spcPts val="0"/>
              </a:spcBef>
              <a:spcAft>
                <a:spcPts val="0"/>
              </a:spcAft>
              <a:buNone/>
            </a:pPr>
            <a:endParaRPr sz="1600">
              <a:solidFill>
                <a:schemeClr val="dk1"/>
              </a:solidFill>
              <a:latin typeface="Calibri"/>
              <a:ea typeface="Calibri"/>
              <a:cs typeface="Calibri"/>
              <a:sym typeface="Calibri"/>
            </a:endParaRPr>
          </a:p>
          <a:p>
            <a:pPr marL="0" lvl="0" indent="0" algn="l" rtl="0">
              <a:lnSpc>
                <a:spcPct val="100000"/>
              </a:lnSpc>
              <a:spcBef>
                <a:spcPts val="0"/>
              </a:spcBef>
              <a:spcAft>
                <a:spcPts val="0"/>
              </a:spcAft>
              <a:buNone/>
            </a:pPr>
            <a:r>
              <a:rPr lang="en" sz="1600">
                <a:solidFill>
                  <a:schemeClr val="dk1"/>
                </a:solidFill>
                <a:latin typeface="Calibri"/>
                <a:ea typeface="Calibri"/>
                <a:cs typeface="Calibri"/>
                <a:sym typeface="Calibri"/>
              </a:rPr>
              <a:t>Modus tollens (mode that denies): if p then q.  The consequent (q) does not hold, therefore the antecedent (p) must not be true.  </a:t>
            </a:r>
            <a:endParaRPr sz="1600">
              <a:solidFill>
                <a:schemeClr val="dk1"/>
              </a:solidFill>
              <a:latin typeface="Calibri"/>
              <a:ea typeface="Calibri"/>
              <a:cs typeface="Calibri"/>
              <a:sym typeface="Calibri"/>
            </a:endParaRPr>
          </a:p>
          <a:p>
            <a:pPr marL="457200" lvl="0" indent="-330200" algn="l" rtl="0">
              <a:lnSpc>
                <a:spcPct val="100000"/>
              </a:lnSpc>
              <a:spcBef>
                <a:spcPts val="0"/>
              </a:spcBef>
              <a:spcAft>
                <a:spcPts val="0"/>
              </a:spcAft>
              <a:buClr>
                <a:schemeClr val="dk1"/>
              </a:buClr>
              <a:buSzPts val="1600"/>
              <a:buFont typeface="Noto Sans Symbols"/>
              <a:buChar char="●"/>
            </a:pPr>
            <a:r>
              <a:rPr lang="en" sz="1600">
                <a:solidFill>
                  <a:schemeClr val="dk1"/>
                </a:solidFill>
                <a:latin typeface="Calibri"/>
                <a:ea typeface="Calibri"/>
                <a:cs typeface="Calibri"/>
                <a:sym typeface="Calibri"/>
              </a:rPr>
              <a:t>If Socrates is a god, then Socrates is immortal. Socrates is not immortal.</a:t>
            </a:r>
            <a:r>
              <a:rPr lang="en" sz="1600">
                <a:solidFill>
                  <a:schemeClr val="dk1"/>
                </a:solidFill>
                <a:latin typeface="MS Mincho"/>
                <a:ea typeface="MS Mincho"/>
                <a:cs typeface="MS Mincho"/>
                <a:sym typeface="MS Mincho"/>
              </a:rPr>
              <a:t> </a:t>
            </a:r>
            <a:r>
              <a:rPr lang="en" sz="1600">
                <a:solidFill>
                  <a:schemeClr val="dk1"/>
                </a:solidFill>
                <a:latin typeface="Calibri"/>
                <a:ea typeface="Calibri"/>
                <a:cs typeface="Calibri"/>
                <a:sym typeface="Calibri"/>
              </a:rPr>
              <a:t>Therefore, Socrates is not a god. </a:t>
            </a:r>
            <a:endParaRPr sz="1600">
              <a:solidFill>
                <a:schemeClr val="dk1"/>
              </a:solidFill>
              <a:latin typeface="Calibri"/>
              <a:ea typeface="Calibri"/>
              <a:cs typeface="Calibri"/>
              <a:sym typeface="Calibri"/>
            </a:endParaRPr>
          </a:p>
          <a:p>
            <a:pPr marL="457200" lvl="0" indent="-330200" algn="l" rtl="0">
              <a:lnSpc>
                <a:spcPct val="100000"/>
              </a:lnSpc>
              <a:spcBef>
                <a:spcPts val="0"/>
              </a:spcBef>
              <a:spcAft>
                <a:spcPts val="0"/>
              </a:spcAft>
              <a:buClr>
                <a:schemeClr val="dk1"/>
              </a:buClr>
              <a:buSzPts val="1600"/>
              <a:buFont typeface="Noto Sans Symbols"/>
              <a:buChar char="●"/>
            </a:pPr>
            <a:r>
              <a:rPr lang="en" sz="1600">
                <a:solidFill>
                  <a:schemeClr val="dk1"/>
                </a:solidFill>
                <a:latin typeface="Calibri"/>
                <a:ea typeface="Calibri"/>
                <a:cs typeface="Calibri"/>
                <a:sym typeface="Calibri"/>
              </a:rPr>
              <a:t>Popper’s philosophy proposes that we use modus tollens to carve away at untruths to hopefully leave truth remaining.</a:t>
            </a:r>
            <a:endParaRPr sz="1600">
              <a:solidFill>
                <a:schemeClr val="dk1"/>
              </a:solidFill>
              <a:latin typeface="Calibri"/>
              <a:ea typeface="Calibri"/>
              <a:cs typeface="Calibri"/>
              <a:sym typeface="Calibri"/>
            </a:endParaRPr>
          </a:p>
          <a:p>
            <a:pPr marL="0" lvl="0" indent="0" algn="l" rtl="0">
              <a:spcBef>
                <a:spcPts val="0"/>
              </a:spcBef>
              <a:spcAft>
                <a:spcPts val="1600"/>
              </a:spcAft>
              <a:buNone/>
            </a:pPr>
            <a:endParaRPr sz="2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8">
                                            <p:txEl>
                                              <p:pRg st="0" end="0"/>
                                            </p:txEl>
                                          </p:spTgt>
                                        </p:tgtEl>
                                        <p:attrNameLst>
                                          <p:attrName>style.visibility</p:attrName>
                                        </p:attrNameLst>
                                      </p:cBhvr>
                                      <p:to>
                                        <p:strVal val="visible"/>
                                      </p:to>
                                    </p:set>
                                    <p:animEffect transition="in" filter="fade">
                                      <p:cBhvr>
                                        <p:cTn id="7" dur="1"/>
                                        <p:tgtEl>
                                          <p:spTgt spid="13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8">
                                            <p:txEl>
                                              <p:pRg st="1" end="1"/>
                                            </p:txEl>
                                          </p:spTgt>
                                        </p:tgtEl>
                                        <p:attrNameLst>
                                          <p:attrName>style.visibility</p:attrName>
                                        </p:attrNameLst>
                                      </p:cBhvr>
                                      <p:to>
                                        <p:strVal val="visible"/>
                                      </p:to>
                                    </p:set>
                                    <p:animEffect transition="in" filter="fade">
                                      <p:cBhvr>
                                        <p:cTn id="12" dur="1"/>
                                        <p:tgtEl>
                                          <p:spTgt spid="13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8">
                                            <p:txEl>
                                              <p:pRg st="2" end="2"/>
                                            </p:txEl>
                                          </p:spTgt>
                                        </p:tgtEl>
                                        <p:attrNameLst>
                                          <p:attrName>style.visibility</p:attrName>
                                        </p:attrNameLst>
                                      </p:cBhvr>
                                      <p:to>
                                        <p:strVal val="visible"/>
                                      </p:to>
                                    </p:set>
                                    <p:animEffect transition="in" filter="fade">
                                      <p:cBhvr>
                                        <p:cTn id="17" dur="1"/>
                                        <p:tgtEl>
                                          <p:spTgt spid="13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38">
                                            <p:txEl>
                                              <p:pRg st="3" end="3"/>
                                            </p:txEl>
                                          </p:spTgt>
                                        </p:tgtEl>
                                        <p:attrNameLst>
                                          <p:attrName>style.visibility</p:attrName>
                                        </p:attrNameLst>
                                      </p:cBhvr>
                                      <p:to>
                                        <p:strVal val="visible"/>
                                      </p:to>
                                    </p:set>
                                    <p:animEffect transition="in" filter="fade">
                                      <p:cBhvr>
                                        <p:cTn id="22" dur="1"/>
                                        <p:tgtEl>
                                          <p:spTgt spid="13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38">
                                            <p:txEl>
                                              <p:pRg st="4" end="4"/>
                                            </p:txEl>
                                          </p:spTgt>
                                        </p:tgtEl>
                                        <p:attrNameLst>
                                          <p:attrName>style.visibility</p:attrName>
                                        </p:attrNameLst>
                                      </p:cBhvr>
                                      <p:to>
                                        <p:strVal val="visible"/>
                                      </p:to>
                                    </p:set>
                                    <p:animEffect transition="in" filter="fade">
                                      <p:cBhvr>
                                        <p:cTn id="27" dur="1"/>
                                        <p:tgtEl>
                                          <p:spTgt spid="138">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38">
                                            <p:txEl>
                                              <p:pRg st="5" end="5"/>
                                            </p:txEl>
                                          </p:spTgt>
                                        </p:tgtEl>
                                        <p:attrNameLst>
                                          <p:attrName>style.visibility</p:attrName>
                                        </p:attrNameLst>
                                      </p:cBhvr>
                                      <p:to>
                                        <p:strVal val="visible"/>
                                      </p:to>
                                    </p:set>
                                    <p:animEffect transition="in" filter="fade">
                                      <p:cBhvr>
                                        <p:cTn id="32" dur="1"/>
                                        <p:tgtEl>
                                          <p:spTgt spid="138">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38">
                                            <p:txEl>
                                              <p:pRg st="6" end="6"/>
                                            </p:txEl>
                                          </p:spTgt>
                                        </p:tgtEl>
                                        <p:attrNameLst>
                                          <p:attrName>style.visibility</p:attrName>
                                        </p:attrNameLst>
                                      </p:cBhvr>
                                      <p:to>
                                        <p:strVal val="visible"/>
                                      </p:to>
                                    </p:set>
                                    <p:animEffect transition="in" filter="fade">
                                      <p:cBhvr>
                                        <p:cTn id="37" dur="1"/>
                                        <p:tgtEl>
                                          <p:spTgt spid="138">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38">
                                            <p:txEl>
                                              <p:pRg st="7" end="7"/>
                                            </p:txEl>
                                          </p:spTgt>
                                        </p:tgtEl>
                                        <p:attrNameLst>
                                          <p:attrName>style.visibility</p:attrName>
                                        </p:attrNameLst>
                                      </p:cBhvr>
                                      <p:to>
                                        <p:strVal val="visible"/>
                                      </p:to>
                                    </p:set>
                                    <p:animEffect transition="in" filter="fade">
                                      <p:cBhvr>
                                        <p:cTn id="42" dur="1"/>
                                        <p:tgtEl>
                                          <p:spTgt spid="138">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2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Examples: valid or invalid logic?</a:t>
            </a:r>
            <a:endParaRPr dirty="0"/>
          </a:p>
        </p:txBody>
      </p:sp>
      <p:sp>
        <p:nvSpPr>
          <p:cNvPr id="144" name="Google Shape;144;p28"/>
          <p:cNvSpPr txBox="1">
            <a:spLocks noGrp="1"/>
          </p:cNvSpPr>
          <p:nvPr>
            <p:ph type="body" idx="1"/>
          </p:nvPr>
        </p:nvSpPr>
        <p:spPr>
          <a:xfrm>
            <a:off x="311700" y="1152475"/>
            <a:ext cx="8520600" cy="37452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None/>
            </a:pPr>
            <a:r>
              <a:rPr lang="en" sz="1200" dirty="0">
                <a:solidFill>
                  <a:schemeClr val="dk1"/>
                </a:solidFill>
                <a:latin typeface="Calibri"/>
                <a:ea typeface="Calibri"/>
                <a:cs typeface="Calibri"/>
                <a:sym typeface="Calibri"/>
              </a:rPr>
              <a:t>If Jane has a cat, then Jane has a pet.</a:t>
            </a:r>
            <a:br>
              <a:rPr lang="en" sz="1200" dirty="0">
                <a:solidFill>
                  <a:schemeClr val="dk1"/>
                </a:solidFill>
                <a:latin typeface="Calibri"/>
                <a:ea typeface="Calibri"/>
                <a:cs typeface="Calibri"/>
                <a:sym typeface="Calibri"/>
              </a:rPr>
            </a:br>
            <a:r>
              <a:rPr lang="en" sz="1200" dirty="0">
                <a:solidFill>
                  <a:schemeClr val="dk1"/>
                </a:solidFill>
                <a:latin typeface="Calibri"/>
                <a:ea typeface="Calibri"/>
                <a:cs typeface="Calibri"/>
                <a:sym typeface="Calibri"/>
              </a:rPr>
              <a:t>Jane has a cat.</a:t>
            </a:r>
            <a:br>
              <a:rPr lang="en" sz="1200" dirty="0">
                <a:solidFill>
                  <a:schemeClr val="dk1"/>
                </a:solidFill>
                <a:latin typeface="Calibri"/>
                <a:ea typeface="Calibri"/>
                <a:cs typeface="Calibri"/>
                <a:sym typeface="Calibri"/>
              </a:rPr>
            </a:br>
            <a:r>
              <a:rPr lang="en" sz="1200" dirty="0">
                <a:solidFill>
                  <a:schemeClr val="dk1"/>
                </a:solidFill>
                <a:latin typeface="Calibri"/>
                <a:ea typeface="Calibri"/>
                <a:cs typeface="Calibri"/>
                <a:sym typeface="Calibri"/>
              </a:rPr>
              <a:t>Therefore, Jane has a pet.</a:t>
            </a:r>
            <a:endParaRPr sz="1200" dirty="0">
              <a:solidFill>
                <a:schemeClr val="dk1"/>
              </a:solidFill>
              <a:latin typeface="Calibri"/>
              <a:ea typeface="Calibri"/>
              <a:cs typeface="Calibri"/>
              <a:sym typeface="Calibri"/>
            </a:endParaRPr>
          </a:p>
          <a:p>
            <a:pPr marL="228600" lvl="0" indent="-228600" algn="l" rtl="0">
              <a:lnSpc>
                <a:spcPct val="100000"/>
              </a:lnSpc>
              <a:spcBef>
                <a:spcPts val="0"/>
              </a:spcBef>
              <a:spcAft>
                <a:spcPts val="0"/>
              </a:spcAft>
              <a:buClr>
                <a:schemeClr val="dk1"/>
              </a:buClr>
              <a:buSzPts val="1100"/>
              <a:buFont typeface="Arial"/>
              <a:buNone/>
            </a:pPr>
            <a:endParaRPr sz="1200" dirty="0">
              <a:solidFill>
                <a:schemeClr val="dk1"/>
              </a:solidFill>
              <a:latin typeface="Calibri"/>
              <a:ea typeface="Calibri"/>
              <a:cs typeface="Calibri"/>
              <a:sym typeface="Calibri"/>
            </a:endParaRPr>
          </a:p>
          <a:p>
            <a:pPr marL="0" lvl="0" indent="0" algn="l" rtl="0">
              <a:lnSpc>
                <a:spcPct val="100000"/>
              </a:lnSpc>
              <a:spcBef>
                <a:spcPts val="0"/>
              </a:spcBef>
              <a:spcAft>
                <a:spcPts val="0"/>
              </a:spcAft>
              <a:buClr>
                <a:schemeClr val="dk1"/>
              </a:buClr>
              <a:buSzPts val="1200"/>
              <a:buNone/>
            </a:pPr>
            <a:r>
              <a:rPr lang="en" sz="1200" dirty="0">
                <a:solidFill>
                  <a:schemeClr val="dk1"/>
                </a:solidFill>
                <a:latin typeface="Calibri"/>
                <a:ea typeface="Calibri"/>
                <a:cs typeface="Calibri"/>
                <a:sym typeface="Calibri"/>
              </a:rPr>
              <a:t>If Jane has a cat, then Jane has a pet.</a:t>
            </a:r>
            <a:br>
              <a:rPr lang="en" sz="1200" dirty="0">
                <a:solidFill>
                  <a:schemeClr val="dk1"/>
                </a:solidFill>
                <a:latin typeface="Calibri"/>
                <a:ea typeface="Calibri"/>
                <a:cs typeface="Calibri"/>
                <a:sym typeface="Calibri"/>
              </a:rPr>
            </a:br>
            <a:r>
              <a:rPr lang="en" sz="1200" dirty="0">
                <a:solidFill>
                  <a:schemeClr val="dk1"/>
                </a:solidFill>
                <a:latin typeface="Calibri"/>
                <a:ea typeface="Calibri"/>
                <a:cs typeface="Calibri"/>
                <a:sym typeface="Calibri"/>
              </a:rPr>
              <a:t>Jane does not have a cat.</a:t>
            </a:r>
            <a:br>
              <a:rPr lang="en" sz="1200" dirty="0">
                <a:solidFill>
                  <a:schemeClr val="dk1"/>
                </a:solidFill>
                <a:latin typeface="Calibri"/>
                <a:ea typeface="Calibri"/>
                <a:cs typeface="Calibri"/>
                <a:sym typeface="Calibri"/>
              </a:rPr>
            </a:br>
            <a:r>
              <a:rPr lang="en" sz="1200" dirty="0">
                <a:solidFill>
                  <a:schemeClr val="dk1"/>
                </a:solidFill>
                <a:latin typeface="Calibri"/>
                <a:ea typeface="Calibri"/>
                <a:cs typeface="Calibri"/>
                <a:sym typeface="Calibri"/>
              </a:rPr>
              <a:t>Therefore, Jane does not have a pet.</a:t>
            </a:r>
            <a:endParaRPr sz="1200" dirty="0">
              <a:solidFill>
                <a:schemeClr val="dk1"/>
              </a:solidFill>
              <a:latin typeface="Calibri"/>
              <a:ea typeface="Calibri"/>
              <a:cs typeface="Calibri"/>
              <a:sym typeface="Calibri"/>
            </a:endParaRPr>
          </a:p>
          <a:p>
            <a:pPr marL="228600" lvl="0" indent="-228600" algn="l" rtl="0">
              <a:lnSpc>
                <a:spcPct val="100000"/>
              </a:lnSpc>
              <a:spcBef>
                <a:spcPts val="0"/>
              </a:spcBef>
              <a:spcAft>
                <a:spcPts val="0"/>
              </a:spcAft>
              <a:buClr>
                <a:schemeClr val="dk1"/>
              </a:buClr>
              <a:buSzPts val="1100"/>
              <a:buFont typeface="Arial"/>
              <a:buNone/>
            </a:pPr>
            <a:endParaRPr sz="1200" dirty="0">
              <a:solidFill>
                <a:schemeClr val="dk1"/>
              </a:solidFill>
              <a:latin typeface="Calibri"/>
              <a:ea typeface="Calibri"/>
              <a:cs typeface="Calibri"/>
              <a:sym typeface="Calibri"/>
            </a:endParaRPr>
          </a:p>
          <a:p>
            <a:pPr marL="0" lvl="0" indent="0" algn="l" rtl="0">
              <a:lnSpc>
                <a:spcPct val="100000"/>
              </a:lnSpc>
              <a:spcBef>
                <a:spcPts val="0"/>
              </a:spcBef>
              <a:spcAft>
                <a:spcPts val="0"/>
              </a:spcAft>
              <a:buClr>
                <a:schemeClr val="dk1"/>
              </a:buClr>
              <a:buSzPts val="1200"/>
              <a:buNone/>
            </a:pPr>
            <a:r>
              <a:rPr lang="en" sz="1200" dirty="0">
                <a:solidFill>
                  <a:schemeClr val="dk1"/>
                </a:solidFill>
                <a:latin typeface="Calibri"/>
                <a:ea typeface="Calibri"/>
                <a:cs typeface="Calibri"/>
                <a:sym typeface="Calibri"/>
              </a:rPr>
              <a:t>If utility is maximized subject to a budget constraint, then an individual is as happy as possible.</a:t>
            </a:r>
            <a:endParaRPr sz="1200" dirty="0">
              <a:solidFill>
                <a:schemeClr val="dk1"/>
              </a:solidFill>
              <a:latin typeface="Calibri"/>
              <a:ea typeface="Calibri"/>
              <a:cs typeface="Calibri"/>
              <a:sym typeface="Calibri"/>
            </a:endParaRPr>
          </a:p>
          <a:p>
            <a:pPr marL="228600" lvl="0" indent="-228600" algn="l" rtl="0">
              <a:lnSpc>
                <a:spcPct val="100000"/>
              </a:lnSpc>
              <a:spcBef>
                <a:spcPts val="0"/>
              </a:spcBef>
              <a:spcAft>
                <a:spcPts val="0"/>
              </a:spcAft>
              <a:buClr>
                <a:schemeClr val="dk1"/>
              </a:buClr>
              <a:buSzPts val="1100"/>
              <a:buFont typeface="Arial"/>
              <a:buNone/>
            </a:pPr>
            <a:r>
              <a:rPr lang="en" sz="1200" dirty="0">
                <a:solidFill>
                  <a:schemeClr val="dk1"/>
                </a:solidFill>
                <a:latin typeface="Calibri"/>
                <a:ea typeface="Calibri"/>
                <a:cs typeface="Calibri"/>
                <a:sym typeface="Calibri"/>
              </a:rPr>
              <a:t>An individual is as happy as possible.</a:t>
            </a:r>
            <a:endParaRPr sz="1200" dirty="0">
              <a:solidFill>
                <a:schemeClr val="dk1"/>
              </a:solidFill>
              <a:latin typeface="Calibri"/>
              <a:ea typeface="Calibri"/>
              <a:cs typeface="Calibri"/>
              <a:sym typeface="Calibri"/>
            </a:endParaRPr>
          </a:p>
          <a:p>
            <a:pPr marL="228600" lvl="0" indent="-228600" algn="l" rtl="0">
              <a:lnSpc>
                <a:spcPct val="100000"/>
              </a:lnSpc>
              <a:spcBef>
                <a:spcPts val="0"/>
              </a:spcBef>
              <a:spcAft>
                <a:spcPts val="0"/>
              </a:spcAft>
              <a:buClr>
                <a:schemeClr val="dk1"/>
              </a:buClr>
              <a:buSzPts val="1100"/>
              <a:buFont typeface="Arial"/>
              <a:buNone/>
            </a:pPr>
            <a:r>
              <a:rPr lang="en" sz="1200" dirty="0">
                <a:solidFill>
                  <a:schemeClr val="dk1"/>
                </a:solidFill>
                <a:latin typeface="Calibri"/>
                <a:ea typeface="Calibri"/>
                <a:cs typeface="Calibri"/>
                <a:sym typeface="Calibri"/>
              </a:rPr>
              <a:t>Therefore, utility must be maximized subject to a budget constraint.</a:t>
            </a:r>
            <a:endParaRPr sz="1200" dirty="0">
              <a:solidFill>
                <a:schemeClr val="dk1"/>
              </a:solidFill>
              <a:latin typeface="Calibri"/>
              <a:ea typeface="Calibri"/>
              <a:cs typeface="Calibri"/>
              <a:sym typeface="Calibri"/>
            </a:endParaRPr>
          </a:p>
          <a:p>
            <a:pPr marL="228600" lvl="0" indent="-228600" algn="l" rtl="0">
              <a:lnSpc>
                <a:spcPct val="100000"/>
              </a:lnSpc>
              <a:spcBef>
                <a:spcPts val="0"/>
              </a:spcBef>
              <a:spcAft>
                <a:spcPts val="0"/>
              </a:spcAft>
              <a:buClr>
                <a:schemeClr val="dk1"/>
              </a:buClr>
              <a:buSzPts val="1100"/>
              <a:buFont typeface="Arial"/>
              <a:buNone/>
            </a:pPr>
            <a:endParaRPr sz="1200" dirty="0">
              <a:solidFill>
                <a:schemeClr val="dk1"/>
              </a:solidFill>
              <a:latin typeface="Calibri"/>
              <a:ea typeface="Calibri"/>
              <a:cs typeface="Calibri"/>
              <a:sym typeface="Calibri"/>
            </a:endParaRPr>
          </a:p>
          <a:p>
            <a:pPr marL="0" lvl="0" indent="0" algn="l" rtl="0">
              <a:lnSpc>
                <a:spcPct val="100000"/>
              </a:lnSpc>
              <a:spcBef>
                <a:spcPts val="0"/>
              </a:spcBef>
              <a:spcAft>
                <a:spcPts val="0"/>
              </a:spcAft>
              <a:buClr>
                <a:schemeClr val="dk1"/>
              </a:buClr>
              <a:buSzPts val="1200"/>
              <a:buNone/>
            </a:pPr>
            <a:r>
              <a:rPr lang="en" sz="1200" dirty="0">
                <a:solidFill>
                  <a:schemeClr val="dk1"/>
                </a:solidFill>
                <a:latin typeface="Calibri"/>
                <a:ea typeface="Calibri"/>
                <a:cs typeface="Calibri"/>
                <a:sym typeface="Calibri"/>
              </a:rPr>
              <a:t>If price equates supply and demand, the market is efficient.</a:t>
            </a:r>
            <a:endParaRPr sz="1200" dirty="0">
              <a:solidFill>
                <a:schemeClr val="dk1"/>
              </a:solidFill>
              <a:latin typeface="Calibri"/>
              <a:ea typeface="Calibri"/>
              <a:cs typeface="Calibri"/>
              <a:sym typeface="Calibri"/>
            </a:endParaRPr>
          </a:p>
          <a:p>
            <a:pPr marL="228600" lvl="0" indent="-228600" algn="l" rtl="0">
              <a:lnSpc>
                <a:spcPct val="100000"/>
              </a:lnSpc>
              <a:spcBef>
                <a:spcPts val="0"/>
              </a:spcBef>
              <a:spcAft>
                <a:spcPts val="0"/>
              </a:spcAft>
              <a:buClr>
                <a:schemeClr val="dk1"/>
              </a:buClr>
              <a:buSzPts val="1100"/>
              <a:buFont typeface="Arial"/>
              <a:buNone/>
            </a:pPr>
            <a:r>
              <a:rPr lang="en" sz="1200" dirty="0">
                <a:solidFill>
                  <a:schemeClr val="dk1"/>
                </a:solidFill>
                <a:latin typeface="Calibri"/>
                <a:ea typeface="Calibri"/>
                <a:cs typeface="Calibri"/>
                <a:sym typeface="Calibri"/>
              </a:rPr>
              <a:t>The market is not efficient.</a:t>
            </a:r>
            <a:endParaRPr sz="1200" dirty="0">
              <a:solidFill>
                <a:schemeClr val="dk1"/>
              </a:solidFill>
              <a:latin typeface="Calibri"/>
              <a:ea typeface="Calibri"/>
              <a:cs typeface="Calibri"/>
              <a:sym typeface="Calibri"/>
            </a:endParaRPr>
          </a:p>
          <a:p>
            <a:pPr marL="228600" lvl="0" indent="-228600" algn="l" rtl="0">
              <a:lnSpc>
                <a:spcPct val="100000"/>
              </a:lnSpc>
              <a:spcBef>
                <a:spcPts val="0"/>
              </a:spcBef>
              <a:spcAft>
                <a:spcPts val="0"/>
              </a:spcAft>
              <a:buClr>
                <a:schemeClr val="dk1"/>
              </a:buClr>
              <a:buSzPts val="1100"/>
              <a:buFont typeface="Arial"/>
              <a:buNone/>
            </a:pPr>
            <a:r>
              <a:rPr lang="en" sz="1200" dirty="0">
                <a:solidFill>
                  <a:schemeClr val="dk1"/>
                </a:solidFill>
                <a:latin typeface="Calibri"/>
                <a:ea typeface="Calibri"/>
                <a:cs typeface="Calibri"/>
                <a:sym typeface="Calibri"/>
              </a:rPr>
              <a:t>Therefore, price does not equate supply and demand.</a:t>
            </a:r>
            <a:endParaRPr sz="1200" dirty="0">
              <a:solidFill>
                <a:schemeClr val="dk1"/>
              </a:solidFill>
              <a:latin typeface="Calibri"/>
              <a:ea typeface="Calibri"/>
              <a:cs typeface="Calibri"/>
              <a:sym typeface="Calibri"/>
            </a:endParaRPr>
          </a:p>
          <a:p>
            <a:pPr marL="228600" lvl="0" indent="-228600" algn="l" rtl="0">
              <a:lnSpc>
                <a:spcPct val="100000"/>
              </a:lnSpc>
              <a:spcBef>
                <a:spcPts val="0"/>
              </a:spcBef>
              <a:spcAft>
                <a:spcPts val="0"/>
              </a:spcAft>
              <a:buClr>
                <a:schemeClr val="dk1"/>
              </a:buClr>
              <a:buSzPts val="1100"/>
              <a:buFont typeface="Arial"/>
              <a:buNone/>
            </a:pPr>
            <a:endParaRPr sz="1200" dirty="0">
              <a:solidFill>
                <a:schemeClr val="dk1"/>
              </a:solidFill>
              <a:latin typeface="Calibri"/>
              <a:ea typeface="Calibri"/>
              <a:cs typeface="Calibri"/>
              <a:sym typeface="Calibri"/>
            </a:endParaRPr>
          </a:p>
          <a:p>
            <a:pPr marL="0" lvl="0" indent="0" algn="l" rtl="0">
              <a:lnSpc>
                <a:spcPct val="100000"/>
              </a:lnSpc>
              <a:spcBef>
                <a:spcPts val="0"/>
              </a:spcBef>
              <a:spcAft>
                <a:spcPts val="0"/>
              </a:spcAft>
              <a:buClr>
                <a:schemeClr val="dk1"/>
              </a:buClr>
              <a:buSzPts val="1200"/>
              <a:buNone/>
            </a:pPr>
            <a:r>
              <a:rPr lang="en" sz="1200" dirty="0">
                <a:solidFill>
                  <a:schemeClr val="dk1"/>
                </a:solidFill>
                <a:latin typeface="Calibri"/>
                <a:ea typeface="Calibri"/>
                <a:cs typeface="Calibri"/>
                <a:sym typeface="Calibri"/>
              </a:rPr>
              <a:t>If a market exists for a private good with complete information, the equilibrium is efficient.</a:t>
            </a:r>
            <a:endParaRPr sz="1200" dirty="0">
              <a:solidFill>
                <a:schemeClr val="dk1"/>
              </a:solidFill>
              <a:latin typeface="Calibri"/>
              <a:ea typeface="Calibri"/>
              <a:cs typeface="Calibri"/>
              <a:sym typeface="Calibri"/>
            </a:endParaRPr>
          </a:p>
          <a:p>
            <a:pPr marL="228600" lvl="0" indent="-228600" algn="l" rtl="0">
              <a:lnSpc>
                <a:spcPct val="100000"/>
              </a:lnSpc>
              <a:spcBef>
                <a:spcPts val="0"/>
              </a:spcBef>
              <a:spcAft>
                <a:spcPts val="0"/>
              </a:spcAft>
              <a:buClr>
                <a:schemeClr val="dk1"/>
              </a:buClr>
              <a:buSzPts val="1100"/>
              <a:buFont typeface="Arial"/>
              <a:buNone/>
            </a:pPr>
            <a:r>
              <a:rPr lang="en" sz="1200" dirty="0">
                <a:solidFill>
                  <a:schemeClr val="dk1"/>
                </a:solidFill>
                <a:latin typeface="Calibri"/>
                <a:ea typeface="Calibri"/>
                <a:cs typeface="Calibri"/>
                <a:sym typeface="Calibri"/>
              </a:rPr>
              <a:t>A market exists for a good with complete information.</a:t>
            </a:r>
            <a:endParaRPr sz="1200" dirty="0">
              <a:solidFill>
                <a:schemeClr val="dk1"/>
              </a:solidFill>
              <a:latin typeface="Calibri"/>
              <a:ea typeface="Calibri"/>
              <a:cs typeface="Calibri"/>
              <a:sym typeface="Calibri"/>
            </a:endParaRPr>
          </a:p>
          <a:p>
            <a:pPr marL="228600" lvl="0" indent="-228600" algn="l" rtl="0">
              <a:lnSpc>
                <a:spcPct val="100000"/>
              </a:lnSpc>
              <a:spcBef>
                <a:spcPts val="0"/>
              </a:spcBef>
              <a:spcAft>
                <a:spcPts val="0"/>
              </a:spcAft>
              <a:buNone/>
            </a:pPr>
            <a:r>
              <a:rPr lang="en" sz="1200" dirty="0">
                <a:solidFill>
                  <a:schemeClr val="dk1"/>
                </a:solidFill>
                <a:latin typeface="Calibri"/>
                <a:ea typeface="Calibri"/>
                <a:cs typeface="Calibri"/>
                <a:sym typeface="Calibri"/>
              </a:rPr>
              <a:t>Therefore, the equilibrium is efficient.</a:t>
            </a:r>
            <a:endParaRPr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2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Examples</a:t>
            </a:r>
            <a:endParaRPr/>
          </a:p>
        </p:txBody>
      </p:sp>
      <p:sp>
        <p:nvSpPr>
          <p:cNvPr id="150" name="Google Shape;150;p29"/>
          <p:cNvSpPr txBox="1">
            <a:spLocks noGrp="1"/>
          </p:cNvSpPr>
          <p:nvPr>
            <p:ph type="body" idx="1"/>
          </p:nvPr>
        </p:nvSpPr>
        <p:spPr>
          <a:xfrm>
            <a:off x="311700" y="1152475"/>
            <a:ext cx="8520600" cy="37452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None/>
            </a:pPr>
            <a:r>
              <a:rPr lang="en" sz="1200" dirty="0">
                <a:solidFill>
                  <a:schemeClr val="dk1"/>
                </a:solidFill>
                <a:latin typeface="Calibri"/>
                <a:ea typeface="Calibri"/>
                <a:cs typeface="Calibri"/>
                <a:sym typeface="Calibri"/>
              </a:rPr>
              <a:t>If Jane has a cat, then Jane has a pet.   </a:t>
            </a:r>
            <a:r>
              <a:rPr lang="en" sz="1200" dirty="0">
                <a:solidFill>
                  <a:schemeClr val="dk1"/>
                </a:solidFill>
                <a:highlight>
                  <a:srgbClr val="FFFF00"/>
                </a:highlight>
                <a:latin typeface="Calibri"/>
                <a:ea typeface="Calibri"/>
                <a:cs typeface="Calibri"/>
                <a:sym typeface="Calibri"/>
              </a:rPr>
              <a:t>(MP: </a:t>
            </a:r>
            <a:r>
              <a:rPr lang="en-US" sz="1200" dirty="0">
                <a:solidFill>
                  <a:schemeClr val="dk1"/>
                </a:solidFill>
                <a:highlight>
                  <a:srgbClr val="FFFF00"/>
                </a:highlight>
                <a:latin typeface="Calibri"/>
                <a:ea typeface="Calibri"/>
                <a:cs typeface="Calibri"/>
                <a:sym typeface="Calibri"/>
              </a:rPr>
              <a:t>Modus Ponens. </a:t>
            </a:r>
            <a:r>
              <a:rPr lang="en-US" sz="1200" i="1" dirty="0">
                <a:solidFill>
                  <a:schemeClr val="dk1"/>
                </a:solidFill>
                <a:highlight>
                  <a:srgbClr val="FFFF00"/>
                </a:highlight>
                <a:latin typeface="Calibri"/>
                <a:ea typeface="Calibri"/>
                <a:cs typeface="Calibri"/>
                <a:sym typeface="Calibri"/>
              </a:rPr>
              <a:t>The condition happened, so the consequence must happen.</a:t>
            </a:r>
            <a:r>
              <a:rPr lang="en-US" sz="1200" dirty="0">
                <a:solidFill>
                  <a:schemeClr val="dk1"/>
                </a:solidFill>
                <a:highlight>
                  <a:srgbClr val="FFFF00"/>
                </a:highlight>
                <a:latin typeface="Calibri"/>
                <a:ea typeface="Calibri"/>
                <a:cs typeface="Calibri"/>
                <a:sym typeface="Calibri"/>
              </a:rPr>
              <a:t>)</a:t>
            </a:r>
            <a:br>
              <a:rPr lang="en" sz="1200" dirty="0">
                <a:solidFill>
                  <a:schemeClr val="dk1"/>
                </a:solidFill>
                <a:highlight>
                  <a:srgbClr val="FFFF00"/>
                </a:highlight>
                <a:latin typeface="Calibri"/>
                <a:ea typeface="Calibri"/>
                <a:cs typeface="Calibri"/>
                <a:sym typeface="Calibri"/>
              </a:rPr>
            </a:br>
            <a:r>
              <a:rPr lang="en" sz="1200" dirty="0">
                <a:solidFill>
                  <a:schemeClr val="dk1"/>
                </a:solidFill>
                <a:latin typeface="Calibri"/>
                <a:ea typeface="Calibri"/>
                <a:cs typeface="Calibri"/>
                <a:sym typeface="Calibri"/>
              </a:rPr>
              <a:t>Jane has a cat.</a:t>
            </a:r>
            <a:br>
              <a:rPr lang="en" sz="1200" dirty="0">
                <a:solidFill>
                  <a:schemeClr val="dk1"/>
                </a:solidFill>
                <a:latin typeface="Calibri"/>
                <a:ea typeface="Calibri"/>
                <a:cs typeface="Calibri"/>
                <a:sym typeface="Calibri"/>
              </a:rPr>
            </a:br>
            <a:r>
              <a:rPr lang="en" sz="1200" dirty="0">
                <a:solidFill>
                  <a:schemeClr val="dk1"/>
                </a:solidFill>
                <a:latin typeface="Calibri"/>
                <a:ea typeface="Calibri"/>
                <a:cs typeface="Calibri"/>
                <a:sym typeface="Calibri"/>
              </a:rPr>
              <a:t>Therefore, Jane has a pet.</a:t>
            </a:r>
            <a:endParaRPr sz="1200" dirty="0">
              <a:solidFill>
                <a:schemeClr val="dk1"/>
              </a:solidFill>
              <a:latin typeface="Calibri"/>
              <a:ea typeface="Calibri"/>
              <a:cs typeface="Calibri"/>
              <a:sym typeface="Calibri"/>
            </a:endParaRPr>
          </a:p>
          <a:p>
            <a:pPr marL="228600" lvl="0" indent="-228600" algn="l" rtl="0">
              <a:lnSpc>
                <a:spcPct val="100000"/>
              </a:lnSpc>
              <a:spcBef>
                <a:spcPts val="0"/>
              </a:spcBef>
              <a:spcAft>
                <a:spcPts val="0"/>
              </a:spcAft>
              <a:buNone/>
            </a:pPr>
            <a:endParaRPr sz="1200" dirty="0">
              <a:solidFill>
                <a:schemeClr val="dk1"/>
              </a:solidFill>
              <a:latin typeface="Calibri"/>
              <a:ea typeface="Calibri"/>
              <a:cs typeface="Calibri"/>
              <a:sym typeface="Calibri"/>
            </a:endParaRPr>
          </a:p>
          <a:p>
            <a:pPr marL="0" lvl="0" indent="0">
              <a:lnSpc>
                <a:spcPct val="100000"/>
              </a:lnSpc>
              <a:buClr>
                <a:schemeClr val="dk1"/>
              </a:buClr>
              <a:buSzPts val="1200"/>
              <a:buNone/>
            </a:pPr>
            <a:r>
              <a:rPr lang="en" sz="1200" dirty="0">
                <a:solidFill>
                  <a:schemeClr val="dk1"/>
                </a:solidFill>
                <a:latin typeface="Calibri"/>
                <a:ea typeface="Calibri"/>
                <a:cs typeface="Calibri"/>
                <a:sym typeface="Calibri"/>
              </a:rPr>
              <a:t>If Jane has a cat, then Jane has a pet.   </a:t>
            </a:r>
            <a:r>
              <a:rPr lang="en" sz="1200" dirty="0">
                <a:solidFill>
                  <a:schemeClr val="dk1"/>
                </a:solidFill>
                <a:highlight>
                  <a:srgbClr val="FFFF00"/>
                </a:highlight>
                <a:latin typeface="Calibri"/>
                <a:ea typeface="Calibri"/>
                <a:cs typeface="Calibri"/>
                <a:sym typeface="Calibri"/>
              </a:rPr>
              <a:t>(</a:t>
            </a:r>
            <a:r>
              <a:rPr lang="en" sz="1200" dirty="0">
                <a:solidFill>
                  <a:schemeClr val="dk1"/>
                </a:solidFill>
                <a:highlight>
                  <a:srgbClr val="FF0000"/>
                </a:highlight>
                <a:latin typeface="Calibri"/>
                <a:ea typeface="Calibri"/>
                <a:cs typeface="Calibri"/>
                <a:sym typeface="Calibri"/>
              </a:rPr>
              <a:t>X </a:t>
            </a:r>
            <a:r>
              <a:rPr lang="en" sz="1200" dirty="0">
                <a:solidFill>
                  <a:schemeClr val="dk1"/>
                </a:solidFill>
                <a:highlight>
                  <a:srgbClr val="FFFF00"/>
                </a:highlight>
                <a:latin typeface="Calibri"/>
                <a:ea typeface="Calibri"/>
                <a:cs typeface="Calibri"/>
                <a:sym typeface="Calibri"/>
              </a:rPr>
              <a:t>DA: </a:t>
            </a:r>
            <a:r>
              <a:rPr lang="en-US" sz="1200" dirty="0">
                <a:solidFill>
                  <a:schemeClr val="dk1"/>
                </a:solidFill>
                <a:highlight>
                  <a:srgbClr val="FFFF00"/>
                </a:highlight>
                <a:latin typeface="Calibri"/>
                <a:ea typeface="Calibri"/>
                <a:cs typeface="Calibri"/>
                <a:sym typeface="Calibri"/>
              </a:rPr>
              <a:t>Denying the Antecedent. </a:t>
            </a:r>
            <a:r>
              <a:rPr lang="en-US" sz="1200" i="1" dirty="0">
                <a:solidFill>
                  <a:schemeClr val="dk1"/>
                </a:solidFill>
                <a:highlight>
                  <a:srgbClr val="FFFF00"/>
                </a:highlight>
                <a:latin typeface="Calibri"/>
                <a:ea typeface="Calibri"/>
                <a:cs typeface="Calibri"/>
                <a:sym typeface="Calibri"/>
              </a:rPr>
              <a:t>No cat -&gt; no pet doesn’t logically follow.</a:t>
            </a:r>
            <a:r>
              <a:rPr lang="en-US" sz="1200" dirty="0">
                <a:solidFill>
                  <a:schemeClr val="dk1"/>
                </a:solidFill>
                <a:highlight>
                  <a:srgbClr val="FFFF00"/>
                </a:highlight>
                <a:latin typeface="Calibri"/>
                <a:ea typeface="Calibri"/>
                <a:cs typeface="Calibri"/>
                <a:sym typeface="Calibri"/>
              </a:rPr>
              <a:t>)</a:t>
            </a:r>
            <a:br>
              <a:rPr lang="en" sz="1200" dirty="0">
                <a:solidFill>
                  <a:schemeClr val="dk1"/>
                </a:solidFill>
                <a:highlight>
                  <a:srgbClr val="FFFF00"/>
                </a:highlight>
                <a:latin typeface="Calibri"/>
                <a:ea typeface="Calibri"/>
                <a:cs typeface="Calibri"/>
                <a:sym typeface="Calibri"/>
              </a:rPr>
            </a:br>
            <a:r>
              <a:rPr lang="en" sz="1200" dirty="0">
                <a:solidFill>
                  <a:schemeClr val="dk1"/>
                </a:solidFill>
                <a:latin typeface="Calibri"/>
                <a:ea typeface="Calibri"/>
                <a:cs typeface="Calibri"/>
                <a:sym typeface="Calibri"/>
              </a:rPr>
              <a:t>Jane does not have a cat.</a:t>
            </a:r>
            <a:br>
              <a:rPr lang="en" sz="1200" dirty="0">
                <a:solidFill>
                  <a:schemeClr val="dk1"/>
                </a:solidFill>
                <a:latin typeface="Calibri"/>
                <a:ea typeface="Calibri"/>
                <a:cs typeface="Calibri"/>
                <a:sym typeface="Calibri"/>
              </a:rPr>
            </a:br>
            <a:r>
              <a:rPr lang="en" sz="1200" dirty="0">
                <a:solidFill>
                  <a:schemeClr val="dk1"/>
                </a:solidFill>
                <a:latin typeface="Calibri"/>
                <a:ea typeface="Calibri"/>
                <a:cs typeface="Calibri"/>
                <a:sym typeface="Calibri"/>
              </a:rPr>
              <a:t>Therefore, Jane does not have a pet.</a:t>
            </a:r>
            <a:endParaRPr sz="1200" dirty="0">
              <a:solidFill>
                <a:schemeClr val="dk1"/>
              </a:solidFill>
              <a:latin typeface="Calibri"/>
              <a:ea typeface="Calibri"/>
              <a:cs typeface="Calibri"/>
              <a:sym typeface="Calibri"/>
            </a:endParaRPr>
          </a:p>
          <a:p>
            <a:pPr marL="228600" lvl="0" indent="-228600" algn="l" rtl="0">
              <a:lnSpc>
                <a:spcPct val="100000"/>
              </a:lnSpc>
              <a:spcBef>
                <a:spcPts val="0"/>
              </a:spcBef>
              <a:spcAft>
                <a:spcPts val="0"/>
              </a:spcAft>
              <a:buNone/>
            </a:pPr>
            <a:endParaRPr sz="1200" dirty="0">
              <a:solidFill>
                <a:schemeClr val="dk1"/>
              </a:solidFill>
              <a:latin typeface="Calibri"/>
              <a:ea typeface="Calibri"/>
              <a:cs typeface="Calibri"/>
              <a:sym typeface="Calibri"/>
            </a:endParaRPr>
          </a:p>
          <a:p>
            <a:pPr marL="0" lvl="0" indent="0" algn="l" rtl="0">
              <a:lnSpc>
                <a:spcPct val="100000"/>
              </a:lnSpc>
              <a:spcBef>
                <a:spcPts val="0"/>
              </a:spcBef>
              <a:spcAft>
                <a:spcPts val="0"/>
              </a:spcAft>
              <a:buClr>
                <a:schemeClr val="dk1"/>
              </a:buClr>
              <a:buSzPts val="1200"/>
              <a:buNone/>
            </a:pPr>
            <a:r>
              <a:rPr lang="en" sz="1200" dirty="0">
                <a:solidFill>
                  <a:schemeClr val="dk1"/>
                </a:solidFill>
                <a:latin typeface="Calibri"/>
                <a:ea typeface="Calibri"/>
                <a:cs typeface="Calibri"/>
                <a:sym typeface="Calibri"/>
              </a:rPr>
              <a:t>If utility is maximized subject to a budget constraint, then an individual is as happy as possible.</a:t>
            </a:r>
          </a:p>
          <a:p>
            <a:pPr marL="0" lvl="0" indent="0" algn="l" rtl="0">
              <a:lnSpc>
                <a:spcPct val="100000"/>
              </a:lnSpc>
              <a:spcBef>
                <a:spcPts val="0"/>
              </a:spcBef>
              <a:spcAft>
                <a:spcPts val="0"/>
              </a:spcAft>
              <a:buClr>
                <a:schemeClr val="dk1"/>
              </a:buClr>
              <a:buSzPts val="1200"/>
              <a:buNone/>
            </a:pPr>
            <a:r>
              <a:rPr lang="en" sz="1200" dirty="0">
                <a:solidFill>
                  <a:schemeClr val="dk1"/>
                </a:solidFill>
                <a:latin typeface="Calibri"/>
                <a:ea typeface="Calibri"/>
                <a:cs typeface="Calibri"/>
                <a:sym typeface="Calibri"/>
              </a:rPr>
              <a:t>An individual is as happy as possible.</a:t>
            </a:r>
            <a:endParaRPr sz="1200" dirty="0">
              <a:solidFill>
                <a:schemeClr val="dk1"/>
              </a:solidFill>
              <a:latin typeface="Calibri"/>
              <a:ea typeface="Calibri"/>
              <a:cs typeface="Calibri"/>
              <a:sym typeface="Calibri"/>
            </a:endParaRPr>
          </a:p>
          <a:p>
            <a:pPr marL="228600" indent="-228600">
              <a:lnSpc>
                <a:spcPct val="100000"/>
              </a:lnSpc>
              <a:buNone/>
            </a:pPr>
            <a:r>
              <a:rPr lang="en" sz="1200" dirty="0">
                <a:solidFill>
                  <a:schemeClr val="dk1"/>
                </a:solidFill>
                <a:latin typeface="Calibri"/>
                <a:ea typeface="Calibri"/>
                <a:cs typeface="Calibri"/>
                <a:sym typeface="Calibri"/>
              </a:rPr>
              <a:t>Therefore, utility must be maximized subject to a budget constraint. </a:t>
            </a:r>
            <a:r>
              <a:rPr lang="en-US" sz="1200" dirty="0">
                <a:solidFill>
                  <a:schemeClr val="dk1"/>
                </a:solidFill>
                <a:highlight>
                  <a:srgbClr val="FFFF00"/>
                </a:highlight>
                <a:latin typeface="Calibri"/>
                <a:ea typeface="Calibri"/>
                <a:cs typeface="Calibri"/>
                <a:sym typeface="Calibri"/>
              </a:rPr>
              <a:t>(</a:t>
            </a:r>
            <a:r>
              <a:rPr lang="en-US" sz="1200" dirty="0">
                <a:solidFill>
                  <a:schemeClr val="dk1"/>
                </a:solidFill>
                <a:highlight>
                  <a:srgbClr val="FF0000"/>
                </a:highlight>
                <a:latin typeface="Calibri"/>
                <a:ea typeface="Calibri"/>
                <a:cs typeface="Calibri"/>
                <a:sym typeface="Calibri"/>
              </a:rPr>
              <a:t>X </a:t>
            </a:r>
            <a:r>
              <a:rPr lang="en-US" sz="1200" dirty="0">
                <a:solidFill>
                  <a:schemeClr val="dk1"/>
                </a:solidFill>
                <a:highlight>
                  <a:srgbClr val="FFFF00"/>
                </a:highlight>
                <a:latin typeface="Calibri"/>
                <a:ea typeface="Calibri"/>
                <a:cs typeface="Calibri"/>
                <a:sym typeface="Calibri"/>
              </a:rPr>
              <a:t>AC: Affirming the Consequent. Invalid reasoning)</a:t>
            </a:r>
            <a:endParaRPr sz="1200" dirty="0">
              <a:solidFill>
                <a:schemeClr val="dk1"/>
              </a:solidFill>
              <a:highlight>
                <a:srgbClr val="FFFF00"/>
              </a:highlight>
              <a:latin typeface="Calibri"/>
              <a:ea typeface="Calibri"/>
              <a:cs typeface="Calibri"/>
              <a:sym typeface="Calibri"/>
            </a:endParaRPr>
          </a:p>
          <a:p>
            <a:pPr marL="228600" lvl="0" indent="-228600" algn="l" rtl="0">
              <a:lnSpc>
                <a:spcPct val="100000"/>
              </a:lnSpc>
              <a:spcBef>
                <a:spcPts val="0"/>
              </a:spcBef>
              <a:spcAft>
                <a:spcPts val="0"/>
              </a:spcAft>
              <a:buNone/>
            </a:pPr>
            <a:endParaRPr sz="1200" dirty="0">
              <a:solidFill>
                <a:schemeClr val="dk1"/>
              </a:solidFill>
              <a:latin typeface="Calibri"/>
              <a:ea typeface="Calibri"/>
              <a:cs typeface="Calibri"/>
              <a:sym typeface="Calibri"/>
            </a:endParaRPr>
          </a:p>
          <a:p>
            <a:pPr marL="0" lvl="0" indent="0">
              <a:lnSpc>
                <a:spcPct val="100000"/>
              </a:lnSpc>
              <a:buClr>
                <a:schemeClr val="dk1"/>
              </a:buClr>
              <a:buSzPts val="1200"/>
              <a:buNone/>
            </a:pPr>
            <a:r>
              <a:rPr lang="en" sz="1200" dirty="0">
                <a:solidFill>
                  <a:schemeClr val="dk1"/>
                </a:solidFill>
                <a:latin typeface="Calibri"/>
                <a:ea typeface="Calibri"/>
                <a:cs typeface="Calibri"/>
                <a:sym typeface="Calibri"/>
              </a:rPr>
              <a:t>If price equates supply and demand, the market is efficient.   </a:t>
            </a:r>
            <a:r>
              <a:rPr lang="en" sz="1200" dirty="0">
                <a:solidFill>
                  <a:schemeClr val="dk1"/>
                </a:solidFill>
                <a:highlight>
                  <a:srgbClr val="FFFF00"/>
                </a:highlight>
                <a:latin typeface="Calibri"/>
                <a:ea typeface="Calibri"/>
                <a:cs typeface="Calibri"/>
                <a:sym typeface="Calibri"/>
              </a:rPr>
              <a:t>(MT: </a:t>
            </a:r>
            <a:r>
              <a:rPr lang="en-US" sz="1200" dirty="0">
                <a:solidFill>
                  <a:schemeClr val="dk1"/>
                </a:solidFill>
                <a:highlight>
                  <a:srgbClr val="FFFF00"/>
                </a:highlight>
                <a:latin typeface="Calibri"/>
                <a:ea typeface="Calibri"/>
                <a:cs typeface="Calibri"/>
                <a:sym typeface="Calibri"/>
              </a:rPr>
              <a:t>Modus Tollens)</a:t>
            </a:r>
            <a:endParaRPr sz="1200" dirty="0">
              <a:solidFill>
                <a:schemeClr val="dk1"/>
              </a:solidFill>
              <a:highlight>
                <a:srgbClr val="FFFF00"/>
              </a:highlight>
              <a:latin typeface="Calibri"/>
              <a:ea typeface="Calibri"/>
              <a:cs typeface="Calibri"/>
              <a:sym typeface="Calibri"/>
            </a:endParaRPr>
          </a:p>
          <a:p>
            <a:pPr marL="228600" lvl="0" indent="-228600" algn="l" rtl="0">
              <a:lnSpc>
                <a:spcPct val="100000"/>
              </a:lnSpc>
              <a:spcBef>
                <a:spcPts val="0"/>
              </a:spcBef>
              <a:spcAft>
                <a:spcPts val="0"/>
              </a:spcAft>
              <a:buNone/>
            </a:pPr>
            <a:r>
              <a:rPr lang="en" sz="1200" dirty="0">
                <a:solidFill>
                  <a:schemeClr val="dk1"/>
                </a:solidFill>
                <a:latin typeface="Calibri"/>
                <a:ea typeface="Calibri"/>
                <a:cs typeface="Calibri"/>
                <a:sym typeface="Calibri"/>
              </a:rPr>
              <a:t>The market is not efficient.</a:t>
            </a:r>
            <a:endParaRPr sz="1200" dirty="0">
              <a:solidFill>
                <a:schemeClr val="dk1"/>
              </a:solidFill>
              <a:latin typeface="Calibri"/>
              <a:ea typeface="Calibri"/>
              <a:cs typeface="Calibri"/>
              <a:sym typeface="Calibri"/>
            </a:endParaRPr>
          </a:p>
          <a:p>
            <a:pPr marL="228600" lvl="0" indent="-228600" algn="l" rtl="0">
              <a:lnSpc>
                <a:spcPct val="100000"/>
              </a:lnSpc>
              <a:spcBef>
                <a:spcPts val="0"/>
              </a:spcBef>
              <a:spcAft>
                <a:spcPts val="0"/>
              </a:spcAft>
              <a:buNone/>
            </a:pPr>
            <a:r>
              <a:rPr lang="en" sz="1200" dirty="0">
                <a:solidFill>
                  <a:schemeClr val="dk1"/>
                </a:solidFill>
                <a:latin typeface="Calibri"/>
                <a:ea typeface="Calibri"/>
                <a:cs typeface="Calibri"/>
                <a:sym typeface="Calibri"/>
              </a:rPr>
              <a:t>Therefore, price does not equate supply and demand.</a:t>
            </a:r>
            <a:endParaRPr sz="1200" dirty="0">
              <a:solidFill>
                <a:schemeClr val="dk1"/>
              </a:solidFill>
              <a:latin typeface="Calibri"/>
              <a:ea typeface="Calibri"/>
              <a:cs typeface="Calibri"/>
              <a:sym typeface="Calibri"/>
            </a:endParaRPr>
          </a:p>
          <a:p>
            <a:pPr marL="228600" lvl="0" indent="-228600" algn="l" rtl="0">
              <a:lnSpc>
                <a:spcPct val="100000"/>
              </a:lnSpc>
              <a:spcBef>
                <a:spcPts val="0"/>
              </a:spcBef>
              <a:spcAft>
                <a:spcPts val="0"/>
              </a:spcAft>
              <a:buNone/>
            </a:pPr>
            <a:endParaRPr sz="1200" dirty="0">
              <a:solidFill>
                <a:schemeClr val="dk1"/>
              </a:solidFill>
              <a:latin typeface="Calibri"/>
              <a:ea typeface="Calibri"/>
              <a:cs typeface="Calibri"/>
              <a:sym typeface="Calibri"/>
            </a:endParaRPr>
          </a:p>
          <a:p>
            <a:pPr marL="0" lvl="0" indent="0" algn="l" rtl="0">
              <a:lnSpc>
                <a:spcPct val="100000"/>
              </a:lnSpc>
              <a:spcBef>
                <a:spcPts val="0"/>
              </a:spcBef>
              <a:spcAft>
                <a:spcPts val="0"/>
              </a:spcAft>
              <a:buClr>
                <a:schemeClr val="dk1"/>
              </a:buClr>
              <a:buSzPts val="1200"/>
              <a:buNone/>
            </a:pPr>
            <a:r>
              <a:rPr lang="en" sz="1200" dirty="0">
                <a:solidFill>
                  <a:schemeClr val="dk1"/>
                </a:solidFill>
                <a:latin typeface="Calibri"/>
                <a:ea typeface="Calibri"/>
                <a:cs typeface="Calibri"/>
                <a:sym typeface="Calibri"/>
              </a:rPr>
              <a:t>If a market exists for a private good with complete information, the equilibrium is efficient.   </a:t>
            </a:r>
            <a:r>
              <a:rPr lang="en" sz="1200" dirty="0">
                <a:solidFill>
                  <a:schemeClr val="dk1"/>
                </a:solidFill>
                <a:highlight>
                  <a:srgbClr val="FFFF00"/>
                </a:highlight>
                <a:latin typeface="Calibri"/>
                <a:ea typeface="Calibri"/>
                <a:cs typeface="Calibri"/>
                <a:sym typeface="Calibri"/>
              </a:rPr>
              <a:t>(</a:t>
            </a:r>
            <a:r>
              <a:rPr lang="en" sz="1200" dirty="0">
                <a:solidFill>
                  <a:schemeClr val="dk1"/>
                </a:solidFill>
                <a:highlight>
                  <a:srgbClr val="FF0000"/>
                </a:highlight>
                <a:latin typeface="Calibri"/>
                <a:ea typeface="Calibri"/>
                <a:cs typeface="Calibri"/>
                <a:sym typeface="Calibri"/>
              </a:rPr>
              <a:t>X</a:t>
            </a:r>
            <a:r>
              <a:rPr lang="en" sz="1200" dirty="0">
                <a:solidFill>
                  <a:schemeClr val="dk1"/>
                </a:solidFill>
                <a:highlight>
                  <a:srgbClr val="FFFF00"/>
                </a:highlight>
                <a:latin typeface="Calibri"/>
                <a:ea typeface="Calibri"/>
                <a:cs typeface="Calibri"/>
                <a:sym typeface="Calibri"/>
              </a:rPr>
              <a:t> Invalid MP)</a:t>
            </a:r>
            <a:endParaRPr sz="1200" dirty="0">
              <a:solidFill>
                <a:schemeClr val="dk1"/>
              </a:solidFill>
              <a:highlight>
                <a:srgbClr val="FFFF00"/>
              </a:highlight>
              <a:latin typeface="Calibri"/>
              <a:ea typeface="Calibri"/>
              <a:cs typeface="Calibri"/>
              <a:sym typeface="Calibri"/>
            </a:endParaRPr>
          </a:p>
          <a:p>
            <a:pPr marL="228600" lvl="0" indent="-228600" algn="l" rtl="0">
              <a:lnSpc>
                <a:spcPct val="100000"/>
              </a:lnSpc>
              <a:spcBef>
                <a:spcPts val="0"/>
              </a:spcBef>
              <a:spcAft>
                <a:spcPts val="0"/>
              </a:spcAft>
              <a:buNone/>
            </a:pPr>
            <a:r>
              <a:rPr lang="en" sz="1200" dirty="0">
                <a:solidFill>
                  <a:schemeClr val="dk1"/>
                </a:solidFill>
                <a:latin typeface="Calibri"/>
                <a:ea typeface="Calibri"/>
                <a:cs typeface="Calibri"/>
                <a:sym typeface="Calibri"/>
              </a:rPr>
              <a:t>A market exists for a good with complete information.</a:t>
            </a:r>
            <a:endParaRPr sz="1200" dirty="0">
              <a:solidFill>
                <a:schemeClr val="dk1"/>
              </a:solidFill>
              <a:latin typeface="Calibri"/>
              <a:ea typeface="Calibri"/>
              <a:cs typeface="Calibri"/>
              <a:sym typeface="Calibri"/>
            </a:endParaRPr>
          </a:p>
          <a:p>
            <a:pPr marL="228600" lvl="0" indent="-228600" algn="l" rtl="0">
              <a:lnSpc>
                <a:spcPct val="100000"/>
              </a:lnSpc>
              <a:spcBef>
                <a:spcPts val="0"/>
              </a:spcBef>
              <a:spcAft>
                <a:spcPts val="0"/>
              </a:spcAft>
              <a:buNone/>
            </a:pPr>
            <a:r>
              <a:rPr lang="en" sz="1200" dirty="0">
                <a:solidFill>
                  <a:schemeClr val="dk1"/>
                </a:solidFill>
                <a:latin typeface="Calibri"/>
                <a:ea typeface="Calibri"/>
                <a:cs typeface="Calibri"/>
                <a:sym typeface="Calibri"/>
              </a:rPr>
              <a:t>Therefore, the equilibrium is efficient.</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0">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0">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0">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0">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0">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0">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0">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50">
                                            <p:txEl>
                                              <p:pRg st="12" end="12"/>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50">
                                            <p:txEl>
                                              <p:pRg st="13" end="13"/>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50">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3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Validity</a:t>
            </a:r>
            <a:endParaRPr/>
          </a:p>
        </p:txBody>
      </p:sp>
      <p:sp>
        <p:nvSpPr>
          <p:cNvPr id="156" name="Google Shape;156;p30"/>
          <p:cNvSpPr txBox="1">
            <a:spLocks noGrp="1"/>
          </p:cNvSpPr>
          <p:nvPr>
            <p:ph type="body" idx="1"/>
          </p:nvPr>
        </p:nvSpPr>
        <p:spPr>
          <a:xfrm>
            <a:off x="311700" y="1152475"/>
            <a:ext cx="8520600" cy="37113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400" dirty="0">
                <a:solidFill>
                  <a:schemeClr val="dk1"/>
                </a:solidFill>
              </a:rPr>
              <a:t>An argument is valid if it is impossible for premise to be true while conclusion is false (regardless of whether the premises are true)</a:t>
            </a:r>
            <a:endParaRPr sz="1400" dirty="0">
              <a:solidFill>
                <a:schemeClr val="dk1"/>
              </a:solidFill>
            </a:endParaRPr>
          </a:p>
          <a:p>
            <a:pPr marL="0" lvl="0" indent="0" algn="l" rtl="0">
              <a:lnSpc>
                <a:spcPct val="100000"/>
              </a:lnSpc>
              <a:spcBef>
                <a:spcPts val="0"/>
              </a:spcBef>
              <a:spcAft>
                <a:spcPts val="0"/>
              </a:spcAft>
              <a:buNone/>
            </a:pPr>
            <a:r>
              <a:rPr lang="en" sz="1400" dirty="0">
                <a:solidFill>
                  <a:schemeClr val="dk1"/>
                </a:solidFill>
              </a:rPr>
              <a:t>The argument is internally consistent</a:t>
            </a:r>
            <a:endParaRPr sz="1400" dirty="0">
              <a:solidFill>
                <a:schemeClr val="dk1"/>
              </a:solidFill>
            </a:endParaRPr>
          </a:p>
          <a:p>
            <a:pPr marL="0" lvl="0" indent="0" algn="l" rtl="0">
              <a:lnSpc>
                <a:spcPct val="100000"/>
              </a:lnSpc>
              <a:spcBef>
                <a:spcPts val="0"/>
              </a:spcBef>
              <a:spcAft>
                <a:spcPts val="0"/>
              </a:spcAft>
              <a:buNone/>
            </a:pPr>
            <a:r>
              <a:rPr lang="en" sz="1400" dirty="0">
                <a:solidFill>
                  <a:schemeClr val="dk1"/>
                </a:solidFill>
              </a:rPr>
              <a:t>An argument here is the set of statements</a:t>
            </a:r>
            <a:endParaRPr sz="1400" dirty="0">
              <a:solidFill>
                <a:schemeClr val="dk1"/>
              </a:solidFill>
            </a:endParaRPr>
          </a:p>
          <a:p>
            <a:pPr marL="0" lvl="0" indent="0" algn="l" rtl="0">
              <a:lnSpc>
                <a:spcPct val="100000"/>
              </a:lnSpc>
              <a:spcBef>
                <a:spcPts val="0"/>
              </a:spcBef>
              <a:spcAft>
                <a:spcPts val="0"/>
              </a:spcAft>
              <a:buNone/>
            </a:pPr>
            <a:endParaRPr sz="1400" dirty="0">
              <a:solidFill>
                <a:schemeClr val="dk1"/>
              </a:solidFill>
            </a:endParaRPr>
          </a:p>
          <a:p>
            <a:pPr marL="0" lvl="0" indent="0" algn="l" rtl="0">
              <a:lnSpc>
                <a:spcPct val="100000"/>
              </a:lnSpc>
              <a:spcBef>
                <a:spcPts val="0"/>
              </a:spcBef>
              <a:spcAft>
                <a:spcPts val="0"/>
              </a:spcAft>
              <a:buNone/>
            </a:pPr>
            <a:r>
              <a:rPr lang="en" sz="1400" dirty="0">
                <a:solidFill>
                  <a:schemeClr val="dk1"/>
                </a:solidFill>
              </a:rPr>
              <a:t>Valid</a:t>
            </a:r>
            <a:endParaRPr sz="1400" dirty="0">
              <a:solidFill>
                <a:schemeClr val="dk1"/>
              </a:solidFill>
            </a:endParaRPr>
          </a:p>
          <a:p>
            <a:pPr marL="228600" lvl="0" indent="0" algn="l" rtl="0">
              <a:spcBef>
                <a:spcPts val="0"/>
              </a:spcBef>
              <a:spcAft>
                <a:spcPts val="0"/>
              </a:spcAft>
              <a:buClr>
                <a:schemeClr val="dk1"/>
              </a:buClr>
              <a:buSzPts val="1100"/>
              <a:buFont typeface="Arial"/>
              <a:buNone/>
            </a:pPr>
            <a:r>
              <a:rPr lang="en" sz="1400" dirty="0">
                <a:solidFill>
                  <a:schemeClr val="dk1"/>
                </a:solidFill>
                <a:highlight>
                  <a:srgbClr val="FFFFFF"/>
                </a:highlight>
              </a:rPr>
              <a:t>All men are mortal.</a:t>
            </a:r>
            <a:endParaRPr sz="1400" dirty="0">
              <a:solidFill>
                <a:schemeClr val="dk1"/>
              </a:solidFill>
              <a:highlight>
                <a:srgbClr val="FFFFFF"/>
              </a:highlight>
            </a:endParaRPr>
          </a:p>
          <a:p>
            <a:pPr marL="228600" lvl="0" indent="0" algn="l" rtl="0">
              <a:spcBef>
                <a:spcPts val="100"/>
              </a:spcBef>
              <a:spcAft>
                <a:spcPts val="0"/>
              </a:spcAft>
              <a:buClr>
                <a:schemeClr val="dk1"/>
              </a:buClr>
              <a:buSzPts val="1100"/>
              <a:buFont typeface="Arial"/>
              <a:buNone/>
            </a:pPr>
            <a:r>
              <a:rPr lang="en" sz="1400" dirty="0">
                <a:solidFill>
                  <a:schemeClr val="dk1"/>
                </a:solidFill>
                <a:highlight>
                  <a:srgbClr val="FFFFFF"/>
                </a:highlight>
              </a:rPr>
              <a:t>Socrates is a man.</a:t>
            </a:r>
            <a:endParaRPr sz="1400" dirty="0">
              <a:solidFill>
                <a:schemeClr val="dk1"/>
              </a:solidFill>
              <a:highlight>
                <a:srgbClr val="FFFFFF"/>
              </a:highlight>
            </a:endParaRPr>
          </a:p>
          <a:p>
            <a:pPr marL="228600" lvl="0" indent="0" algn="l" rtl="0">
              <a:spcBef>
                <a:spcPts val="100"/>
              </a:spcBef>
              <a:spcAft>
                <a:spcPts val="0"/>
              </a:spcAft>
              <a:buClr>
                <a:schemeClr val="dk1"/>
              </a:buClr>
              <a:buSzPts val="1100"/>
              <a:buFont typeface="Arial"/>
              <a:buNone/>
            </a:pPr>
            <a:r>
              <a:rPr lang="en" sz="1400" dirty="0">
                <a:solidFill>
                  <a:schemeClr val="dk1"/>
                </a:solidFill>
                <a:highlight>
                  <a:srgbClr val="FFFFFF"/>
                </a:highlight>
              </a:rPr>
              <a:t>Therefore, Socrates is mortal.</a:t>
            </a:r>
            <a:endParaRPr sz="1400" dirty="0">
              <a:solidFill>
                <a:schemeClr val="dk1"/>
              </a:solidFill>
              <a:highlight>
                <a:srgbClr val="FFFFFF"/>
              </a:highlight>
            </a:endParaRPr>
          </a:p>
          <a:p>
            <a:pPr marL="0" lvl="0" indent="0" algn="l" rtl="0">
              <a:lnSpc>
                <a:spcPct val="100000"/>
              </a:lnSpc>
              <a:spcBef>
                <a:spcPts val="100"/>
              </a:spcBef>
              <a:spcAft>
                <a:spcPts val="0"/>
              </a:spcAft>
              <a:buNone/>
            </a:pPr>
            <a:endParaRPr sz="1400" dirty="0">
              <a:solidFill>
                <a:schemeClr val="dk1"/>
              </a:solidFill>
            </a:endParaRPr>
          </a:p>
          <a:p>
            <a:pPr marL="0" lvl="0" indent="0" algn="l" rtl="0">
              <a:spcBef>
                <a:spcPts val="0"/>
              </a:spcBef>
              <a:spcAft>
                <a:spcPts val="0"/>
              </a:spcAft>
              <a:buNone/>
            </a:pPr>
            <a:r>
              <a:rPr lang="en" sz="1400" dirty="0">
                <a:solidFill>
                  <a:schemeClr val="dk1"/>
                </a:solidFill>
              </a:rPr>
              <a:t>Invalid</a:t>
            </a:r>
            <a:endParaRPr sz="1400" dirty="0">
              <a:solidFill>
                <a:schemeClr val="dk1"/>
              </a:solidFill>
            </a:endParaRPr>
          </a:p>
          <a:p>
            <a:pPr marL="228600" lvl="0" indent="0" algn="l" rtl="0">
              <a:spcBef>
                <a:spcPts val="1600"/>
              </a:spcBef>
              <a:spcAft>
                <a:spcPts val="0"/>
              </a:spcAft>
              <a:buNone/>
            </a:pPr>
            <a:r>
              <a:rPr lang="en" sz="1400" dirty="0">
                <a:solidFill>
                  <a:schemeClr val="dk1"/>
                </a:solidFill>
                <a:highlight>
                  <a:srgbClr val="FFFFFF"/>
                </a:highlight>
              </a:rPr>
              <a:t>All men are immortal.</a:t>
            </a:r>
            <a:endParaRPr sz="1400" dirty="0">
              <a:solidFill>
                <a:schemeClr val="dk1"/>
              </a:solidFill>
              <a:highlight>
                <a:srgbClr val="FFFFFF"/>
              </a:highlight>
            </a:endParaRPr>
          </a:p>
          <a:p>
            <a:pPr marL="228600" lvl="0" indent="0" algn="l" rtl="0">
              <a:spcBef>
                <a:spcPts val="100"/>
              </a:spcBef>
              <a:spcAft>
                <a:spcPts val="0"/>
              </a:spcAft>
              <a:buClr>
                <a:schemeClr val="dk1"/>
              </a:buClr>
              <a:buSzPts val="1100"/>
              <a:buFont typeface="Arial"/>
              <a:buNone/>
            </a:pPr>
            <a:r>
              <a:rPr lang="en" sz="1400" dirty="0">
                <a:solidFill>
                  <a:schemeClr val="dk1"/>
                </a:solidFill>
                <a:highlight>
                  <a:srgbClr val="FFFFFF"/>
                </a:highlight>
              </a:rPr>
              <a:t>Socrates is a man.</a:t>
            </a:r>
            <a:endParaRPr sz="1400" dirty="0">
              <a:solidFill>
                <a:schemeClr val="dk1"/>
              </a:solidFill>
              <a:highlight>
                <a:srgbClr val="FFFFFF"/>
              </a:highlight>
            </a:endParaRPr>
          </a:p>
          <a:p>
            <a:pPr marL="228600" lvl="0" indent="0" algn="l" rtl="0">
              <a:spcBef>
                <a:spcPts val="100"/>
              </a:spcBef>
              <a:spcAft>
                <a:spcPts val="0"/>
              </a:spcAft>
              <a:buClr>
                <a:schemeClr val="dk1"/>
              </a:buClr>
              <a:buSzPts val="1100"/>
              <a:buFont typeface="Arial"/>
              <a:buNone/>
            </a:pPr>
            <a:r>
              <a:rPr lang="en" sz="1400" dirty="0">
                <a:solidFill>
                  <a:schemeClr val="dk1"/>
                </a:solidFill>
                <a:highlight>
                  <a:srgbClr val="FFFFFF"/>
                </a:highlight>
              </a:rPr>
              <a:t>Therefore, Socrates is mortal.</a:t>
            </a:r>
            <a:endParaRPr sz="1400" dirty="0">
              <a:solidFill>
                <a:schemeClr val="dk1"/>
              </a:solidFill>
              <a:highlight>
                <a:srgbClr val="FFFFFF"/>
              </a:highlight>
            </a:endParaRPr>
          </a:p>
          <a:p>
            <a:pPr marL="0" lvl="0" indent="0" algn="l" rtl="0">
              <a:spcBef>
                <a:spcPts val="100"/>
              </a:spcBef>
              <a:spcAft>
                <a:spcPts val="1600"/>
              </a:spcAft>
              <a:buNone/>
            </a:pPr>
            <a:endParaRPr sz="1400" dirty="0">
              <a:solidFill>
                <a:schemeClr val="dk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3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Soundness</a:t>
            </a:r>
            <a:endParaRPr/>
          </a:p>
        </p:txBody>
      </p:sp>
      <p:sp>
        <p:nvSpPr>
          <p:cNvPr id="162" name="Google Shape;162;p31"/>
          <p:cNvSpPr txBox="1">
            <a:spLocks noGrp="1"/>
          </p:cNvSpPr>
          <p:nvPr>
            <p:ph type="body" idx="1"/>
          </p:nvPr>
        </p:nvSpPr>
        <p:spPr>
          <a:xfrm>
            <a:off x="311700" y="1152475"/>
            <a:ext cx="8520600" cy="3729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dirty="0"/>
              <a:t>An argument is sound if it is </a:t>
            </a:r>
            <a:r>
              <a:rPr lang="en" u="sng" dirty="0"/>
              <a:t>valid </a:t>
            </a:r>
            <a:r>
              <a:rPr lang="en" dirty="0"/>
              <a:t>and the </a:t>
            </a:r>
            <a:r>
              <a:rPr lang="en" u="sng" dirty="0"/>
              <a:t>premises are true</a:t>
            </a:r>
            <a:endParaRPr dirty="0"/>
          </a:p>
          <a:p>
            <a:pPr marL="0" lvl="0" indent="0" algn="l" rtl="0">
              <a:spcBef>
                <a:spcPts val="1600"/>
              </a:spcBef>
              <a:spcAft>
                <a:spcPts val="0"/>
              </a:spcAft>
              <a:buNone/>
            </a:pPr>
            <a:r>
              <a:rPr lang="en" dirty="0"/>
              <a:t>Sound</a:t>
            </a:r>
            <a:endParaRPr dirty="0"/>
          </a:p>
          <a:p>
            <a:pPr marL="228600" lvl="0" indent="0" algn="l" rtl="0">
              <a:spcBef>
                <a:spcPts val="1600"/>
              </a:spcBef>
              <a:spcAft>
                <a:spcPts val="0"/>
              </a:spcAft>
              <a:buClr>
                <a:schemeClr val="dk1"/>
              </a:buClr>
              <a:buSzPts val="1100"/>
              <a:buFont typeface="Arial"/>
              <a:buNone/>
            </a:pPr>
            <a:r>
              <a:rPr lang="en" dirty="0">
                <a:solidFill>
                  <a:srgbClr val="202122"/>
                </a:solidFill>
                <a:highlight>
                  <a:srgbClr val="FFFFFF"/>
                </a:highlight>
              </a:rPr>
              <a:t>All men are mortal.</a:t>
            </a:r>
            <a:endParaRPr dirty="0">
              <a:solidFill>
                <a:srgbClr val="202122"/>
              </a:solidFill>
              <a:highlight>
                <a:srgbClr val="FFFFFF"/>
              </a:highlight>
            </a:endParaRPr>
          </a:p>
          <a:p>
            <a:pPr marL="228600" lvl="0" indent="0" algn="l" rtl="0">
              <a:spcBef>
                <a:spcPts val="100"/>
              </a:spcBef>
              <a:spcAft>
                <a:spcPts val="0"/>
              </a:spcAft>
              <a:buClr>
                <a:schemeClr val="dk1"/>
              </a:buClr>
              <a:buSzPts val="1100"/>
              <a:buFont typeface="Arial"/>
              <a:buNone/>
            </a:pPr>
            <a:r>
              <a:rPr lang="en" dirty="0">
                <a:solidFill>
                  <a:srgbClr val="202122"/>
                </a:solidFill>
                <a:highlight>
                  <a:srgbClr val="FFFFFF"/>
                </a:highlight>
              </a:rPr>
              <a:t>Socrates is a man.</a:t>
            </a:r>
            <a:endParaRPr dirty="0">
              <a:solidFill>
                <a:srgbClr val="202122"/>
              </a:solidFill>
              <a:highlight>
                <a:srgbClr val="FFFFFF"/>
              </a:highlight>
            </a:endParaRPr>
          </a:p>
          <a:p>
            <a:pPr marL="228600" lvl="0" indent="0" algn="l" rtl="0">
              <a:spcBef>
                <a:spcPts val="100"/>
              </a:spcBef>
              <a:spcAft>
                <a:spcPts val="0"/>
              </a:spcAft>
              <a:buClr>
                <a:schemeClr val="dk1"/>
              </a:buClr>
              <a:buSzPts val="1100"/>
              <a:buFont typeface="Arial"/>
              <a:buNone/>
            </a:pPr>
            <a:r>
              <a:rPr lang="en" dirty="0">
                <a:solidFill>
                  <a:srgbClr val="202122"/>
                </a:solidFill>
                <a:highlight>
                  <a:srgbClr val="FFFFFF"/>
                </a:highlight>
              </a:rPr>
              <a:t>Therefore, Socrates is mortal.</a:t>
            </a:r>
            <a:endParaRPr dirty="0">
              <a:solidFill>
                <a:srgbClr val="202122"/>
              </a:solidFill>
              <a:highlight>
                <a:srgbClr val="FFFFFF"/>
              </a:highlight>
            </a:endParaRPr>
          </a:p>
          <a:p>
            <a:pPr marL="0" lvl="0" indent="0" algn="l" rtl="0">
              <a:spcBef>
                <a:spcPts val="100"/>
              </a:spcBef>
              <a:spcAft>
                <a:spcPts val="0"/>
              </a:spcAft>
              <a:buNone/>
            </a:pPr>
            <a:r>
              <a:rPr lang="en" dirty="0"/>
              <a:t>Unsound</a:t>
            </a:r>
            <a:endParaRPr dirty="0"/>
          </a:p>
          <a:p>
            <a:pPr marL="228600" lvl="0" indent="0" algn="l" rtl="0">
              <a:spcBef>
                <a:spcPts val="1600"/>
              </a:spcBef>
              <a:spcAft>
                <a:spcPts val="0"/>
              </a:spcAft>
              <a:buClr>
                <a:schemeClr val="dk1"/>
              </a:buClr>
              <a:buSzPts val="1100"/>
              <a:buFont typeface="Arial"/>
              <a:buNone/>
            </a:pPr>
            <a:r>
              <a:rPr lang="en" dirty="0">
                <a:solidFill>
                  <a:srgbClr val="202122"/>
                </a:solidFill>
                <a:highlight>
                  <a:srgbClr val="FFFFFF"/>
                </a:highlight>
              </a:rPr>
              <a:t>All birds can fly.</a:t>
            </a:r>
            <a:endParaRPr dirty="0">
              <a:solidFill>
                <a:srgbClr val="202122"/>
              </a:solidFill>
              <a:highlight>
                <a:srgbClr val="FFFFFF"/>
              </a:highlight>
            </a:endParaRPr>
          </a:p>
          <a:p>
            <a:pPr marL="228600" lvl="0" indent="0" algn="l" rtl="0">
              <a:spcBef>
                <a:spcPts val="100"/>
              </a:spcBef>
              <a:spcAft>
                <a:spcPts val="0"/>
              </a:spcAft>
              <a:buClr>
                <a:schemeClr val="dk1"/>
              </a:buClr>
              <a:buSzPts val="1100"/>
              <a:buFont typeface="Arial"/>
              <a:buNone/>
            </a:pPr>
            <a:r>
              <a:rPr lang="en" dirty="0">
                <a:solidFill>
                  <a:srgbClr val="202122"/>
                </a:solidFill>
                <a:highlight>
                  <a:srgbClr val="FFFFFF"/>
                </a:highlight>
              </a:rPr>
              <a:t>Penguins are birds.</a:t>
            </a:r>
            <a:endParaRPr dirty="0">
              <a:solidFill>
                <a:srgbClr val="202122"/>
              </a:solidFill>
              <a:highlight>
                <a:srgbClr val="FFFFFF"/>
              </a:highlight>
            </a:endParaRPr>
          </a:p>
          <a:p>
            <a:pPr marL="228600" lvl="0" indent="0" algn="l" rtl="0">
              <a:spcBef>
                <a:spcPts val="100"/>
              </a:spcBef>
              <a:spcAft>
                <a:spcPts val="100"/>
              </a:spcAft>
              <a:buNone/>
            </a:pPr>
            <a:r>
              <a:rPr lang="en" dirty="0">
                <a:solidFill>
                  <a:srgbClr val="202122"/>
                </a:solidFill>
                <a:highlight>
                  <a:srgbClr val="FFFFFF"/>
                </a:highlight>
              </a:rPr>
              <a:t>Therefore, penguins can fly.</a:t>
            </a:r>
            <a:endParaRPr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3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Inductive and Deductive Reasoning</a:t>
            </a:r>
            <a:endParaRPr/>
          </a:p>
        </p:txBody>
      </p:sp>
      <p:sp>
        <p:nvSpPr>
          <p:cNvPr id="174" name="Google Shape;174;p3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457200" lvl="0" indent="-323850" algn="l" rtl="0">
              <a:lnSpc>
                <a:spcPct val="100000"/>
              </a:lnSpc>
              <a:spcBef>
                <a:spcPts val="0"/>
              </a:spcBef>
              <a:spcAft>
                <a:spcPts val="0"/>
              </a:spcAft>
              <a:buClr>
                <a:schemeClr val="dk1"/>
              </a:buClr>
              <a:buSzPts val="1500"/>
              <a:buFont typeface="Noto Sans Symbols"/>
              <a:buChar char="●"/>
            </a:pPr>
            <a:r>
              <a:rPr lang="en" sz="1500">
                <a:solidFill>
                  <a:schemeClr val="dk1"/>
                </a:solidFill>
                <a:latin typeface="Calibri"/>
                <a:ea typeface="Calibri"/>
                <a:cs typeface="Calibri"/>
                <a:sym typeface="Calibri"/>
              </a:rPr>
              <a:t>Deductive reasoning: a series of assumptions and relationships (a general or universal statement and a specific or singular statement) lead to certain expected outcomes.  </a:t>
            </a:r>
            <a:endParaRPr sz="1500">
              <a:solidFill>
                <a:schemeClr val="dk1"/>
              </a:solidFill>
              <a:latin typeface="Calibri"/>
              <a:ea typeface="Calibri"/>
              <a:cs typeface="Calibri"/>
              <a:sym typeface="Calibri"/>
            </a:endParaRPr>
          </a:p>
          <a:p>
            <a:pPr marL="914400" lvl="1" indent="-323850" algn="l" rtl="0">
              <a:lnSpc>
                <a:spcPct val="100000"/>
              </a:lnSpc>
              <a:spcBef>
                <a:spcPts val="0"/>
              </a:spcBef>
              <a:spcAft>
                <a:spcPts val="0"/>
              </a:spcAft>
              <a:buClr>
                <a:schemeClr val="dk1"/>
              </a:buClr>
              <a:buSzPts val="1500"/>
              <a:buFont typeface="Courier New"/>
              <a:buChar char="o"/>
            </a:pPr>
            <a:r>
              <a:rPr lang="en" sz="1500">
                <a:solidFill>
                  <a:schemeClr val="dk1"/>
                </a:solidFill>
                <a:latin typeface="Calibri"/>
                <a:ea typeface="Calibri"/>
                <a:cs typeface="Calibri"/>
                <a:sym typeface="Calibri"/>
              </a:rPr>
              <a:t>Deductive reasoning, or deduction, starts out with a general statement, or hypothesis, and examines the possibilities to reach a specific, logical conclusion.  </a:t>
            </a:r>
            <a:endParaRPr sz="1500">
              <a:solidFill>
                <a:schemeClr val="dk1"/>
              </a:solidFill>
              <a:latin typeface="Calibri"/>
              <a:ea typeface="Calibri"/>
              <a:cs typeface="Calibri"/>
              <a:sym typeface="Calibri"/>
            </a:endParaRPr>
          </a:p>
          <a:p>
            <a:pPr marL="914400" lvl="1" indent="-323850" algn="l" rtl="0">
              <a:lnSpc>
                <a:spcPct val="100000"/>
              </a:lnSpc>
              <a:spcBef>
                <a:spcPts val="0"/>
              </a:spcBef>
              <a:spcAft>
                <a:spcPts val="0"/>
              </a:spcAft>
              <a:buClr>
                <a:schemeClr val="dk1"/>
              </a:buClr>
              <a:buSzPts val="1500"/>
              <a:buFont typeface="Courier New"/>
              <a:buChar char="o"/>
            </a:pPr>
            <a:r>
              <a:rPr lang="en" sz="1500">
                <a:solidFill>
                  <a:schemeClr val="dk1"/>
                </a:solidFill>
                <a:latin typeface="Calibri"/>
                <a:ea typeface="Calibri"/>
                <a:cs typeface="Calibri"/>
                <a:sym typeface="Calibri"/>
              </a:rPr>
              <a:t>Example: Equilibrium price is a deduced outcome of assumptions about market structure and motivation of producers and consumers.</a:t>
            </a:r>
            <a:endParaRPr sz="1500">
              <a:solidFill>
                <a:schemeClr val="dk1"/>
              </a:solidFill>
              <a:latin typeface="Calibri"/>
              <a:ea typeface="Calibri"/>
              <a:cs typeface="Calibri"/>
              <a:sym typeface="Calibri"/>
            </a:endParaRPr>
          </a:p>
          <a:p>
            <a:pPr marL="914400" lvl="1" indent="-323850" algn="l" rtl="0">
              <a:lnSpc>
                <a:spcPct val="100000"/>
              </a:lnSpc>
              <a:spcBef>
                <a:spcPts val="0"/>
              </a:spcBef>
              <a:spcAft>
                <a:spcPts val="0"/>
              </a:spcAft>
              <a:buClr>
                <a:schemeClr val="dk1"/>
              </a:buClr>
              <a:buSzPts val="1500"/>
              <a:buFont typeface="Courier New"/>
              <a:buChar char="o"/>
            </a:pPr>
            <a:r>
              <a:rPr lang="en" sz="1500">
                <a:solidFill>
                  <a:schemeClr val="dk1"/>
                </a:solidFill>
                <a:latin typeface="Calibri"/>
                <a:ea typeface="Calibri"/>
                <a:cs typeface="Calibri"/>
                <a:sym typeface="Calibri"/>
              </a:rPr>
              <a:t>Deductive reasoning relies on the validity of the argument.  </a:t>
            </a:r>
            <a:endParaRPr sz="1500">
              <a:solidFill>
                <a:schemeClr val="dk1"/>
              </a:solidFill>
              <a:latin typeface="Calibri"/>
              <a:ea typeface="Calibri"/>
              <a:cs typeface="Calibri"/>
              <a:sym typeface="Calibri"/>
            </a:endParaRPr>
          </a:p>
          <a:p>
            <a:pPr marL="914400" lvl="1" indent="-323850" algn="l" rtl="0">
              <a:lnSpc>
                <a:spcPct val="100000"/>
              </a:lnSpc>
              <a:spcBef>
                <a:spcPts val="0"/>
              </a:spcBef>
              <a:spcAft>
                <a:spcPts val="0"/>
              </a:spcAft>
              <a:buClr>
                <a:schemeClr val="dk1"/>
              </a:buClr>
              <a:buSzPts val="1500"/>
              <a:buFont typeface="Courier New"/>
              <a:buChar char="o"/>
            </a:pPr>
            <a:r>
              <a:rPr lang="en" sz="1500">
                <a:solidFill>
                  <a:schemeClr val="dk1"/>
                </a:solidFill>
                <a:highlight>
                  <a:srgbClr val="FFFF00"/>
                </a:highlight>
                <a:latin typeface="Calibri"/>
                <a:ea typeface="Calibri"/>
                <a:cs typeface="Calibri"/>
                <a:sym typeface="Calibri"/>
              </a:rPr>
              <a:t>Conclusions can be proven but the premises themselves are taken as given and may not be provable.</a:t>
            </a:r>
            <a:endParaRPr sz="1500">
              <a:solidFill>
                <a:schemeClr val="dk1"/>
              </a:solidFill>
              <a:highlight>
                <a:srgbClr val="FFFF00"/>
              </a:highlight>
              <a:latin typeface="Calibri"/>
              <a:ea typeface="Calibri"/>
              <a:cs typeface="Calibri"/>
              <a:sym typeface="Calibri"/>
            </a:endParaRPr>
          </a:p>
          <a:p>
            <a:pPr marL="457200" lvl="0" indent="-323850" algn="l" rtl="0">
              <a:lnSpc>
                <a:spcPct val="100000"/>
              </a:lnSpc>
              <a:spcBef>
                <a:spcPts val="0"/>
              </a:spcBef>
              <a:spcAft>
                <a:spcPts val="0"/>
              </a:spcAft>
              <a:buClr>
                <a:schemeClr val="dk1"/>
              </a:buClr>
              <a:buSzPts val="1500"/>
              <a:buFont typeface="Courier New"/>
              <a:buChar char="●"/>
            </a:pPr>
            <a:r>
              <a:rPr lang="en" sz="1500">
                <a:solidFill>
                  <a:schemeClr val="dk1"/>
                </a:solidFill>
                <a:latin typeface="Calibri"/>
                <a:ea typeface="Calibri"/>
                <a:cs typeface="Calibri"/>
                <a:sym typeface="Calibri"/>
              </a:rPr>
              <a:t>Inductive reasoning: extending a specific circumstance or outcome to a general conclusion.  </a:t>
            </a:r>
            <a:endParaRPr sz="1500">
              <a:solidFill>
                <a:schemeClr val="dk1"/>
              </a:solidFill>
              <a:latin typeface="Calibri"/>
              <a:ea typeface="Calibri"/>
              <a:cs typeface="Calibri"/>
              <a:sym typeface="Calibri"/>
            </a:endParaRPr>
          </a:p>
          <a:p>
            <a:pPr marL="914400" lvl="1" indent="-323850" algn="l" rtl="0">
              <a:lnSpc>
                <a:spcPct val="100000"/>
              </a:lnSpc>
              <a:spcBef>
                <a:spcPts val="0"/>
              </a:spcBef>
              <a:spcAft>
                <a:spcPts val="0"/>
              </a:spcAft>
              <a:buClr>
                <a:schemeClr val="dk1"/>
              </a:buClr>
              <a:buSzPts val="1500"/>
              <a:buFont typeface="Noto Sans Symbols"/>
              <a:buChar char="o"/>
            </a:pPr>
            <a:r>
              <a:rPr lang="en" sz="1500">
                <a:solidFill>
                  <a:schemeClr val="dk1"/>
                </a:solidFill>
                <a:latin typeface="Calibri"/>
                <a:ea typeface="Calibri"/>
                <a:cs typeface="Calibri"/>
                <a:sym typeface="Calibri"/>
              </a:rPr>
              <a:t>E.g., Statistical inference: taking a result based on a sample and extending it to the population. </a:t>
            </a:r>
            <a:endParaRPr sz="1500">
              <a:solidFill>
                <a:schemeClr val="dk1"/>
              </a:solidFill>
              <a:latin typeface="Calibri"/>
              <a:ea typeface="Calibri"/>
              <a:cs typeface="Calibri"/>
              <a:sym typeface="Calibri"/>
            </a:endParaRPr>
          </a:p>
          <a:p>
            <a:pPr marL="914400" lvl="1" indent="-323850" algn="l" rtl="0">
              <a:lnSpc>
                <a:spcPct val="100000"/>
              </a:lnSpc>
              <a:spcBef>
                <a:spcPts val="0"/>
              </a:spcBef>
              <a:spcAft>
                <a:spcPts val="0"/>
              </a:spcAft>
              <a:buClr>
                <a:schemeClr val="dk1"/>
              </a:buClr>
              <a:buSzPts val="1500"/>
              <a:buFont typeface="Noto Sans Symbols"/>
              <a:buChar char="o"/>
            </a:pPr>
            <a:r>
              <a:rPr lang="en" sz="1500">
                <a:solidFill>
                  <a:schemeClr val="dk1"/>
                </a:solidFill>
                <a:latin typeface="Calibri"/>
                <a:ea typeface="Calibri"/>
                <a:cs typeface="Calibri"/>
                <a:sym typeface="Calibri"/>
              </a:rPr>
              <a:t>"The coin I pulled from the bag is a penny. That coin is a penny. A third coin from the bag is a penny. Therefore, all the coins in the bag are pennies."  </a:t>
            </a:r>
            <a:endParaRPr sz="1500">
              <a:solidFill>
                <a:schemeClr val="dk1"/>
              </a:solidFill>
              <a:latin typeface="Calibri"/>
              <a:ea typeface="Calibri"/>
              <a:cs typeface="Calibri"/>
              <a:sym typeface="Calibri"/>
            </a:endParaRPr>
          </a:p>
          <a:p>
            <a:pPr marL="0" lvl="0" indent="0" algn="l" rtl="0">
              <a:spcBef>
                <a:spcPts val="0"/>
              </a:spcBef>
              <a:spcAft>
                <a:spcPts val="1600"/>
              </a:spcAft>
              <a:buNone/>
            </a:pPr>
            <a:endParaRPr sz="21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4">
                                            <p:txEl>
                                              <p:pRg st="0" end="0"/>
                                            </p:txEl>
                                          </p:spTgt>
                                        </p:tgtEl>
                                        <p:attrNameLst>
                                          <p:attrName>style.visibility</p:attrName>
                                        </p:attrNameLst>
                                      </p:cBhvr>
                                      <p:to>
                                        <p:strVal val="visible"/>
                                      </p:to>
                                    </p:set>
                                    <p:animEffect transition="in" filter="fade">
                                      <p:cBhvr>
                                        <p:cTn id="7" dur="1"/>
                                        <p:tgtEl>
                                          <p:spTgt spid="17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4">
                                            <p:txEl>
                                              <p:pRg st="1" end="1"/>
                                            </p:txEl>
                                          </p:spTgt>
                                        </p:tgtEl>
                                        <p:attrNameLst>
                                          <p:attrName>style.visibility</p:attrName>
                                        </p:attrNameLst>
                                      </p:cBhvr>
                                      <p:to>
                                        <p:strVal val="visible"/>
                                      </p:to>
                                    </p:set>
                                    <p:animEffect transition="in" filter="fade">
                                      <p:cBhvr>
                                        <p:cTn id="12" dur="1"/>
                                        <p:tgtEl>
                                          <p:spTgt spid="17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74">
                                            <p:txEl>
                                              <p:pRg st="2" end="2"/>
                                            </p:txEl>
                                          </p:spTgt>
                                        </p:tgtEl>
                                        <p:attrNameLst>
                                          <p:attrName>style.visibility</p:attrName>
                                        </p:attrNameLst>
                                      </p:cBhvr>
                                      <p:to>
                                        <p:strVal val="visible"/>
                                      </p:to>
                                    </p:set>
                                    <p:animEffect transition="in" filter="fade">
                                      <p:cBhvr>
                                        <p:cTn id="17" dur="1"/>
                                        <p:tgtEl>
                                          <p:spTgt spid="17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74">
                                            <p:txEl>
                                              <p:pRg st="3" end="3"/>
                                            </p:txEl>
                                          </p:spTgt>
                                        </p:tgtEl>
                                        <p:attrNameLst>
                                          <p:attrName>style.visibility</p:attrName>
                                        </p:attrNameLst>
                                      </p:cBhvr>
                                      <p:to>
                                        <p:strVal val="visible"/>
                                      </p:to>
                                    </p:set>
                                    <p:animEffect transition="in" filter="fade">
                                      <p:cBhvr>
                                        <p:cTn id="22" dur="1"/>
                                        <p:tgtEl>
                                          <p:spTgt spid="17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74">
                                            <p:txEl>
                                              <p:pRg st="4" end="4"/>
                                            </p:txEl>
                                          </p:spTgt>
                                        </p:tgtEl>
                                        <p:attrNameLst>
                                          <p:attrName>style.visibility</p:attrName>
                                        </p:attrNameLst>
                                      </p:cBhvr>
                                      <p:to>
                                        <p:strVal val="visible"/>
                                      </p:to>
                                    </p:set>
                                    <p:animEffect transition="in" filter="fade">
                                      <p:cBhvr>
                                        <p:cTn id="27" dur="1"/>
                                        <p:tgtEl>
                                          <p:spTgt spid="17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74">
                                            <p:txEl>
                                              <p:pRg st="5" end="5"/>
                                            </p:txEl>
                                          </p:spTgt>
                                        </p:tgtEl>
                                        <p:attrNameLst>
                                          <p:attrName>style.visibility</p:attrName>
                                        </p:attrNameLst>
                                      </p:cBhvr>
                                      <p:to>
                                        <p:strVal val="visible"/>
                                      </p:to>
                                    </p:set>
                                    <p:animEffect transition="in" filter="fade">
                                      <p:cBhvr>
                                        <p:cTn id="32" dur="1"/>
                                        <p:tgtEl>
                                          <p:spTgt spid="17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74">
                                            <p:txEl>
                                              <p:pRg st="6" end="6"/>
                                            </p:txEl>
                                          </p:spTgt>
                                        </p:tgtEl>
                                        <p:attrNameLst>
                                          <p:attrName>style.visibility</p:attrName>
                                        </p:attrNameLst>
                                      </p:cBhvr>
                                      <p:to>
                                        <p:strVal val="visible"/>
                                      </p:to>
                                    </p:set>
                                    <p:animEffect transition="in" filter="fade">
                                      <p:cBhvr>
                                        <p:cTn id="37" dur="1"/>
                                        <p:tgtEl>
                                          <p:spTgt spid="174">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74">
                                            <p:txEl>
                                              <p:pRg st="7" end="7"/>
                                            </p:txEl>
                                          </p:spTgt>
                                        </p:tgtEl>
                                        <p:attrNameLst>
                                          <p:attrName>style.visibility</p:attrName>
                                        </p:attrNameLst>
                                      </p:cBhvr>
                                      <p:to>
                                        <p:strVal val="visible"/>
                                      </p:to>
                                    </p:set>
                                    <p:animEffect transition="in" filter="fade">
                                      <p:cBhvr>
                                        <p:cTn id="42" dur="1"/>
                                        <p:tgtEl>
                                          <p:spTgt spid="174">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74">
                                            <p:txEl>
                                              <p:pRg st="8" end="8"/>
                                            </p:txEl>
                                          </p:spTgt>
                                        </p:tgtEl>
                                        <p:attrNameLst>
                                          <p:attrName>style.visibility</p:attrName>
                                        </p:attrNameLst>
                                      </p:cBhvr>
                                      <p:to>
                                        <p:strVal val="visible"/>
                                      </p:to>
                                    </p:set>
                                    <p:animEffect transition="in" filter="fade">
                                      <p:cBhvr>
                                        <p:cTn id="47" dur="1"/>
                                        <p:tgtEl>
                                          <p:spTgt spid="17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3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Popper continued</a:t>
            </a:r>
            <a:endParaRPr/>
          </a:p>
        </p:txBody>
      </p:sp>
      <p:sp>
        <p:nvSpPr>
          <p:cNvPr id="198" name="Google Shape;198;p3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Ingredients of a theory</a:t>
            </a:r>
            <a:endParaRPr dirty="0"/>
          </a:p>
          <a:p>
            <a:pPr marL="0" lvl="0" indent="0" algn="l" rtl="0">
              <a:spcBef>
                <a:spcPts val="1600"/>
              </a:spcBef>
              <a:spcAft>
                <a:spcPts val="0"/>
              </a:spcAft>
              <a:buNone/>
            </a:pPr>
            <a:r>
              <a:rPr lang="en" dirty="0"/>
              <a:t>4 Criteria to judge scientific theories</a:t>
            </a:r>
            <a:endParaRPr dirty="0"/>
          </a:p>
          <a:p>
            <a:pPr marL="457200" lvl="0" indent="-342900" algn="l" rtl="0">
              <a:spcBef>
                <a:spcPts val="1600"/>
              </a:spcBef>
              <a:spcAft>
                <a:spcPts val="0"/>
              </a:spcAft>
              <a:buSzPts val="1800"/>
              <a:buChar char="●"/>
            </a:pPr>
            <a:r>
              <a:rPr lang="en" dirty="0"/>
              <a:t>Internally valid</a:t>
            </a:r>
            <a:endParaRPr dirty="0"/>
          </a:p>
          <a:p>
            <a:pPr marL="457200" lvl="0" indent="-342900" algn="l" rtl="0">
              <a:spcBef>
                <a:spcPts val="0"/>
              </a:spcBef>
              <a:spcAft>
                <a:spcPts val="0"/>
              </a:spcAft>
              <a:buSzPts val="1800"/>
              <a:buChar char="●"/>
            </a:pPr>
            <a:r>
              <a:rPr lang="en" dirty="0"/>
              <a:t>Testable</a:t>
            </a:r>
            <a:endParaRPr dirty="0"/>
          </a:p>
          <a:p>
            <a:pPr marL="457200" lvl="0" indent="-342900" algn="l" rtl="0">
              <a:spcBef>
                <a:spcPts val="0"/>
              </a:spcBef>
              <a:spcAft>
                <a:spcPts val="0"/>
              </a:spcAft>
              <a:buSzPts val="1800"/>
              <a:buChar char="●"/>
            </a:pPr>
            <a:r>
              <a:rPr lang="en" dirty="0"/>
              <a:t>Popper’s chopper (falsifiable)</a:t>
            </a:r>
            <a:endParaRPr dirty="0"/>
          </a:p>
          <a:p>
            <a:pPr marL="457200" lvl="0" indent="-342900" algn="l" rtl="0">
              <a:spcBef>
                <a:spcPts val="0"/>
              </a:spcBef>
              <a:spcAft>
                <a:spcPts val="0"/>
              </a:spcAft>
              <a:buSzPts val="1800"/>
              <a:buChar char="●"/>
            </a:pPr>
            <a:r>
              <a:rPr lang="en" dirty="0"/>
              <a:t>Withstand repeated empirical testing</a:t>
            </a:r>
            <a:endParaRPr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39"/>
          <p:cNvSpPr txBox="1">
            <a:spLocks noGrp="1"/>
          </p:cNvSpPr>
          <p:nvPr>
            <p:ph type="title"/>
          </p:nvPr>
        </p:nvSpPr>
        <p:spPr>
          <a:xfrm>
            <a:off x="311700" y="112050"/>
            <a:ext cx="8520600" cy="905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Employment falls because of an increase in the min wage</a:t>
            </a:r>
            <a:endParaRPr dirty="0"/>
          </a:p>
        </p:txBody>
      </p:sp>
      <p:sp>
        <p:nvSpPr>
          <p:cNvPr id="213" name="Google Shape;213;p3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People are rational</a:t>
            </a:r>
            <a:endParaRPr/>
          </a:p>
          <a:p>
            <a:pPr marL="0" lvl="0" indent="0" algn="l" rtl="0">
              <a:spcBef>
                <a:spcPts val="1600"/>
              </a:spcBef>
              <a:spcAft>
                <a:spcPts val="0"/>
              </a:spcAft>
              <a:buNone/>
            </a:pPr>
            <a:r>
              <a:rPr lang="en"/>
              <a:t>People have complete information</a:t>
            </a:r>
            <a:endParaRPr/>
          </a:p>
          <a:p>
            <a:pPr marL="0" lvl="0" indent="0" algn="l" rtl="0">
              <a:spcBef>
                <a:spcPts val="1600"/>
              </a:spcBef>
              <a:spcAft>
                <a:spcPts val="0"/>
              </a:spcAft>
              <a:buNone/>
            </a:pPr>
            <a:r>
              <a:rPr lang="en"/>
              <a:t>People want to earn more money in order to satisfy other wants</a:t>
            </a:r>
            <a:endParaRPr/>
          </a:p>
          <a:p>
            <a:pPr marL="0" lvl="0" indent="0" algn="l" rtl="0">
              <a:spcBef>
                <a:spcPts val="1600"/>
              </a:spcBef>
              <a:spcAft>
                <a:spcPts val="0"/>
              </a:spcAft>
              <a:buNone/>
            </a:pPr>
            <a:r>
              <a:rPr lang="en"/>
              <a:t>Firms want to hire at lowest wage rate</a:t>
            </a:r>
            <a:endParaRPr/>
          </a:p>
          <a:p>
            <a:pPr marL="0" lvl="0" indent="0" algn="l" rtl="0">
              <a:spcBef>
                <a:spcPts val="1600"/>
              </a:spcBef>
              <a:spcAft>
                <a:spcPts val="0"/>
              </a:spcAft>
              <a:buClr>
                <a:schemeClr val="dk1"/>
              </a:buClr>
              <a:buSzPts val="1100"/>
              <a:buFont typeface="Arial"/>
              <a:buNone/>
            </a:pPr>
            <a:r>
              <a:rPr lang="en"/>
              <a:t>A wage above the equilibrium creates a labor shortage</a:t>
            </a:r>
            <a:endParaRPr/>
          </a:p>
          <a:p>
            <a:pPr marL="0" lvl="0" indent="0" algn="l" rtl="0">
              <a:spcBef>
                <a:spcPts val="1600"/>
              </a:spcBef>
              <a:spcAft>
                <a:spcPts val="0"/>
              </a:spcAft>
              <a:buClr>
                <a:schemeClr val="dk1"/>
              </a:buClr>
              <a:buSzPts val="1100"/>
              <a:buFont typeface="Arial"/>
              <a:buNone/>
            </a:pPr>
            <a:r>
              <a:rPr lang="en"/>
              <a:t>Min wage blocks the system from tending toward equilibrium</a:t>
            </a:r>
            <a:endParaRPr/>
          </a:p>
          <a:p>
            <a:pPr marL="0" lvl="0" indent="0" algn="l" rtl="0">
              <a:spcBef>
                <a:spcPts val="1600"/>
              </a:spcBef>
              <a:spcAft>
                <a:spcPts val="0"/>
              </a:spcAft>
              <a:buClr>
                <a:schemeClr val="dk1"/>
              </a:buClr>
              <a:buSzPts val="1100"/>
              <a:buFont typeface="Arial"/>
              <a:buNone/>
            </a:pPr>
            <a:endParaRPr/>
          </a:p>
          <a:p>
            <a:pPr marL="0" lvl="0" indent="0" algn="l" rtl="0">
              <a:spcBef>
                <a:spcPts val="1600"/>
              </a:spcBef>
              <a:spcAft>
                <a:spcPts val="1600"/>
              </a:spcAft>
              <a:buNone/>
            </a:pP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4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Internal Validity</a:t>
            </a:r>
            <a:endParaRPr/>
          </a:p>
        </p:txBody>
      </p:sp>
      <p:sp>
        <p:nvSpPr>
          <p:cNvPr id="219" name="Google Shape;219;p4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Theory consists of a set of foundational axioms (independent, free of contradiction) from which statements or logical conclusions may be deduced (hypotheses and predictions).</a:t>
            </a:r>
            <a:endParaRPr/>
          </a:p>
          <a:p>
            <a:pPr marL="0" lvl="0" indent="0" algn="l" rtl="0">
              <a:spcBef>
                <a:spcPts val="1600"/>
              </a:spcBef>
              <a:spcAft>
                <a:spcPts val="0"/>
              </a:spcAft>
              <a:buClr>
                <a:schemeClr val="dk1"/>
              </a:buClr>
              <a:buSzPts val="1100"/>
              <a:buFont typeface="Arial"/>
              <a:buNone/>
            </a:pPr>
            <a:r>
              <a:rPr lang="en"/>
              <a:t>Our theory of the consumer is axiomatic.  The statements provide the foundation for theory of demand.  They are logically consistent and other statements can be deduced i.e., demand is downward sloping.</a:t>
            </a:r>
            <a:endParaRPr/>
          </a:p>
          <a:p>
            <a:pPr marL="0" lvl="0" indent="0" algn="l" rtl="0">
              <a:spcBef>
                <a:spcPts val="1600"/>
              </a:spcBef>
              <a:spcAft>
                <a:spcPts val="0"/>
              </a:spcAft>
              <a:buNone/>
            </a:pPr>
            <a:r>
              <a:rPr lang="en"/>
              <a:t>Examples: completeness (able to compare all bundles), transitivity, complete information, utility and profit maximization</a:t>
            </a:r>
            <a:endParaRPr/>
          </a:p>
          <a:p>
            <a:pPr marL="0" lvl="0" indent="0" algn="l" rtl="0">
              <a:spcBef>
                <a:spcPts val="1600"/>
              </a:spcBef>
              <a:spcAft>
                <a:spcPts val="0"/>
              </a:spcAft>
              <a:buClr>
                <a:schemeClr val="dk1"/>
              </a:buClr>
              <a:buSzPts val="1100"/>
              <a:buFont typeface="Arial"/>
              <a:buNone/>
            </a:pPr>
            <a:endParaRPr/>
          </a:p>
          <a:p>
            <a:pPr marL="0" lvl="0" indent="0" algn="l" rtl="0">
              <a:spcBef>
                <a:spcPts val="1600"/>
              </a:spcBef>
              <a:spcAft>
                <a:spcPts val="1600"/>
              </a:spcAft>
              <a:buNone/>
            </a:pP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4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Min wage: Validity?</a:t>
            </a:r>
            <a:endParaRPr/>
          </a:p>
        </p:txBody>
      </p:sp>
      <p:sp>
        <p:nvSpPr>
          <p:cNvPr id="225" name="Google Shape;225;p41"/>
          <p:cNvSpPr txBox="1">
            <a:spLocks noGrp="1"/>
          </p:cNvSpPr>
          <p:nvPr>
            <p:ph type="body" idx="1"/>
          </p:nvPr>
        </p:nvSpPr>
        <p:spPr>
          <a:xfrm>
            <a:off x="311700" y="1152475"/>
            <a:ext cx="39228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Consumer theory - labor supply</a:t>
            </a:r>
            <a:endParaRPr/>
          </a:p>
          <a:p>
            <a:pPr marL="0" lvl="0" indent="0" algn="l" rtl="0">
              <a:spcBef>
                <a:spcPts val="1600"/>
              </a:spcBef>
              <a:spcAft>
                <a:spcPts val="1600"/>
              </a:spcAft>
              <a:buNone/>
            </a:pPr>
            <a:r>
              <a:rPr lang="en"/>
              <a:t>Production theory - labor demand</a:t>
            </a:r>
            <a:endParaRPr/>
          </a:p>
        </p:txBody>
      </p:sp>
      <p:pic>
        <p:nvPicPr>
          <p:cNvPr id="226" name="Google Shape;226;p41"/>
          <p:cNvPicPr preferRelativeResize="0"/>
          <p:nvPr/>
        </p:nvPicPr>
        <p:blipFill>
          <a:blip r:embed="rId3">
            <a:alphaModFix/>
          </a:blip>
          <a:stretch>
            <a:fillRect/>
          </a:stretch>
        </p:blipFill>
        <p:spPr>
          <a:xfrm>
            <a:off x="4330873" y="1313675"/>
            <a:ext cx="4636424" cy="32552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4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Testable</a:t>
            </a:r>
            <a:endParaRPr/>
          </a:p>
        </p:txBody>
      </p:sp>
      <p:sp>
        <p:nvSpPr>
          <p:cNvPr id="232" name="Google Shape;232;p4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“Secondly, there is the investigation of the logical form of the theory, with the objective of determining whether it has the character of an empirical or scientific theory, or whether it is, for example, tautological”</a:t>
            </a:r>
            <a:endParaRPr/>
          </a:p>
          <a:p>
            <a:pPr marL="0" lvl="0" indent="0" algn="l" rtl="0">
              <a:spcBef>
                <a:spcPts val="1600"/>
              </a:spcBef>
              <a:spcAft>
                <a:spcPts val="0"/>
              </a:spcAft>
              <a:buClr>
                <a:schemeClr val="dk1"/>
              </a:buClr>
              <a:buSzPts val="1100"/>
              <a:buFont typeface="Arial"/>
              <a:buNone/>
            </a:pPr>
            <a:r>
              <a:rPr lang="en"/>
              <a:t>3 requirements:</a:t>
            </a:r>
            <a:endParaRPr/>
          </a:p>
          <a:p>
            <a:pPr marL="457200" lvl="0" indent="-342900" algn="l" rtl="0">
              <a:spcBef>
                <a:spcPts val="1600"/>
              </a:spcBef>
              <a:spcAft>
                <a:spcPts val="0"/>
              </a:spcAft>
              <a:buSzPts val="1800"/>
              <a:buChar char="●"/>
            </a:pPr>
            <a:r>
              <a:rPr lang="en"/>
              <a:t>It must be a possible world</a:t>
            </a:r>
            <a:endParaRPr/>
          </a:p>
          <a:p>
            <a:pPr marL="457200" lvl="0" indent="-342900" algn="l" rtl="0">
              <a:spcBef>
                <a:spcPts val="0"/>
              </a:spcBef>
              <a:spcAft>
                <a:spcPts val="0"/>
              </a:spcAft>
              <a:buSzPts val="1800"/>
              <a:buChar char="●"/>
            </a:pPr>
            <a:r>
              <a:rPr lang="en"/>
              <a:t>Demarcation, measurable, able to experience.  Not metaphysical.</a:t>
            </a:r>
            <a:endParaRPr/>
          </a:p>
          <a:p>
            <a:pPr marL="457200" lvl="0" indent="-342900" algn="l" rtl="0">
              <a:spcBef>
                <a:spcPts val="0"/>
              </a:spcBef>
              <a:spcAft>
                <a:spcPts val="0"/>
              </a:spcAft>
              <a:buSzPts val="1800"/>
              <a:buChar char="●"/>
            </a:pPr>
            <a:r>
              <a:rPr lang="en"/>
              <a:t>Must be distinguishable as our world that we live in.</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2">
                                            <p:txEl>
                                              <p:pRg st="0" end="0"/>
                                            </p:txEl>
                                          </p:spTgt>
                                        </p:tgtEl>
                                        <p:attrNameLst>
                                          <p:attrName>style.visibility</p:attrName>
                                        </p:attrNameLst>
                                      </p:cBhvr>
                                      <p:to>
                                        <p:strVal val="visible"/>
                                      </p:to>
                                    </p:set>
                                    <p:animEffect transition="in" filter="fade">
                                      <p:cBhvr>
                                        <p:cTn id="7" dur="1"/>
                                        <p:tgtEl>
                                          <p:spTgt spid="23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32">
                                            <p:txEl>
                                              <p:pRg st="1" end="1"/>
                                            </p:txEl>
                                          </p:spTgt>
                                        </p:tgtEl>
                                        <p:attrNameLst>
                                          <p:attrName>style.visibility</p:attrName>
                                        </p:attrNameLst>
                                      </p:cBhvr>
                                      <p:to>
                                        <p:strVal val="visible"/>
                                      </p:to>
                                    </p:set>
                                    <p:animEffect transition="in" filter="fade">
                                      <p:cBhvr>
                                        <p:cTn id="12" dur="1"/>
                                        <p:tgtEl>
                                          <p:spTgt spid="23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32">
                                            <p:txEl>
                                              <p:pRg st="2" end="2"/>
                                            </p:txEl>
                                          </p:spTgt>
                                        </p:tgtEl>
                                        <p:attrNameLst>
                                          <p:attrName>style.visibility</p:attrName>
                                        </p:attrNameLst>
                                      </p:cBhvr>
                                      <p:to>
                                        <p:strVal val="visible"/>
                                      </p:to>
                                    </p:set>
                                    <p:animEffect transition="in" filter="fade">
                                      <p:cBhvr>
                                        <p:cTn id="17" dur="1"/>
                                        <p:tgtEl>
                                          <p:spTgt spid="23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32">
                                            <p:txEl>
                                              <p:pRg st="3" end="3"/>
                                            </p:txEl>
                                          </p:spTgt>
                                        </p:tgtEl>
                                        <p:attrNameLst>
                                          <p:attrName>style.visibility</p:attrName>
                                        </p:attrNameLst>
                                      </p:cBhvr>
                                      <p:to>
                                        <p:strVal val="visible"/>
                                      </p:to>
                                    </p:set>
                                    <p:animEffect transition="in" filter="fade">
                                      <p:cBhvr>
                                        <p:cTn id="22" dur="1"/>
                                        <p:tgtEl>
                                          <p:spTgt spid="23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32">
                                            <p:txEl>
                                              <p:pRg st="4" end="4"/>
                                            </p:txEl>
                                          </p:spTgt>
                                        </p:tgtEl>
                                        <p:attrNameLst>
                                          <p:attrName>style.visibility</p:attrName>
                                        </p:attrNameLst>
                                      </p:cBhvr>
                                      <p:to>
                                        <p:strVal val="visible"/>
                                      </p:to>
                                    </p:set>
                                    <p:animEffect transition="in" filter="fade">
                                      <p:cBhvr>
                                        <p:cTn id="27" dur="1"/>
                                        <p:tgtEl>
                                          <p:spTgt spid="23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4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Min wage: testable?</a:t>
            </a:r>
            <a:endParaRPr/>
          </a:p>
        </p:txBody>
      </p:sp>
      <p:sp>
        <p:nvSpPr>
          <p:cNvPr id="238" name="Google Shape;238;p4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a:t>We can observe wages and employment as well as the implementation of policy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4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Popper’s chopper (Occam’s razor)</a:t>
            </a:r>
            <a:endParaRPr dirty="0"/>
          </a:p>
        </p:txBody>
      </p:sp>
      <p:sp>
        <p:nvSpPr>
          <p:cNvPr id="244" name="Google Shape;244;p4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 theory that provides a more simple explanation (with fewer assumptions) is better</a:t>
            </a:r>
            <a:endParaRPr/>
          </a:p>
          <a:p>
            <a:pPr marL="0" lvl="0" indent="0" algn="l" rtl="0">
              <a:spcBef>
                <a:spcPts val="1600"/>
              </a:spcBef>
              <a:spcAft>
                <a:spcPts val="0"/>
              </a:spcAft>
              <a:buNone/>
            </a:pPr>
            <a:r>
              <a:rPr lang="en"/>
              <a:t>Why is popper so concerned with this?  </a:t>
            </a:r>
            <a:endParaRPr/>
          </a:p>
          <a:p>
            <a:pPr marL="457200" lvl="0" indent="-342900" algn="l" rtl="0">
              <a:spcBef>
                <a:spcPts val="1600"/>
              </a:spcBef>
              <a:spcAft>
                <a:spcPts val="0"/>
              </a:spcAft>
              <a:buSzPts val="1800"/>
              <a:buChar char="●"/>
            </a:pPr>
            <a:r>
              <a:rPr lang="en"/>
              <a:t>Because the simple theory is easier to falsify.  </a:t>
            </a:r>
            <a:endParaRPr/>
          </a:p>
          <a:p>
            <a:pPr marL="457200" lvl="0" indent="-342900" algn="l" rtl="0">
              <a:spcBef>
                <a:spcPts val="0"/>
              </a:spcBef>
              <a:spcAft>
                <a:spcPts val="0"/>
              </a:spcAft>
              <a:buSzPts val="1800"/>
              <a:buChar char="●"/>
            </a:pPr>
            <a:r>
              <a:rPr lang="en"/>
              <a:t>The experiment necessary to falsify requires fewer assumptions to be met.</a:t>
            </a:r>
            <a:endParaRPr/>
          </a:p>
          <a:p>
            <a:pPr marL="0" lvl="0" indent="0" algn="l" rtl="0">
              <a:spcBef>
                <a:spcPts val="1600"/>
              </a:spcBef>
              <a:spcAft>
                <a:spcPts val="0"/>
              </a:spcAft>
              <a:buClr>
                <a:schemeClr val="dk1"/>
              </a:buClr>
              <a:buSzPts val="1100"/>
              <a:buFont typeface="Arial"/>
              <a:buNone/>
            </a:pPr>
            <a:endParaRPr/>
          </a:p>
          <a:p>
            <a:pPr marL="0" lvl="0" indent="0" algn="l" rtl="0">
              <a:spcBef>
                <a:spcPts val="1600"/>
              </a:spcBef>
              <a:spcAft>
                <a:spcPts val="160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4">
                                            <p:txEl>
                                              <p:pRg st="0" end="0"/>
                                            </p:txEl>
                                          </p:spTgt>
                                        </p:tgtEl>
                                        <p:attrNameLst>
                                          <p:attrName>style.visibility</p:attrName>
                                        </p:attrNameLst>
                                      </p:cBhvr>
                                      <p:to>
                                        <p:strVal val="visible"/>
                                      </p:to>
                                    </p:set>
                                    <p:animEffect transition="in" filter="fade">
                                      <p:cBhvr>
                                        <p:cTn id="7" dur="1"/>
                                        <p:tgtEl>
                                          <p:spTgt spid="24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44">
                                            <p:txEl>
                                              <p:pRg st="1" end="1"/>
                                            </p:txEl>
                                          </p:spTgt>
                                        </p:tgtEl>
                                        <p:attrNameLst>
                                          <p:attrName>style.visibility</p:attrName>
                                        </p:attrNameLst>
                                      </p:cBhvr>
                                      <p:to>
                                        <p:strVal val="visible"/>
                                      </p:to>
                                    </p:set>
                                    <p:animEffect transition="in" filter="fade">
                                      <p:cBhvr>
                                        <p:cTn id="12" dur="1"/>
                                        <p:tgtEl>
                                          <p:spTgt spid="24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44">
                                            <p:txEl>
                                              <p:pRg st="2" end="2"/>
                                            </p:txEl>
                                          </p:spTgt>
                                        </p:tgtEl>
                                        <p:attrNameLst>
                                          <p:attrName>style.visibility</p:attrName>
                                        </p:attrNameLst>
                                      </p:cBhvr>
                                      <p:to>
                                        <p:strVal val="visible"/>
                                      </p:to>
                                    </p:set>
                                    <p:animEffect transition="in" filter="fade">
                                      <p:cBhvr>
                                        <p:cTn id="17" dur="1"/>
                                        <p:tgtEl>
                                          <p:spTgt spid="24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4">
                                            <p:txEl>
                                              <p:pRg st="3" end="3"/>
                                            </p:txEl>
                                          </p:spTgt>
                                        </p:tgtEl>
                                        <p:attrNameLst>
                                          <p:attrName>style.visibility</p:attrName>
                                        </p:attrNameLst>
                                      </p:cBhvr>
                                      <p:to>
                                        <p:strVal val="visible"/>
                                      </p:to>
                                    </p:set>
                                    <p:animEffect transition="in" filter="fade">
                                      <p:cBhvr>
                                        <p:cTn id="22" dur="1"/>
                                        <p:tgtEl>
                                          <p:spTgt spid="24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44">
                                            <p:txEl>
                                              <p:pRg st="4" end="4"/>
                                            </p:txEl>
                                          </p:spTgt>
                                        </p:tgtEl>
                                        <p:attrNameLst>
                                          <p:attrName>style.visibility</p:attrName>
                                        </p:attrNameLst>
                                      </p:cBhvr>
                                      <p:to>
                                        <p:strVal val="visible"/>
                                      </p:to>
                                    </p:set>
                                    <p:animEffect transition="in" filter="fade">
                                      <p:cBhvr>
                                        <p:cTn id="27" dur="1"/>
                                        <p:tgtEl>
                                          <p:spTgt spid="24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44">
                                            <p:txEl>
                                              <p:pRg st="5" end="5"/>
                                            </p:txEl>
                                          </p:spTgt>
                                        </p:tgtEl>
                                        <p:attrNameLst>
                                          <p:attrName>style.visibility</p:attrName>
                                        </p:attrNameLst>
                                      </p:cBhvr>
                                      <p:to>
                                        <p:strVal val="visible"/>
                                      </p:to>
                                    </p:set>
                                    <p:animEffect transition="in" filter="fade">
                                      <p:cBhvr>
                                        <p:cTn id="32" dur="1"/>
                                        <p:tgtEl>
                                          <p:spTgt spid="24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4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Min wage: simple?</a:t>
            </a:r>
            <a:endParaRPr/>
          </a:p>
        </p:txBody>
      </p:sp>
      <p:sp>
        <p:nvSpPr>
          <p:cNvPr id="250" name="Google Shape;250;p4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Are there alternative explanations (theories) of how the min wage would impact employment?</a:t>
            </a:r>
            <a:endParaRPr/>
          </a:p>
          <a:p>
            <a:pPr marL="0" lvl="0" indent="0" algn="l" rtl="0">
              <a:spcBef>
                <a:spcPts val="1600"/>
              </a:spcBef>
              <a:spcAft>
                <a:spcPts val="1600"/>
              </a:spcAft>
              <a:buNone/>
            </a:pPr>
            <a:r>
              <a:rPr lang="en"/>
              <a:t>If so, do they provide a simpler explanation of the effect?</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4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Withstand repeated empirical test</a:t>
            </a:r>
            <a:endParaRPr/>
          </a:p>
        </p:txBody>
      </p:sp>
      <p:sp>
        <p:nvSpPr>
          <p:cNvPr id="256" name="Google Shape;256;p4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The theory must survive repeated tests based on data collected from the world we experience.</a:t>
            </a:r>
            <a:endParaRPr/>
          </a:p>
          <a:p>
            <a:pPr marL="0" lvl="0" indent="0" algn="l" rtl="0">
              <a:spcBef>
                <a:spcPts val="1600"/>
              </a:spcBef>
              <a:spcAft>
                <a:spcPts val="0"/>
              </a:spcAft>
              <a:buClr>
                <a:schemeClr val="dk1"/>
              </a:buClr>
              <a:buSzPts val="1100"/>
              <a:buFont typeface="Arial"/>
              <a:buNone/>
            </a:pPr>
            <a:r>
              <a:rPr lang="en"/>
              <a:t>We must subject the minimum wage hypothesis to repeated empirical scrutiny.</a:t>
            </a:r>
            <a:endParaRPr/>
          </a:p>
          <a:p>
            <a:pPr marL="0" lvl="0" indent="0" algn="l" rtl="0">
              <a:spcBef>
                <a:spcPts val="1600"/>
              </a:spcBef>
              <a:spcAft>
                <a:spcPts val="1600"/>
              </a:spcAft>
              <a:buNone/>
            </a:pPr>
            <a:r>
              <a:rPr lang="en"/>
              <a:t>This can be particularly challenging in a discipline focused on human behavior where human behavior is often mediated through culture that may change over time.  In other words, the world we experience may itself be changing requiring us to modify theory over time.</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4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Min wage: withstand repeated testing?</a:t>
            </a:r>
            <a:endParaRPr/>
          </a:p>
        </p:txBody>
      </p:sp>
      <p:sp>
        <p:nvSpPr>
          <p:cNvPr id="262" name="Google Shape;262;p4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Min wage has seen a renewed attention.  </a:t>
            </a:r>
            <a:endParaRPr/>
          </a:p>
          <a:p>
            <a:pPr marL="0" lvl="0" indent="0" algn="l" rtl="0">
              <a:spcBef>
                <a:spcPts val="1600"/>
              </a:spcBef>
              <a:spcAft>
                <a:spcPts val="0"/>
              </a:spcAft>
              <a:buNone/>
            </a:pPr>
            <a:r>
              <a:rPr lang="en"/>
              <a:t>More empirical research finds little or no effect now.</a:t>
            </a:r>
            <a:endParaRPr/>
          </a:p>
          <a:p>
            <a:pPr marL="0" lvl="0" indent="0" algn="l" rtl="0">
              <a:spcBef>
                <a:spcPts val="1600"/>
              </a:spcBef>
              <a:spcAft>
                <a:spcPts val="1600"/>
              </a:spcAft>
              <a:buNone/>
            </a:pP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4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Min wage example</a:t>
            </a:r>
            <a:endParaRPr/>
          </a:p>
        </p:txBody>
      </p:sp>
      <p:sp>
        <p:nvSpPr>
          <p:cNvPr id="268" name="Google Shape;268;p4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Hypothesis: Assume simple (101) labor model, then minimum wage reduces employment relative to no policy case.</a:t>
            </a:r>
            <a:endParaRPr dirty="0"/>
          </a:p>
          <a:p>
            <a:pPr marL="0" lvl="0" indent="0" algn="l" rtl="0">
              <a:spcBef>
                <a:spcPts val="1600"/>
              </a:spcBef>
              <a:spcAft>
                <a:spcPts val="0"/>
              </a:spcAft>
              <a:buNone/>
            </a:pPr>
            <a:r>
              <a:rPr lang="en" dirty="0"/>
              <a:t>Prediction: If hypothesis is true, employment in Seattle should fall when minimum wage increased to $15/hr.</a:t>
            </a:r>
            <a:endParaRPr dirty="0"/>
          </a:p>
          <a:p>
            <a:pPr marL="0" lvl="0" indent="0" algn="l" rtl="0">
              <a:spcBef>
                <a:spcPts val="1600"/>
              </a:spcBef>
              <a:spcAft>
                <a:spcPts val="0"/>
              </a:spcAft>
              <a:buNone/>
            </a:pPr>
            <a:r>
              <a:rPr lang="en" dirty="0"/>
              <a:t>Test: We can empirically evaluate whether employment falls in response to minimum wage increase.  </a:t>
            </a:r>
            <a:endParaRPr dirty="0"/>
          </a:p>
          <a:p>
            <a:pPr marL="0" lvl="0" indent="0" algn="l" rtl="0">
              <a:spcBef>
                <a:spcPts val="1600"/>
              </a:spcBef>
              <a:spcAft>
                <a:spcPts val="1600"/>
              </a:spcAft>
              <a:buNone/>
            </a:pPr>
            <a:r>
              <a:rPr lang="en" dirty="0"/>
              <a:t>Use modus tollens: employment does not decline; therefore, hypothesis is not true.  Hypothesis is not true; therefore, axioms are not true.</a:t>
            </a:r>
            <a:endParaRPr dirty="0"/>
          </a:p>
        </p:txBody>
      </p:sp>
      <p:sp>
        <p:nvSpPr>
          <p:cNvPr id="269" name="Google Shape;269;p48">
            <a:hlinkClick r:id="rId3"/>
          </p:cNvPr>
          <p:cNvSpPr txBox="1"/>
          <p:nvPr/>
        </p:nvSpPr>
        <p:spPr>
          <a:xfrm>
            <a:off x="103000" y="4568875"/>
            <a:ext cx="88122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u="sng" dirty="0">
                <a:solidFill>
                  <a:schemeClr val="hlink"/>
                </a:solidFill>
                <a:hlinkClick r:id="rId3"/>
              </a:rPr>
              <a:t>https://www.cato.org/policy-analysis/making-sense-minimum-wage-roadmap-navigating-recent-research#research-on-the-long-history-of-u-s-minimum-wage-changes</a:t>
            </a:r>
            <a:r>
              <a:rPr lang="en" dirty="0"/>
              <a:t> </a:t>
            </a:r>
            <a:endParaRPr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4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Concluding thoughts</a:t>
            </a:r>
            <a:endParaRPr/>
          </a:p>
        </p:txBody>
      </p:sp>
      <p:sp>
        <p:nvSpPr>
          <p:cNvPr id="275" name="Google Shape;275;p49"/>
          <p:cNvSpPr txBox="1">
            <a:spLocks noGrp="1"/>
          </p:cNvSpPr>
          <p:nvPr>
            <p:ph type="body" idx="1"/>
          </p:nvPr>
        </p:nvSpPr>
        <p:spPr>
          <a:xfrm>
            <a:off x="311700" y="1017725"/>
            <a:ext cx="8520600" cy="4125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dirty="0"/>
              <a:t>Popper claims we must describe the rules of the method of science. What he means is a description of the context in which "science" occurs. </a:t>
            </a:r>
            <a:endParaRPr dirty="0"/>
          </a:p>
          <a:p>
            <a:pPr marL="457200" lvl="0" indent="-342900" algn="l" rtl="0">
              <a:spcBef>
                <a:spcPts val="1600"/>
              </a:spcBef>
              <a:spcAft>
                <a:spcPts val="0"/>
              </a:spcAft>
              <a:buSzPts val="1800"/>
              <a:buChar char="●"/>
            </a:pPr>
            <a:r>
              <a:rPr lang="en" dirty="0"/>
              <a:t>Science is without end</a:t>
            </a:r>
            <a:endParaRPr dirty="0"/>
          </a:p>
          <a:p>
            <a:pPr marL="457200" lvl="0" indent="-342900" algn="l" rtl="0">
              <a:spcBef>
                <a:spcPts val="0"/>
              </a:spcBef>
              <a:spcAft>
                <a:spcPts val="0"/>
              </a:spcAft>
              <a:buSzPts val="1800"/>
              <a:buChar char="●"/>
            </a:pPr>
            <a:r>
              <a:rPr lang="en" dirty="0"/>
              <a:t>The stock of knowledge evolves over time</a:t>
            </a:r>
            <a:endParaRPr dirty="0"/>
          </a:p>
          <a:p>
            <a:pPr marL="0" lvl="0" indent="0" algn="l" rtl="0">
              <a:spcBef>
                <a:spcPts val="1600"/>
              </a:spcBef>
              <a:spcAft>
                <a:spcPts val="0"/>
              </a:spcAft>
              <a:buClr>
                <a:schemeClr val="dk1"/>
              </a:buClr>
              <a:buSzPts val="1100"/>
              <a:buFont typeface="Arial"/>
              <a:buNone/>
            </a:pPr>
            <a:r>
              <a:rPr lang="en" dirty="0"/>
              <a:t>This systematic approach to science has two important implications:</a:t>
            </a:r>
            <a:endParaRPr dirty="0"/>
          </a:p>
          <a:p>
            <a:pPr marL="457200" lvl="0" indent="-342900" algn="l" rtl="0">
              <a:spcBef>
                <a:spcPts val="1600"/>
              </a:spcBef>
              <a:spcAft>
                <a:spcPts val="0"/>
              </a:spcAft>
              <a:buSzPts val="1800"/>
              <a:buChar char="●"/>
            </a:pPr>
            <a:r>
              <a:rPr lang="en" dirty="0"/>
              <a:t>No theory can be conclusively proven.</a:t>
            </a:r>
            <a:endParaRPr dirty="0"/>
          </a:p>
          <a:p>
            <a:pPr marL="457200" lvl="0" indent="-342900" algn="l" rtl="0">
              <a:spcBef>
                <a:spcPts val="0"/>
              </a:spcBef>
              <a:spcAft>
                <a:spcPts val="0"/>
              </a:spcAft>
              <a:buSzPts val="1800"/>
              <a:buChar char="●"/>
            </a:pPr>
            <a:r>
              <a:rPr lang="en" dirty="0"/>
              <a:t>No theory can conclusively be disproven.</a:t>
            </a:r>
            <a:endParaRPr dirty="0"/>
          </a:p>
          <a:p>
            <a:pPr marL="114300" lvl="0" indent="0" algn="l" rtl="0">
              <a:spcBef>
                <a:spcPts val="0"/>
              </a:spcBef>
              <a:spcAft>
                <a:spcPts val="0"/>
              </a:spcAft>
              <a:buSzPts val="1800"/>
              <a:buNone/>
            </a:pPr>
            <a:r>
              <a:rPr lang="en" dirty="0"/>
              <a:t>Modus ponens relies on the validity of the premise which cannot be proven or disproven.  </a:t>
            </a:r>
            <a:endParaRPr dirty="0"/>
          </a:p>
          <a:p>
            <a:pPr marL="114300" lvl="0" indent="0" algn="l" rtl="0">
              <a:spcBef>
                <a:spcPts val="0"/>
              </a:spcBef>
              <a:spcAft>
                <a:spcPts val="0"/>
              </a:spcAft>
              <a:buSzPts val="1800"/>
              <a:buNone/>
            </a:pPr>
            <a:r>
              <a:rPr lang="en" dirty="0"/>
              <a:t>Modus tollens does not test the theory directly – you cannot conclusively rule out other explanations.</a:t>
            </a:r>
            <a:endParaRPr dirty="0"/>
          </a:p>
          <a:p>
            <a:pPr marL="0" lvl="0" indent="0" algn="l" rtl="0">
              <a:spcBef>
                <a:spcPts val="1600"/>
              </a:spcBef>
              <a:spcAft>
                <a:spcPts val="0"/>
              </a:spcAft>
              <a:buClr>
                <a:schemeClr val="dk1"/>
              </a:buClr>
              <a:buSzPts val="1100"/>
              <a:buFont typeface="Arial"/>
              <a:buNone/>
            </a:pPr>
            <a:endParaRPr dirty="0"/>
          </a:p>
          <a:p>
            <a:pPr marL="0" lvl="0" indent="0" algn="l" rtl="0">
              <a:spcBef>
                <a:spcPts val="1600"/>
              </a:spcBef>
              <a:spcAft>
                <a:spcPts val="1600"/>
              </a:spcAft>
              <a:buNone/>
            </a:pPr>
            <a:endParaRPr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777DF-9786-5EDA-B1CB-88E29F72A070}"/>
              </a:ext>
            </a:extLst>
          </p:cNvPr>
          <p:cNvSpPr>
            <a:spLocks noGrp="1"/>
          </p:cNvSpPr>
          <p:nvPr>
            <p:ph type="title"/>
          </p:nvPr>
        </p:nvSpPr>
        <p:spPr/>
        <p:txBody>
          <a:bodyPr/>
          <a:lstStyle/>
          <a:p>
            <a:r>
              <a:rPr lang="en-US" dirty="0"/>
              <a:t>Popper’s critics</a:t>
            </a:r>
          </a:p>
        </p:txBody>
      </p:sp>
      <p:sp>
        <p:nvSpPr>
          <p:cNvPr id="3" name="Text Placeholder 2">
            <a:extLst>
              <a:ext uri="{FF2B5EF4-FFF2-40B4-BE49-F238E27FC236}">
                <a16:creationId xmlns:a16="http://schemas.microsoft.com/office/drawing/2014/main" id="{011628F5-7E14-17D7-EBBD-0C94278041D4}"/>
              </a:ext>
            </a:extLst>
          </p:cNvPr>
          <p:cNvSpPr>
            <a:spLocks noGrp="1"/>
          </p:cNvSpPr>
          <p:nvPr>
            <p:ph type="body" idx="1"/>
          </p:nvPr>
        </p:nvSpPr>
        <p:spPr/>
        <p:txBody>
          <a:bodyPr/>
          <a:lstStyle/>
          <a:p>
            <a:pPr>
              <a:spcAft>
                <a:spcPts val="1200"/>
              </a:spcAft>
            </a:pPr>
            <a:r>
              <a:rPr lang="en-US" dirty="0"/>
              <a:t>Falsification criteria is too strict. Evolutionary bio cannot be falsified</a:t>
            </a:r>
          </a:p>
          <a:p>
            <a:pPr>
              <a:spcAft>
                <a:spcPts val="1200"/>
              </a:spcAft>
            </a:pPr>
            <a:r>
              <a:rPr lang="en-US" dirty="0"/>
              <a:t>Deduction and testing is too idealized. Science uses induction, abduction, analogy, intuition.</a:t>
            </a:r>
          </a:p>
          <a:p>
            <a:pPr>
              <a:spcAft>
                <a:spcPts val="1200"/>
              </a:spcAft>
            </a:pPr>
            <a:r>
              <a:rPr lang="en-US" dirty="0"/>
              <a:t>Popper’s view of science is too simplistic and does not account for historical, social, and cultural factors that influence science</a:t>
            </a:r>
          </a:p>
          <a:p>
            <a:pPr marL="114300" indent="0">
              <a:buNone/>
            </a:pPr>
            <a:endParaRPr lang="en-US" dirty="0"/>
          </a:p>
        </p:txBody>
      </p:sp>
    </p:spTree>
    <p:extLst>
      <p:ext uri="{BB962C8B-B14F-4D97-AF65-F5344CB8AC3E}">
        <p14:creationId xmlns:p14="http://schemas.microsoft.com/office/powerpoint/2010/main" val="3294043409"/>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afb58802-ff7a-4bb1-ab21-367ff2ecfc8b}" enabled="0" method="" siteId="{afb58802-ff7a-4bb1-ab21-367ff2ecfc8b}" removed="1"/>
</clbl:labelList>
</file>

<file path=docProps/app.xml><?xml version="1.0" encoding="utf-8"?>
<Properties xmlns="http://schemas.openxmlformats.org/officeDocument/2006/extended-properties" xmlns:vt="http://schemas.openxmlformats.org/officeDocument/2006/docPropsVTypes">
  <TotalTime>48971</TotalTime>
  <Words>2367</Words>
  <Application>Microsoft Office PowerPoint</Application>
  <PresentationFormat>On-screen Show (16:9)</PresentationFormat>
  <Paragraphs>220</Paragraphs>
  <Slides>34</Slides>
  <Notes>33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34</vt:i4>
      </vt:variant>
    </vt:vector>
  </HeadingPairs>
  <TitlesOfParts>
    <vt:vector size="40" baseType="lpstr">
      <vt:lpstr>MS Mincho</vt:lpstr>
      <vt:lpstr>Arial</vt:lpstr>
      <vt:lpstr>Calibri</vt:lpstr>
      <vt:lpstr>Courier New</vt:lpstr>
      <vt:lpstr>Noto Sans Symbols</vt:lpstr>
      <vt:lpstr>Simple Light</vt:lpstr>
      <vt:lpstr>AREC 570 Slides</vt:lpstr>
      <vt:lpstr>Unit 1 Foundations of Economic Research</vt:lpstr>
      <vt:lpstr>Introduction Greenlaw Ch 1; Ethridge Ch 2; Popper</vt:lpstr>
      <vt:lpstr>Introduction</vt:lpstr>
      <vt:lpstr>What is economic research?</vt:lpstr>
      <vt:lpstr>Minimum wage example</vt:lpstr>
      <vt:lpstr>Ethridge: What research is and isn’t</vt:lpstr>
      <vt:lpstr>Basic and applied research</vt:lpstr>
      <vt:lpstr>What is the goal of economic research?  </vt:lpstr>
      <vt:lpstr>How do we do economic research?</vt:lpstr>
      <vt:lpstr>Research Process</vt:lpstr>
      <vt:lpstr>Creativity</vt:lpstr>
      <vt:lpstr>How do we evaluate economic research?</vt:lpstr>
      <vt:lpstr>Why should we study economic research methodology?</vt:lpstr>
      <vt:lpstr>Poppers Philosophy of Science</vt:lpstr>
      <vt:lpstr>Two modes of argument from philosophy</vt:lpstr>
      <vt:lpstr>Examples: valid or invalid logic?</vt:lpstr>
      <vt:lpstr>Examples</vt:lpstr>
      <vt:lpstr>Validity</vt:lpstr>
      <vt:lpstr>Soundness</vt:lpstr>
      <vt:lpstr>Inductive and Deductive Reasoning</vt:lpstr>
      <vt:lpstr>Popper continued</vt:lpstr>
      <vt:lpstr>Employment falls because of an increase in the min wage</vt:lpstr>
      <vt:lpstr>Internal Validity</vt:lpstr>
      <vt:lpstr>Min wage: Validity?</vt:lpstr>
      <vt:lpstr>Testable</vt:lpstr>
      <vt:lpstr>Min wage: testable?</vt:lpstr>
      <vt:lpstr>Popper’s chopper (Occam’s razor)</vt:lpstr>
      <vt:lpstr>Min wage: simple?</vt:lpstr>
      <vt:lpstr>Withstand repeated empirical test</vt:lpstr>
      <vt:lpstr>Min wage: withstand repeated testing?</vt:lpstr>
      <vt:lpstr>Min wage example</vt:lpstr>
      <vt:lpstr>Concluding thoughts</vt:lpstr>
      <vt:lpstr>Popper’s critics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AREC 570 Slides</dc:title>
  <dc:creator>Amanda Countryman</dc:creator>
  <cp:lastModifiedBy>Amanda Countryman</cp:lastModifiedBy>
  <cp:revision>264</cp:revision>
  <dcterms:modified xsi:type="dcterms:W3CDTF">2026-09-01T13:46:50Z</dcterms:modified>
</cp:coreProperties>
</file>