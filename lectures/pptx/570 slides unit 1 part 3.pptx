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7"/>
  </p:notesMasterIdLst>
  <p:sldIdLst>
    <p:sldId id="256" r:id="rId2"/>
    <p:sldId id="257" r:id="rId3"/>
    <p:sldId id="258" r:id="rId4"/>
    <p:sldId id="303" r:id="rId5"/>
    <p:sldId id="638" r:id="rId6"/>
    <p:sldId id="639" r:id="rId7"/>
    <p:sldId id="259" r:id="rId8"/>
    <p:sldId id="260" r:id="rId9"/>
    <p:sldId id="261" r:id="rId10"/>
    <p:sldId id="262" r:id="rId11"/>
    <p:sldId id="263" r:id="rId12"/>
    <p:sldId id="264" r:id="rId13"/>
    <p:sldId id="265" r:id="rId14"/>
    <p:sldId id="266" r:id="rId15"/>
    <p:sldId id="267" r:id="rId16"/>
    <p:sldId id="268" r:id="rId17"/>
    <p:sldId id="269" r:id="rId18"/>
    <p:sldId id="331" r:id="rId19"/>
    <p:sldId id="332" r:id="rId20"/>
    <p:sldId id="333" r:id="rId21"/>
    <p:sldId id="334" r:id="rId22"/>
    <p:sldId id="335" r:id="rId23"/>
    <p:sldId id="336" r:id="rId24"/>
    <p:sldId id="337" r:id="rId25"/>
    <p:sldId id="338" r:id="rId26"/>
    <p:sldId id="339" r:id="rId27"/>
    <p:sldId id="340" r:id="rId28"/>
    <p:sldId id="636" r:id="rId29"/>
    <p:sldId id="341" r:id="rId30"/>
    <p:sldId id="342" r:id="rId31"/>
    <p:sldId id="343" r:id="rId32"/>
    <p:sldId id="344" r:id="rId33"/>
    <p:sldId id="345" r:id="rId34"/>
    <p:sldId id="346" r:id="rId35"/>
    <p:sldId id="347"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564D34-5469-4405-A186-C07B38F38A30}" v="21" dt="2026-09-03T06:53:41.749"/>
  </p1510:revLst>
</p1510:revInfo>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56"/>
    <p:restoredTop sz="81741"/>
  </p:normalViewPr>
  <p:slideViewPr>
    <p:cSldViewPr snapToGrid="0">
      <p:cViewPr varScale="1">
        <p:scale>
          <a:sx n="80" d="100"/>
          <a:sy n="80" d="100"/>
        </p:scale>
        <p:origin x="1168" y="52"/>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Countryman" userId="0be1c61d-c610-49a2-ae7e-a4e60bd07712" providerId="ADAL" clId="{00873937-8841-4394-9081-668AB0E0F950}"/>
    <pc:docChg chg="undo custSel addSld delSld modSld">
      <pc:chgData name="Amanda Countryman" userId="0be1c61d-c610-49a2-ae7e-a4e60bd07712" providerId="ADAL" clId="{00873937-8841-4394-9081-668AB0E0F950}" dt="2026-09-03T15:15:59.787" v="209" actId="20577"/>
      <pc:docMkLst>
        <pc:docMk/>
      </pc:docMkLst>
      <pc:sldChg chg="delSp add del mod">
        <pc:chgData name="Amanda Countryman" userId="0be1c61d-c610-49a2-ae7e-a4e60bd07712" providerId="ADAL" clId="{00873937-8841-4394-9081-668AB0E0F950}" dt="2026-09-03T06:33:50.245" v="79" actId="478"/>
        <pc:sldMkLst>
          <pc:docMk/>
          <pc:sldMk cId="0" sldId="259"/>
        </pc:sldMkLst>
        <pc:spChg chg="del">
          <ac:chgData name="Amanda Countryman" userId="0be1c61d-c610-49a2-ae7e-a4e60bd07712" providerId="ADAL" clId="{00873937-8841-4394-9081-668AB0E0F950}" dt="2026-09-03T06:33:50.245" v="79" actId="478"/>
          <ac:spMkLst>
            <pc:docMk/>
            <pc:sldMk cId="0" sldId="259"/>
            <ac:spMk id="4" creationId="{00000000-0000-0000-0000-000000000000}"/>
          </ac:spMkLst>
        </pc:spChg>
      </pc:sldChg>
      <pc:sldChg chg="delSp add del mod">
        <pc:chgData name="Amanda Countryman" userId="0be1c61d-c610-49a2-ae7e-a4e60bd07712" providerId="ADAL" clId="{00873937-8841-4394-9081-668AB0E0F950}" dt="2026-09-03T06:33:55.804" v="80" actId="478"/>
        <pc:sldMkLst>
          <pc:docMk/>
          <pc:sldMk cId="0" sldId="260"/>
        </pc:sldMkLst>
        <pc:spChg chg="del">
          <ac:chgData name="Amanda Countryman" userId="0be1c61d-c610-49a2-ae7e-a4e60bd07712" providerId="ADAL" clId="{00873937-8841-4394-9081-668AB0E0F950}" dt="2026-09-03T06:33:55.804" v="80" actId="478"/>
          <ac:spMkLst>
            <pc:docMk/>
            <pc:sldMk cId="0" sldId="260"/>
            <ac:spMk id="4" creationId="{00000000-0000-0000-0000-000000000000}"/>
          </ac:spMkLst>
        </pc:spChg>
      </pc:sldChg>
      <pc:sldChg chg="delSp add del mod">
        <pc:chgData name="Amanda Countryman" userId="0be1c61d-c610-49a2-ae7e-a4e60bd07712" providerId="ADAL" clId="{00873937-8841-4394-9081-668AB0E0F950}" dt="2026-09-03T06:34:01.026" v="81" actId="478"/>
        <pc:sldMkLst>
          <pc:docMk/>
          <pc:sldMk cId="0" sldId="261"/>
        </pc:sldMkLst>
        <pc:spChg chg="del">
          <ac:chgData name="Amanda Countryman" userId="0be1c61d-c610-49a2-ae7e-a4e60bd07712" providerId="ADAL" clId="{00873937-8841-4394-9081-668AB0E0F950}" dt="2026-09-03T06:34:01.026" v="81" actId="478"/>
          <ac:spMkLst>
            <pc:docMk/>
            <pc:sldMk cId="0" sldId="261"/>
            <ac:spMk id="4" creationId="{00000000-0000-0000-0000-000000000000}"/>
          </ac:spMkLst>
        </pc:spChg>
      </pc:sldChg>
      <pc:sldChg chg="delSp add del mod">
        <pc:chgData name="Amanda Countryman" userId="0be1c61d-c610-49a2-ae7e-a4e60bd07712" providerId="ADAL" clId="{00873937-8841-4394-9081-668AB0E0F950}" dt="2026-09-03T06:34:05.277" v="82" actId="478"/>
        <pc:sldMkLst>
          <pc:docMk/>
          <pc:sldMk cId="0" sldId="262"/>
        </pc:sldMkLst>
        <pc:spChg chg="del">
          <ac:chgData name="Amanda Countryman" userId="0be1c61d-c610-49a2-ae7e-a4e60bd07712" providerId="ADAL" clId="{00873937-8841-4394-9081-668AB0E0F950}" dt="2026-09-03T06:34:05.277" v="82" actId="478"/>
          <ac:spMkLst>
            <pc:docMk/>
            <pc:sldMk cId="0" sldId="262"/>
            <ac:spMk id="4" creationId="{00000000-0000-0000-0000-000000000000}"/>
          </ac:spMkLst>
        </pc:spChg>
      </pc:sldChg>
      <pc:sldChg chg="delSp modSp add del mod">
        <pc:chgData name="Amanda Countryman" userId="0be1c61d-c610-49a2-ae7e-a4e60bd07712" providerId="ADAL" clId="{00873937-8841-4394-9081-668AB0E0F950}" dt="2026-09-03T06:33:29.543" v="76" actId="478"/>
        <pc:sldMkLst>
          <pc:docMk/>
          <pc:sldMk cId="0" sldId="263"/>
        </pc:sldMkLst>
        <pc:spChg chg="mod">
          <ac:chgData name="Amanda Countryman" userId="0be1c61d-c610-49a2-ae7e-a4e60bd07712" providerId="ADAL" clId="{00873937-8841-4394-9081-668AB0E0F950}" dt="2026-09-03T06:33:23.423" v="75" actId="20577"/>
          <ac:spMkLst>
            <pc:docMk/>
            <pc:sldMk cId="0" sldId="263"/>
            <ac:spMk id="3" creationId="{00000000-0000-0000-0000-000000000000}"/>
          </ac:spMkLst>
        </pc:spChg>
        <pc:spChg chg="del">
          <ac:chgData name="Amanda Countryman" userId="0be1c61d-c610-49a2-ae7e-a4e60bd07712" providerId="ADAL" clId="{00873937-8841-4394-9081-668AB0E0F950}" dt="2026-09-03T06:33:29.543" v="76" actId="478"/>
          <ac:spMkLst>
            <pc:docMk/>
            <pc:sldMk cId="0" sldId="263"/>
            <ac:spMk id="4" creationId="{00000000-0000-0000-0000-000000000000}"/>
          </ac:spMkLst>
        </pc:spChg>
      </pc:sldChg>
      <pc:sldChg chg="delSp add del mod">
        <pc:chgData name="Amanda Countryman" userId="0be1c61d-c610-49a2-ae7e-a4e60bd07712" providerId="ADAL" clId="{00873937-8841-4394-9081-668AB0E0F950}" dt="2026-09-03T06:34:26.117" v="83" actId="478"/>
        <pc:sldMkLst>
          <pc:docMk/>
          <pc:sldMk cId="0" sldId="264"/>
        </pc:sldMkLst>
        <pc:spChg chg="del">
          <ac:chgData name="Amanda Countryman" userId="0be1c61d-c610-49a2-ae7e-a4e60bd07712" providerId="ADAL" clId="{00873937-8841-4394-9081-668AB0E0F950}" dt="2026-09-03T06:34:26.117" v="83" actId="478"/>
          <ac:spMkLst>
            <pc:docMk/>
            <pc:sldMk cId="0" sldId="264"/>
            <ac:spMk id="4" creationId="{00000000-0000-0000-0000-000000000000}"/>
          </ac:spMkLst>
        </pc:spChg>
      </pc:sldChg>
      <pc:sldChg chg="delSp add del mod">
        <pc:chgData name="Amanda Countryman" userId="0be1c61d-c610-49a2-ae7e-a4e60bd07712" providerId="ADAL" clId="{00873937-8841-4394-9081-668AB0E0F950}" dt="2026-09-03T06:34:43.747" v="84" actId="478"/>
        <pc:sldMkLst>
          <pc:docMk/>
          <pc:sldMk cId="0" sldId="265"/>
        </pc:sldMkLst>
        <pc:spChg chg="del">
          <ac:chgData name="Amanda Countryman" userId="0be1c61d-c610-49a2-ae7e-a4e60bd07712" providerId="ADAL" clId="{00873937-8841-4394-9081-668AB0E0F950}" dt="2026-09-03T06:34:43.747" v="84" actId="478"/>
          <ac:spMkLst>
            <pc:docMk/>
            <pc:sldMk cId="0" sldId="265"/>
            <ac:spMk id="4" creationId="{00000000-0000-0000-0000-000000000000}"/>
          </ac:spMkLst>
        </pc:spChg>
      </pc:sldChg>
      <pc:sldChg chg="delSp add del mod">
        <pc:chgData name="Amanda Countryman" userId="0be1c61d-c610-49a2-ae7e-a4e60bd07712" providerId="ADAL" clId="{00873937-8841-4394-9081-668AB0E0F950}" dt="2026-09-03T06:35:08.176" v="85" actId="478"/>
        <pc:sldMkLst>
          <pc:docMk/>
          <pc:sldMk cId="0" sldId="266"/>
        </pc:sldMkLst>
        <pc:spChg chg="del">
          <ac:chgData name="Amanda Countryman" userId="0be1c61d-c610-49a2-ae7e-a4e60bd07712" providerId="ADAL" clId="{00873937-8841-4394-9081-668AB0E0F950}" dt="2026-09-03T06:35:08.176" v="85" actId="478"/>
          <ac:spMkLst>
            <pc:docMk/>
            <pc:sldMk cId="0" sldId="266"/>
            <ac:spMk id="4" creationId="{00000000-0000-0000-0000-000000000000}"/>
          </ac:spMkLst>
        </pc:spChg>
      </pc:sldChg>
      <pc:sldChg chg="delSp add del mod">
        <pc:chgData name="Amanda Countryman" userId="0be1c61d-c610-49a2-ae7e-a4e60bd07712" providerId="ADAL" clId="{00873937-8841-4394-9081-668AB0E0F950}" dt="2026-09-03T06:35:46.901" v="86" actId="478"/>
        <pc:sldMkLst>
          <pc:docMk/>
          <pc:sldMk cId="0" sldId="267"/>
        </pc:sldMkLst>
        <pc:spChg chg="del">
          <ac:chgData name="Amanda Countryman" userId="0be1c61d-c610-49a2-ae7e-a4e60bd07712" providerId="ADAL" clId="{00873937-8841-4394-9081-668AB0E0F950}" dt="2026-09-03T06:35:46.901" v="86" actId="478"/>
          <ac:spMkLst>
            <pc:docMk/>
            <pc:sldMk cId="0" sldId="267"/>
            <ac:spMk id="4" creationId="{00000000-0000-0000-0000-000000000000}"/>
          </ac:spMkLst>
        </pc:spChg>
      </pc:sldChg>
      <pc:sldChg chg="delSp add del mod">
        <pc:chgData name="Amanda Countryman" userId="0be1c61d-c610-49a2-ae7e-a4e60bd07712" providerId="ADAL" clId="{00873937-8841-4394-9081-668AB0E0F950}" dt="2026-09-03T06:36:08.848" v="87" actId="478"/>
        <pc:sldMkLst>
          <pc:docMk/>
          <pc:sldMk cId="0" sldId="268"/>
        </pc:sldMkLst>
        <pc:spChg chg="del">
          <ac:chgData name="Amanda Countryman" userId="0be1c61d-c610-49a2-ae7e-a4e60bd07712" providerId="ADAL" clId="{00873937-8841-4394-9081-668AB0E0F950}" dt="2026-09-03T06:36:08.848" v="87" actId="478"/>
          <ac:spMkLst>
            <pc:docMk/>
            <pc:sldMk cId="0" sldId="268"/>
            <ac:spMk id="4" creationId="{00000000-0000-0000-0000-000000000000}"/>
          </ac:spMkLst>
        </pc:spChg>
      </pc:sldChg>
      <pc:sldChg chg="delSp modSp add del mod">
        <pc:chgData name="Amanda Countryman" userId="0be1c61d-c610-49a2-ae7e-a4e60bd07712" providerId="ADAL" clId="{00873937-8841-4394-9081-668AB0E0F950}" dt="2026-09-03T06:37:34.732" v="102" actId="20577"/>
        <pc:sldMkLst>
          <pc:docMk/>
          <pc:sldMk cId="0" sldId="269"/>
        </pc:sldMkLst>
        <pc:spChg chg="mod">
          <ac:chgData name="Amanda Countryman" userId="0be1c61d-c610-49a2-ae7e-a4e60bd07712" providerId="ADAL" clId="{00873937-8841-4394-9081-668AB0E0F950}" dt="2026-09-03T06:37:34.732" v="102" actId="20577"/>
          <ac:spMkLst>
            <pc:docMk/>
            <pc:sldMk cId="0" sldId="269"/>
            <ac:spMk id="3" creationId="{00000000-0000-0000-0000-000000000000}"/>
          </ac:spMkLst>
        </pc:spChg>
        <pc:spChg chg="del">
          <ac:chgData name="Amanda Countryman" userId="0be1c61d-c610-49a2-ae7e-a4e60bd07712" providerId="ADAL" clId="{00873937-8841-4394-9081-668AB0E0F950}" dt="2026-09-03T06:36:32.257" v="88" actId="478"/>
          <ac:spMkLst>
            <pc:docMk/>
            <pc:sldMk cId="0" sldId="269"/>
            <ac:spMk id="4" creationId="{00000000-0000-0000-0000-000000000000}"/>
          </ac:spMkLst>
        </pc:spChg>
      </pc:sldChg>
      <pc:sldChg chg="add del">
        <pc:chgData name="Amanda Countryman" userId="0be1c61d-c610-49a2-ae7e-a4e60bd07712" providerId="ADAL" clId="{00873937-8841-4394-9081-668AB0E0F950}" dt="2026-09-03T06:37:39.173" v="103" actId="47"/>
        <pc:sldMkLst>
          <pc:docMk/>
          <pc:sldMk cId="0" sldId="270"/>
        </pc:sldMkLst>
      </pc:sldChg>
      <pc:sldChg chg="modSp add mod">
        <pc:chgData name="Amanda Countryman" userId="0be1c61d-c610-49a2-ae7e-a4e60bd07712" providerId="ADAL" clId="{00873937-8841-4394-9081-668AB0E0F950}" dt="2026-09-03T06:28:25.617" v="10" actId="20577"/>
        <pc:sldMkLst>
          <pc:docMk/>
          <pc:sldMk cId="0" sldId="303"/>
        </pc:sldMkLst>
        <pc:spChg chg="mod">
          <ac:chgData name="Amanda Countryman" userId="0be1c61d-c610-49a2-ae7e-a4e60bd07712" providerId="ADAL" clId="{00873937-8841-4394-9081-668AB0E0F950}" dt="2026-09-03T06:28:25.617" v="10" actId="20577"/>
          <ac:spMkLst>
            <pc:docMk/>
            <pc:sldMk cId="0" sldId="303"/>
            <ac:spMk id="338" creationId="{00000000-0000-0000-0000-000000000000}"/>
          </ac:spMkLst>
        </pc:spChg>
      </pc:sldChg>
      <pc:sldChg chg="modSp mod">
        <pc:chgData name="Amanda Countryman" userId="0be1c61d-c610-49a2-ae7e-a4e60bd07712" providerId="ADAL" clId="{00873937-8841-4394-9081-668AB0E0F950}" dt="2026-09-03T06:39:07.964" v="104" actId="20577"/>
        <pc:sldMkLst>
          <pc:docMk/>
          <pc:sldMk cId="0" sldId="335"/>
        </pc:sldMkLst>
        <pc:spChg chg="mod">
          <ac:chgData name="Amanda Countryman" userId="0be1c61d-c610-49a2-ae7e-a4e60bd07712" providerId="ADAL" clId="{00873937-8841-4394-9081-668AB0E0F950}" dt="2026-09-03T06:39:07.964" v="104" actId="20577"/>
          <ac:spMkLst>
            <pc:docMk/>
            <pc:sldMk cId="0" sldId="335"/>
            <ac:spMk id="528" creationId="{00000000-0000-0000-0000-000000000000}"/>
          </ac:spMkLst>
        </pc:spChg>
      </pc:sldChg>
      <pc:sldChg chg="modSp mod">
        <pc:chgData name="Amanda Countryman" userId="0be1c61d-c610-49a2-ae7e-a4e60bd07712" providerId="ADAL" clId="{00873937-8841-4394-9081-668AB0E0F950}" dt="2026-09-03T15:15:59.787" v="209" actId="20577"/>
        <pc:sldMkLst>
          <pc:docMk/>
          <pc:sldMk cId="0" sldId="336"/>
        </pc:sldMkLst>
        <pc:spChg chg="mod">
          <ac:chgData name="Amanda Countryman" userId="0be1c61d-c610-49a2-ae7e-a4e60bd07712" providerId="ADAL" clId="{00873937-8841-4394-9081-668AB0E0F950}" dt="2026-09-03T15:15:59.787" v="209" actId="20577"/>
          <ac:spMkLst>
            <pc:docMk/>
            <pc:sldMk cId="0" sldId="336"/>
            <ac:spMk id="534" creationId="{00000000-0000-0000-0000-000000000000}"/>
          </ac:spMkLst>
        </pc:spChg>
      </pc:sldChg>
      <pc:sldChg chg="addSp modSp mod modAnim">
        <pc:chgData name="Amanda Countryman" userId="0be1c61d-c610-49a2-ae7e-a4e60bd07712" providerId="ADAL" clId="{00873937-8841-4394-9081-668AB0E0F950}" dt="2026-09-03T06:51:54.236" v="194"/>
        <pc:sldMkLst>
          <pc:docMk/>
          <pc:sldMk cId="0" sldId="342"/>
        </pc:sldMkLst>
        <pc:spChg chg="add mod">
          <ac:chgData name="Amanda Countryman" userId="0be1c61d-c610-49a2-ae7e-a4e60bd07712" providerId="ADAL" clId="{00873937-8841-4394-9081-668AB0E0F950}" dt="2026-09-03T06:51:20.584" v="192" actId="20577"/>
          <ac:spMkLst>
            <pc:docMk/>
            <pc:sldMk cId="0" sldId="342"/>
            <ac:spMk id="2" creationId="{17E3D422-0636-F787-170C-5D90966F6DCB}"/>
          </ac:spMkLst>
        </pc:spChg>
        <pc:spChg chg="add mod">
          <ac:chgData name="Amanda Countryman" userId="0be1c61d-c610-49a2-ae7e-a4e60bd07712" providerId="ADAL" clId="{00873937-8841-4394-9081-668AB0E0F950}" dt="2026-09-03T06:46:20.538" v="118"/>
          <ac:spMkLst>
            <pc:docMk/>
            <pc:sldMk cId="0" sldId="342"/>
            <ac:spMk id="3" creationId="{CB7BFC88-3C61-6B78-A18E-5C116C3D238D}"/>
          </ac:spMkLst>
        </pc:spChg>
        <pc:spChg chg="mod">
          <ac:chgData name="Amanda Countryman" userId="0be1c61d-c610-49a2-ae7e-a4e60bd07712" providerId="ADAL" clId="{00873937-8841-4394-9081-668AB0E0F950}" dt="2026-09-03T06:50:39.887" v="178" actId="20577"/>
          <ac:spMkLst>
            <pc:docMk/>
            <pc:sldMk cId="0" sldId="342"/>
            <ac:spMk id="569" creationId="{00000000-0000-0000-0000-000000000000}"/>
          </ac:spMkLst>
        </pc:spChg>
      </pc:sldChg>
      <pc:sldChg chg="modSp add del mod">
        <pc:chgData name="Amanda Countryman" userId="0be1c61d-c610-49a2-ae7e-a4e60bd07712" providerId="ADAL" clId="{00873937-8841-4394-9081-668AB0E0F950}" dt="2026-09-03T06:53:43.069" v="202" actId="21"/>
        <pc:sldMkLst>
          <pc:docMk/>
          <pc:sldMk cId="0" sldId="343"/>
        </pc:sldMkLst>
        <pc:spChg chg="mod">
          <ac:chgData name="Amanda Countryman" userId="0be1c61d-c610-49a2-ae7e-a4e60bd07712" providerId="ADAL" clId="{00873937-8841-4394-9081-668AB0E0F950}" dt="2026-09-03T06:53:43.069" v="202" actId="21"/>
          <ac:spMkLst>
            <pc:docMk/>
            <pc:sldMk cId="0" sldId="343"/>
            <ac:spMk id="574" creationId="{00000000-0000-0000-0000-000000000000}"/>
          </ac:spMkLst>
        </pc:spChg>
      </pc:sldChg>
      <pc:sldChg chg="modSp mod">
        <pc:chgData name="Amanda Countryman" userId="0be1c61d-c610-49a2-ae7e-a4e60bd07712" providerId="ADAL" clId="{00873937-8841-4394-9081-668AB0E0F950}" dt="2026-09-03T06:53:40.432" v="201" actId="20577"/>
        <pc:sldMkLst>
          <pc:docMk/>
          <pc:sldMk cId="0" sldId="344"/>
        </pc:sldMkLst>
        <pc:spChg chg="mod">
          <ac:chgData name="Amanda Countryman" userId="0be1c61d-c610-49a2-ae7e-a4e60bd07712" providerId="ADAL" clId="{00873937-8841-4394-9081-668AB0E0F950}" dt="2026-09-03T06:53:40.432" v="201" actId="20577"/>
          <ac:spMkLst>
            <pc:docMk/>
            <pc:sldMk cId="0" sldId="344"/>
            <ac:spMk id="580" creationId="{00000000-0000-0000-0000-000000000000}"/>
          </ac:spMkLst>
        </pc:spChg>
      </pc:sldChg>
      <pc:sldChg chg="modSp mod">
        <pc:chgData name="Amanda Countryman" userId="0be1c61d-c610-49a2-ae7e-a4e60bd07712" providerId="ADAL" clId="{00873937-8841-4394-9081-668AB0E0F950}" dt="2026-09-03T06:57:57.772" v="207" actId="20577"/>
        <pc:sldMkLst>
          <pc:docMk/>
          <pc:sldMk cId="0" sldId="347"/>
        </pc:sldMkLst>
        <pc:spChg chg="mod">
          <ac:chgData name="Amanda Countryman" userId="0be1c61d-c610-49a2-ae7e-a4e60bd07712" providerId="ADAL" clId="{00873937-8841-4394-9081-668AB0E0F950}" dt="2026-09-03T06:57:57.772" v="207" actId="20577"/>
          <ac:spMkLst>
            <pc:docMk/>
            <pc:sldMk cId="0" sldId="347"/>
            <ac:spMk id="599" creationId="{00000000-0000-0000-0000-000000000000}"/>
          </ac:spMkLst>
        </pc:spChg>
      </pc:sldChg>
      <pc:sldChg chg="delSp add del mod">
        <pc:chgData name="Amanda Countryman" userId="0be1c61d-c610-49a2-ae7e-a4e60bd07712" providerId="ADAL" clId="{00873937-8841-4394-9081-668AB0E0F950}" dt="2026-09-03T06:30:54.648" v="31" actId="47"/>
        <pc:sldMkLst>
          <pc:docMk/>
          <pc:sldMk cId="0" sldId="637"/>
        </pc:sldMkLst>
        <pc:spChg chg="del">
          <ac:chgData name="Amanda Countryman" userId="0be1c61d-c610-49a2-ae7e-a4e60bd07712" providerId="ADAL" clId="{00873937-8841-4394-9081-668AB0E0F950}" dt="2026-09-03T06:30:45.374" v="30" actId="478"/>
          <ac:spMkLst>
            <pc:docMk/>
            <pc:sldMk cId="0" sldId="637"/>
            <ac:spMk id="4" creationId="{00000000-0000-0000-0000-000000000000}"/>
          </ac:spMkLst>
        </pc:spChg>
      </pc:sldChg>
      <pc:sldChg chg="delSp modSp add del mod">
        <pc:chgData name="Amanda Countryman" userId="0be1c61d-c610-49a2-ae7e-a4e60bd07712" providerId="ADAL" clId="{00873937-8841-4394-9081-668AB0E0F950}" dt="2026-09-03T06:33:40.619" v="77" actId="478"/>
        <pc:sldMkLst>
          <pc:docMk/>
          <pc:sldMk cId="0" sldId="638"/>
        </pc:sldMkLst>
        <pc:spChg chg="mod">
          <ac:chgData name="Amanda Countryman" userId="0be1c61d-c610-49a2-ae7e-a4e60bd07712" providerId="ADAL" clId="{00873937-8841-4394-9081-668AB0E0F950}" dt="2026-09-03T06:30:08.088" v="29" actId="113"/>
          <ac:spMkLst>
            <pc:docMk/>
            <pc:sldMk cId="0" sldId="638"/>
            <ac:spMk id="2" creationId="{00000000-0000-0000-0000-000000000000}"/>
          </ac:spMkLst>
        </pc:spChg>
        <pc:spChg chg="mod">
          <ac:chgData name="Amanda Countryman" userId="0be1c61d-c610-49a2-ae7e-a4e60bd07712" providerId="ADAL" clId="{00873937-8841-4394-9081-668AB0E0F950}" dt="2026-09-03T06:29:18.211" v="13" actId="20577"/>
          <ac:spMkLst>
            <pc:docMk/>
            <pc:sldMk cId="0" sldId="638"/>
            <ac:spMk id="3" creationId="{00000000-0000-0000-0000-000000000000}"/>
          </ac:spMkLst>
        </pc:spChg>
        <pc:spChg chg="del">
          <ac:chgData name="Amanda Countryman" userId="0be1c61d-c610-49a2-ae7e-a4e60bd07712" providerId="ADAL" clId="{00873937-8841-4394-9081-668AB0E0F950}" dt="2026-09-03T06:33:40.619" v="77" actId="478"/>
          <ac:spMkLst>
            <pc:docMk/>
            <pc:sldMk cId="0" sldId="638"/>
            <ac:spMk id="4" creationId="{00000000-0000-0000-0000-000000000000}"/>
          </ac:spMkLst>
        </pc:spChg>
      </pc:sldChg>
      <pc:sldChg chg="delSp add del mod">
        <pc:chgData name="Amanda Countryman" userId="0be1c61d-c610-49a2-ae7e-a4e60bd07712" providerId="ADAL" clId="{00873937-8841-4394-9081-668AB0E0F950}" dt="2026-09-03T06:33:45.481" v="78" actId="478"/>
        <pc:sldMkLst>
          <pc:docMk/>
          <pc:sldMk cId="0" sldId="639"/>
        </pc:sldMkLst>
        <pc:spChg chg="del">
          <ac:chgData name="Amanda Countryman" userId="0be1c61d-c610-49a2-ae7e-a4e60bd07712" providerId="ADAL" clId="{00873937-8841-4394-9081-668AB0E0F950}" dt="2026-09-03T06:33:45.481" v="78" actId="478"/>
          <ac:spMkLst>
            <pc:docMk/>
            <pc:sldMk cId="0" sldId="639"/>
            <ac:spMk id="4" creationId="{00000000-0000-0000-0000-000000000000}"/>
          </ac:spMkLst>
        </pc:spChg>
      </pc:sldChg>
      <pc:sldChg chg="new del">
        <pc:chgData name="Amanda Countryman" userId="0be1c61d-c610-49a2-ae7e-a4e60bd07712" providerId="ADAL" clId="{00873937-8841-4394-9081-668AB0E0F950}" dt="2026-09-03T06:28:29.518" v="11" actId="47"/>
        <pc:sldMkLst>
          <pc:docMk/>
          <pc:sldMk cId="4022627759" sldId="6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4a7460c34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a7460c34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ec935872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ec935872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eeff7729d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eeff7729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eeff7729d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eeff7729d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eeff7729d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eeff7729d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eeff7729d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eeff7729d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eeff7729d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eeff7729d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eeff7729dc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eeff7729dc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eeff7729dc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eeff7729dc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eeff7729d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eeff7729d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1511b7c4b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1511b7c4b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1511b7c4b0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1511b7c4b0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arguments: </a:t>
            </a:r>
            <a:endParaRPr/>
          </a:p>
          <a:p>
            <a:pPr marL="457200" lvl="0" indent="-298450" algn="l" rtl="0">
              <a:spcBef>
                <a:spcPts val="0"/>
              </a:spcBef>
              <a:spcAft>
                <a:spcPts val="0"/>
              </a:spcAft>
              <a:buSzPts val="1100"/>
              <a:buAutoNum type="arabicPeriod"/>
            </a:pPr>
            <a:r>
              <a:rPr lang="en"/>
              <a:t>pluralism provides epistemological benefits. It can help us understand where existing theory is weak</a:t>
            </a:r>
            <a:endParaRPr/>
          </a:p>
          <a:p>
            <a:pPr marL="457200" lvl="0" indent="-298450" algn="l" rtl="0">
              <a:spcBef>
                <a:spcPts val="0"/>
              </a:spcBef>
              <a:spcAft>
                <a:spcPts val="0"/>
              </a:spcAft>
              <a:buSzPts val="1100"/>
              <a:buAutoNum type="arabicPeriod"/>
            </a:pPr>
            <a:r>
              <a:rPr lang="en"/>
              <a:t>Reasonable pluralism has a place and the theories and methods are worth considering if other communities can be convinced they are justified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1511b7c4b0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1511b7c4b0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1511b7c4b0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1511b7c4b0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Complexity: complexity can be used as an argument for a unified theory so we do not waste time on developing dead ends</a:t>
            </a:r>
          </a:p>
          <a:p>
            <a:pPr marL="0" lvl="0" indent="0" algn="l" rtl="0">
              <a:spcBef>
                <a:spcPts val="0"/>
              </a:spcBef>
              <a:spcAft>
                <a:spcPts val="0"/>
              </a:spcAft>
              <a:buNone/>
            </a:pPr>
            <a:r>
              <a:rPr lang="en-US" dirty="0" err="1"/>
              <a:t>Congnitive</a:t>
            </a:r>
            <a:r>
              <a:rPr lang="en-US" dirty="0"/>
              <a:t> ability: humans are cognitively limited, so wouldn’t a unified framework help focus researchers saving them from complicated decisions about methods.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1511b7c4b0f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1511b7c4b0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511b7c4b0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511b7c4b0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1511b7c4b0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1511b7c4b0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Feels like Malthus argument all over again</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eeff7729d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eeff7729d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eeff7729d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eeff7729d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28751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1917225"/>
            <a:ext cx="8520600" cy="107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Unit 1</a:t>
            </a:r>
            <a:br>
              <a:rPr lang="en-US" dirty="0"/>
            </a:br>
            <a:r>
              <a:rPr lang="en-US" dirty="0"/>
              <a:t>Foundations of Economic Research</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What is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What is the goal of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How do we do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How do we evaluate economic research?</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Why should we study economic research methodology?</a:t>
            </a:r>
            <a:endParaRPr sz="2600"/>
          </a:p>
        </p:txBody>
      </p:sp>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Ethridge Chapter 4</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6949338" cy="438582"/>
          </a:xfrm>
          <a:prstGeom prst="rect">
            <a:avLst/>
          </a:prstGeom>
          <a:noFill/>
        </p:spPr>
        <p:txBody>
          <a:bodyPr wrap="none">
            <a:spAutoFit/>
          </a:bodyPr>
          <a:lstStyle/>
          <a:p>
            <a:pPr>
              <a:defRPr sz="3000" b="1"/>
            </a:pPr>
            <a:r>
              <a:rPr lang="en-US" sz="2250" dirty="0"/>
              <a:t>Overview: </a:t>
            </a:r>
            <a:r>
              <a:rPr sz="2250" dirty="0"/>
              <a:t>Why Philosophy Matters in Economics</a:t>
            </a:r>
          </a:p>
        </p:txBody>
      </p:sp>
      <p:sp>
        <p:nvSpPr>
          <p:cNvPr id="3" name="TextBox 2"/>
          <p:cNvSpPr txBox="1"/>
          <p:nvPr/>
        </p:nvSpPr>
        <p:spPr>
          <a:xfrm>
            <a:off x="582930" y="994410"/>
            <a:ext cx="8023860" cy="2676374"/>
          </a:xfrm>
          <a:prstGeom prst="rect">
            <a:avLst/>
          </a:prstGeom>
          <a:noFill/>
        </p:spPr>
        <p:txBody>
          <a:bodyPr wrap="square">
            <a:spAutoFit/>
          </a:bodyPr>
          <a:lstStyle/>
          <a:p>
            <a:pPr>
              <a:spcAft>
                <a:spcPts val="975"/>
              </a:spcAft>
              <a:defRPr sz="2100"/>
            </a:pPr>
            <a:r>
              <a:rPr lang="en-US" sz="1600" dirty="0"/>
              <a:t>Central question: What makes economic knowledge reliable—and useful?</a:t>
            </a:r>
          </a:p>
          <a:p>
            <a:pPr>
              <a:spcAft>
                <a:spcPts val="975"/>
              </a:spcAft>
              <a:defRPr sz="2100"/>
            </a:pPr>
            <a:endParaRPr lang="en-US" sz="1575" dirty="0"/>
          </a:p>
          <a:p>
            <a:pPr>
              <a:spcAft>
                <a:spcPts val="975"/>
              </a:spcAft>
              <a:defRPr sz="2100"/>
            </a:pPr>
            <a:r>
              <a:rPr sz="1575" dirty="0"/>
              <a:t>Philosophical beliefs influence which questions economists consider legitimate.</a:t>
            </a:r>
          </a:p>
          <a:p>
            <a:pPr>
              <a:spcAft>
                <a:spcPts val="975"/>
              </a:spcAft>
              <a:defRPr sz="2100"/>
            </a:pPr>
            <a:r>
              <a:rPr sz="1575" dirty="0"/>
              <a:t>They also influence research methods and ideas about what counts as reliable knowledge.</a:t>
            </a:r>
          </a:p>
          <a:p>
            <a:pPr>
              <a:spcAft>
                <a:spcPts val="975"/>
              </a:spcAft>
              <a:defRPr sz="2100"/>
            </a:pPr>
            <a:r>
              <a:rPr sz="1575" dirty="0"/>
              <a:t>No single philosophy adequately encompasses all economic research.</a:t>
            </a:r>
          </a:p>
          <a:p>
            <a:pPr>
              <a:spcAft>
                <a:spcPts val="975"/>
              </a:spcAft>
              <a:defRPr sz="2100"/>
            </a:pPr>
            <a:r>
              <a:rPr sz="1575" dirty="0"/>
              <a:t>The chapter emphasizes understanding and blending different approaches rather than choosing 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4737194" cy="438582"/>
          </a:xfrm>
          <a:prstGeom prst="rect">
            <a:avLst/>
          </a:prstGeom>
          <a:noFill/>
        </p:spPr>
        <p:txBody>
          <a:bodyPr wrap="none">
            <a:spAutoFit/>
          </a:bodyPr>
          <a:lstStyle/>
          <a:p>
            <a:pPr>
              <a:defRPr sz="3000" b="1"/>
            </a:pPr>
            <a:r>
              <a:rPr sz="2250"/>
              <a:t>Three Philosophical Foundations</a:t>
            </a:r>
          </a:p>
        </p:txBody>
      </p:sp>
      <p:sp>
        <p:nvSpPr>
          <p:cNvPr id="3" name="TextBox 2"/>
          <p:cNvSpPr txBox="1"/>
          <p:nvPr/>
        </p:nvSpPr>
        <p:spPr>
          <a:xfrm>
            <a:off x="582930" y="994410"/>
            <a:ext cx="8023860" cy="2173672"/>
          </a:xfrm>
          <a:prstGeom prst="rect">
            <a:avLst/>
          </a:prstGeom>
          <a:noFill/>
        </p:spPr>
        <p:txBody>
          <a:bodyPr wrap="square">
            <a:spAutoFit/>
          </a:bodyPr>
          <a:lstStyle/>
          <a:p>
            <a:pPr>
              <a:spcAft>
                <a:spcPts val="975"/>
              </a:spcAft>
              <a:defRPr sz="2100"/>
            </a:pPr>
            <a:r>
              <a:rPr sz="1575"/>
              <a:t>LOGICAL POSITIVISM — emphasizes observable evidence, measurement, and “what is.”</a:t>
            </a:r>
          </a:p>
          <a:p>
            <a:pPr>
              <a:spcAft>
                <a:spcPts val="975"/>
              </a:spcAft>
              <a:defRPr sz="2100"/>
            </a:pPr>
            <a:r>
              <a:rPr sz="1575"/>
              <a:t>OBJECTIVE NORMATIVISM — recognizes knowledge about values and the role of goals in prescriptions.</a:t>
            </a:r>
          </a:p>
          <a:p>
            <a:pPr>
              <a:spcAft>
                <a:spcPts val="975"/>
              </a:spcAft>
              <a:defRPr sz="2100"/>
            </a:pPr>
            <a:r>
              <a:rPr sz="1575"/>
              <a:t>PRAGMATISM — emphasizes relevance, usefulness, and whether an approach “works” for the problem.</a:t>
            </a:r>
          </a:p>
          <a:p>
            <a:pPr>
              <a:spcAft>
                <a:spcPts val="975"/>
              </a:spcAft>
              <a:defRPr sz="2100"/>
            </a:pPr>
            <a:r>
              <a:rPr sz="1575"/>
              <a:t>Economic research commonly combines elements of all three.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1" y="308610"/>
            <a:ext cx="3038011" cy="438582"/>
          </a:xfrm>
          <a:prstGeom prst="rect">
            <a:avLst/>
          </a:prstGeom>
          <a:noFill/>
        </p:spPr>
        <p:txBody>
          <a:bodyPr wrap="none">
            <a:spAutoFit/>
          </a:bodyPr>
          <a:lstStyle/>
          <a:p>
            <a:pPr>
              <a:defRPr sz="3000" b="1"/>
            </a:pPr>
            <a:r>
              <a:rPr sz="2250"/>
              <a:t>1. Logical Positivism</a:t>
            </a:r>
          </a:p>
        </p:txBody>
      </p:sp>
      <p:sp>
        <p:nvSpPr>
          <p:cNvPr id="3" name="TextBox 2"/>
          <p:cNvSpPr txBox="1"/>
          <p:nvPr/>
        </p:nvSpPr>
        <p:spPr>
          <a:xfrm>
            <a:off x="582930" y="994410"/>
            <a:ext cx="8023860" cy="2173672"/>
          </a:xfrm>
          <a:prstGeom prst="rect">
            <a:avLst/>
          </a:prstGeom>
          <a:noFill/>
        </p:spPr>
        <p:txBody>
          <a:bodyPr wrap="square">
            <a:spAutoFit/>
          </a:bodyPr>
          <a:lstStyle/>
          <a:p>
            <a:pPr>
              <a:spcAft>
                <a:spcPts val="975"/>
              </a:spcAft>
              <a:defRPr sz="2100"/>
            </a:pPr>
            <a:r>
              <a:rPr sz="1575"/>
              <a:t>Knowledge is grounded in observation, measurement, and logical extension of facts.</a:t>
            </a:r>
          </a:p>
          <a:p>
            <a:pPr>
              <a:spcAft>
                <a:spcPts val="975"/>
              </a:spcAft>
              <a:defRPr sz="2100"/>
            </a:pPr>
            <a:r>
              <a:rPr sz="1575"/>
              <a:t>Strong emphasis on empirical evidence, quantification, objectivity, and falsifiable propositions.</a:t>
            </a:r>
          </a:p>
          <a:p>
            <a:pPr>
              <a:spcAft>
                <a:spcPts val="975"/>
              </a:spcAft>
              <a:defRPr sz="2100"/>
            </a:pPr>
            <a:r>
              <a:rPr sz="1575"/>
              <a:t>Helped drive the development and use of statistical analysis and econometrics in economics.</a:t>
            </a:r>
          </a:p>
          <a:p>
            <a:pPr>
              <a:spcAft>
                <a:spcPts val="975"/>
              </a:spcAft>
              <a:defRPr sz="2100"/>
            </a:pPr>
            <a:r>
              <a:rPr sz="1575"/>
              <a:t>Limitation: many economically meaningful concepts are not directly observable; reasoning and conceptualization matter too.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3631122" cy="438582"/>
          </a:xfrm>
          <a:prstGeom prst="rect">
            <a:avLst/>
          </a:prstGeom>
          <a:noFill/>
        </p:spPr>
        <p:txBody>
          <a:bodyPr wrap="none">
            <a:spAutoFit/>
          </a:bodyPr>
          <a:lstStyle/>
          <a:p>
            <a:pPr>
              <a:defRPr sz="3000" b="1"/>
            </a:pPr>
            <a:r>
              <a:rPr sz="2250"/>
              <a:t>2. Objective Normativism</a:t>
            </a:r>
          </a:p>
        </p:txBody>
      </p:sp>
      <p:sp>
        <p:nvSpPr>
          <p:cNvPr id="3" name="TextBox 2"/>
          <p:cNvSpPr txBox="1"/>
          <p:nvPr/>
        </p:nvSpPr>
        <p:spPr>
          <a:xfrm>
            <a:off x="582930" y="994410"/>
            <a:ext cx="8023860" cy="1931298"/>
          </a:xfrm>
          <a:prstGeom prst="rect">
            <a:avLst/>
          </a:prstGeom>
          <a:noFill/>
        </p:spPr>
        <p:txBody>
          <a:bodyPr wrap="square">
            <a:spAutoFit/>
          </a:bodyPr>
          <a:lstStyle/>
          <a:p>
            <a:pPr>
              <a:spcAft>
                <a:spcPts val="975"/>
              </a:spcAft>
              <a:defRPr sz="2100"/>
            </a:pPr>
            <a:r>
              <a:rPr sz="1575"/>
              <a:t>Accepts that knowledge about values—such as welfare, efficiency, income, and quality of life—can be relevant and objective.</a:t>
            </a:r>
          </a:p>
          <a:p>
            <a:pPr>
              <a:spcAft>
                <a:spcPts val="975"/>
              </a:spcAft>
              <a:defRPr sz="2100"/>
            </a:pPr>
            <a:r>
              <a:rPr sz="1575"/>
              <a:t>Prescriptive analysis asks what should be done to accomplish specified goals.</a:t>
            </a:r>
          </a:p>
          <a:p>
            <a:pPr>
              <a:spcAft>
                <a:spcPts val="975"/>
              </a:spcAft>
              <a:defRPr sz="2100"/>
            </a:pPr>
            <a:r>
              <a:rPr sz="1575"/>
              <a:t>The key is to distinguish objective analysis from imposing the researcher's personal values.</a:t>
            </a:r>
          </a:p>
          <a:p>
            <a:pPr>
              <a:spcAft>
                <a:spcPts val="975"/>
              </a:spcAft>
              <a:defRPr sz="2100"/>
            </a:pPr>
            <a:r>
              <a:rPr sz="1575"/>
              <a:t>Especially important in policy, management, and problem-solving research.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2156360" cy="438582"/>
          </a:xfrm>
          <a:prstGeom prst="rect">
            <a:avLst/>
          </a:prstGeom>
          <a:noFill/>
        </p:spPr>
        <p:txBody>
          <a:bodyPr wrap="none">
            <a:spAutoFit/>
          </a:bodyPr>
          <a:lstStyle/>
          <a:p>
            <a:pPr>
              <a:defRPr sz="3000" b="1"/>
            </a:pPr>
            <a:r>
              <a:rPr sz="2250"/>
              <a:t>3. Pragmatism</a:t>
            </a:r>
          </a:p>
        </p:txBody>
      </p:sp>
      <p:sp>
        <p:nvSpPr>
          <p:cNvPr id="3" name="TextBox 2"/>
          <p:cNvSpPr txBox="1"/>
          <p:nvPr/>
        </p:nvSpPr>
        <p:spPr>
          <a:xfrm>
            <a:off x="582930" y="994410"/>
            <a:ext cx="8023860" cy="1931298"/>
          </a:xfrm>
          <a:prstGeom prst="rect">
            <a:avLst/>
          </a:prstGeom>
          <a:noFill/>
        </p:spPr>
        <p:txBody>
          <a:bodyPr wrap="square">
            <a:spAutoFit/>
          </a:bodyPr>
          <a:lstStyle/>
          <a:p>
            <a:pPr>
              <a:spcAft>
                <a:spcPts val="975"/>
              </a:spcAft>
              <a:defRPr sz="2100"/>
            </a:pPr>
            <a:r>
              <a:rPr sz="1575"/>
              <a:t>Judges knowledge partly by how well it works in solving the problem at hand.</a:t>
            </a:r>
          </a:p>
          <a:p>
            <a:pPr>
              <a:spcAft>
                <a:spcPts val="975"/>
              </a:spcAft>
              <a:defRPr sz="2100"/>
            </a:pPr>
            <a:r>
              <a:rPr sz="1575"/>
              <a:t>Emphasizes relevance, applicability, and “workability.”</a:t>
            </a:r>
          </a:p>
          <a:p>
            <a:pPr>
              <a:spcAft>
                <a:spcPts val="975"/>
              </a:spcAft>
              <a:defRPr sz="2100"/>
            </a:pPr>
            <a:r>
              <a:rPr sz="1575"/>
              <a:t>Treats value-free knowledge and knowledge of values as interdependent in practical research.</a:t>
            </a:r>
          </a:p>
          <a:p>
            <a:pPr>
              <a:spcAft>
                <a:spcPts val="975"/>
              </a:spcAft>
              <a:defRPr sz="2100"/>
            </a:pPr>
            <a:r>
              <a:rPr sz="1575"/>
              <a:t>Particularly influential in applied and problem-solving economics; institutional economics reflects this tradition.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5554726" cy="438582"/>
          </a:xfrm>
          <a:prstGeom prst="rect">
            <a:avLst/>
          </a:prstGeom>
          <a:noFill/>
        </p:spPr>
        <p:txBody>
          <a:bodyPr wrap="none">
            <a:spAutoFit/>
          </a:bodyPr>
          <a:lstStyle/>
          <a:p>
            <a:pPr>
              <a:defRPr sz="3000" b="1"/>
            </a:pPr>
            <a:r>
              <a:rPr sz="2250"/>
              <a:t>The Three Philosophies Work Together</a:t>
            </a:r>
          </a:p>
        </p:txBody>
      </p:sp>
      <p:sp>
        <p:nvSpPr>
          <p:cNvPr id="3" name="TextBox 2"/>
          <p:cNvSpPr txBox="1"/>
          <p:nvPr/>
        </p:nvSpPr>
        <p:spPr>
          <a:xfrm>
            <a:off x="582930" y="994410"/>
            <a:ext cx="8023860" cy="1931298"/>
          </a:xfrm>
          <a:prstGeom prst="rect">
            <a:avLst/>
          </a:prstGeom>
          <a:noFill/>
        </p:spPr>
        <p:txBody>
          <a:bodyPr wrap="square">
            <a:spAutoFit/>
          </a:bodyPr>
          <a:lstStyle/>
          <a:p>
            <a:pPr>
              <a:spcAft>
                <a:spcPts val="975"/>
              </a:spcAft>
              <a:defRPr sz="2100"/>
            </a:pPr>
            <a:r>
              <a:rPr sz="1575"/>
              <a:t>Economics is a problem-solving, decision-oriented discipline.</a:t>
            </a:r>
          </a:p>
          <a:p>
            <a:pPr>
              <a:spcAft>
                <a:spcPts val="975"/>
              </a:spcAft>
              <a:defRPr sz="2100"/>
            </a:pPr>
            <a:r>
              <a:rPr sz="1575"/>
              <a:t>Disciplinary research tends to place greater emphasis on logical positivism and objective normativism.</a:t>
            </a:r>
          </a:p>
          <a:p>
            <a:pPr>
              <a:spcAft>
                <a:spcPts val="975"/>
              </a:spcAft>
              <a:defRPr sz="2100"/>
            </a:pPr>
            <a:r>
              <a:rPr sz="1575"/>
              <a:t>Subject-matter research draws from all three.</a:t>
            </a:r>
          </a:p>
          <a:p>
            <a:pPr>
              <a:spcAft>
                <a:spcPts val="975"/>
              </a:spcAft>
              <a:defRPr sz="2100"/>
            </a:pPr>
            <a:r>
              <a:rPr sz="1575"/>
              <a:t>Problem-solving research relies especially heavily on pragmatism, while still requiring sound theory and appropriate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7478329" cy="438582"/>
          </a:xfrm>
          <a:prstGeom prst="rect">
            <a:avLst/>
          </a:prstGeom>
          <a:noFill/>
        </p:spPr>
        <p:txBody>
          <a:bodyPr wrap="none">
            <a:spAutoFit/>
          </a:bodyPr>
          <a:lstStyle/>
          <a:p>
            <a:pPr>
              <a:defRPr sz="3000" b="1"/>
            </a:pPr>
            <a:r>
              <a:rPr sz="2250"/>
              <a:t>A Key Warning: Data Do Not “Speak for Themselves”</a:t>
            </a:r>
          </a:p>
        </p:txBody>
      </p:sp>
      <p:sp>
        <p:nvSpPr>
          <p:cNvPr id="3" name="TextBox 2"/>
          <p:cNvSpPr txBox="1"/>
          <p:nvPr/>
        </p:nvSpPr>
        <p:spPr>
          <a:xfrm>
            <a:off x="582930" y="994410"/>
            <a:ext cx="8023860" cy="2301912"/>
          </a:xfrm>
          <a:prstGeom prst="rect">
            <a:avLst/>
          </a:prstGeom>
          <a:noFill/>
        </p:spPr>
        <p:txBody>
          <a:bodyPr wrap="square">
            <a:spAutoFit/>
          </a:bodyPr>
          <a:lstStyle/>
          <a:p>
            <a:pPr>
              <a:spcAft>
                <a:spcPts val="975"/>
              </a:spcAft>
              <a:defRPr sz="2100"/>
            </a:pPr>
            <a:r>
              <a:rPr sz="1575" dirty="0"/>
              <a:t>Economic data and estimated relationships depend on the conditions under which they were generated.</a:t>
            </a:r>
            <a:endParaRPr lang="en-US" sz="1575" dirty="0"/>
          </a:p>
          <a:p>
            <a:pPr>
              <a:spcAft>
                <a:spcPts val="975"/>
              </a:spcAft>
              <a:defRPr sz="2100"/>
            </a:pPr>
            <a:r>
              <a:rPr lang="en-US" sz="1575" dirty="0"/>
              <a:t>Assumptions matter!</a:t>
            </a:r>
            <a:endParaRPr sz="1575" dirty="0"/>
          </a:p>
          <a:p>
            <a:pPr>
              <a:spcAft>
                <a:spcPts val="975"/>
              </a:spcAft>
              <a:defRPr sz="2100"/>
            </a:pPr>
            <a:r>
              <a:rPr sz="1575" dirty="0"/>
              <a:t>Researchers must interpret results and clarify assumptions and conditions.</a:t>
            </a:r>
          </a:p>
          <a:p>
            <a:pPr>
              <a:spcAft>
                <a:spcPts val="975"/>
              </a:spcAft>
              <a:defRPr sz="2100"/>
            </a:pPr>
            <a:r>
              <a:rPr sz="1575" dirty="0"/>
              <a:t>Interpretation can introduce normative elements—but </a:t>
            </a:r>
            <a:r>
              <a:rPr lang="en-US" sz="1575" dirty="0"/>
              <a:t>Ethridge</a:t>
            </a:r>
            <a:r>
              <a:rPr sz="1575" dirty="0"/>
              <a:t> argues this can be valuable when done objectively.</a:t>
            </a:r>
          </a:p>
          <a:p>
            <a:pPr>
              <a:spcAft>
                <a:spcPts val="975"/>
              </a:spcAft>
              <a:defRPr sz="2100"/>
            </a:pPr>
            <a:r>
              <a:rPr sz="1575" dirty="0"/>
              <a:t>Empirical evidence alone is not sufficient for economic conclusions or prescriptions.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5875326" cy="438582"/>
          </a:xfrm>
          <a:prstGeom prst="rect">
            <a:avLst/>
          </a:prstGeom>
          <a:noFill/>
        </p:spPr>
        <p:txBody>
          <a:bodyPr wrap="none">
            <a:spAutoFit/>
          </a:bodyPr>
          <a:lstStyle/>
          <a:p>
            <a:pPr>
              <a:defRPr sz="3000" b="1"/>
            </a:pPr>
            <a:r>
              <a:rPr sz="2250"/>
              <a:t>Empiricism and the Rise of Econometrics</a:t>
            </a:r>
          </a:p>
        </p:txBody>
      </p:sp>
      <p:sp>
        <p:nvSpPr>
          <p:cNvPr id="3" name="TextBox 2"/>
          <p:cNvSpPr txBox="1"/>
          <p:nvPr/>
        </p:nvSpPr>
        <p:spPr>
          <a:xfrm>
            <a:off x="582930" y="994410"/>
            <a:ext cx="8023860" cy="1688924"/>
          </a:xfrm>
          <a:prstGeom prst="rect">
            <a:avLst/>
          </a:prstGeom>
          <a:noFill/>
        </p:spPr>
        <p:txBody>
          <a:bodyPr wrap="square">
            <a:spAutoFit/>
          </a:bodyPr>
          <a:lstStyle/>
          <a:p>
            <a:pPr>
              <a:spcAft>
                <a:spcPts val="975"/>
              </a:spcAft>
              <a:defRPr sz="2100"/>
            </a:pPr>
            <a:r>
              <a:rPr sz="1575"/>
              <a:t>Increasing availability of economic data encouraged measurement and quantification.</a:t>
            </a:r>
          </a:p>
          <a:p>
            <a:pPr>
              <a:spcAft>
                <a:spcPts val="975"/>
              </a:spcAft>
              <a:defRPr sz="2100"/>
            </a:pPr>
            <a:r>
              <a:rPr sz="1575"/>
              <a:t>Statistical methods and economic theory became increasingly integrated.</a:t>
            </a:r>
          </a:p>
          <a:p>
            <a:pPr>
              <a:spcAft>
                <a:spcPts val="975"/>
              </a:spcAft>
              <a:defRPr sz="2100"/>
            </a:pPr>
            <a:r>
              <a:rPr sz="1575"/>
              <a:t>This integration produced econometrics as a major tool of economic research.</a:t>
            </a:r>
          </a:p>
          <a:p>
            <a:pPr>
              <a:spcAft>
                <a:spcPts val="975"/>
              </a:spcAft>
              <a:defRPr sz="2100"/>
            </a:pPr>
            <a:r>
              <a:rPr sz="1575"/>
              <a:t>Econometrics combines empirical data, measurement, statistical analysis, and economic theory—making it both positivistic and pragmatic.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5442516" cy="438582"/>
          </a:xfrm>
          <a:prstGeom prst="rect">
            <a:avLst/>
          </a:prstGeom>
          <a:noFill/>
        </p:spPr>
        <p:txBody>
          <a:bodyPr wrap="none">
            <a:spAutoFit/>
          </a:bodyPr>
          <a:lstStyle/>
          <a:p>
            <a:pPr>
              <a:defRPr sz="3000" b="1"/>
            </a:pPr>
            <a:r>
              <a:rPr sz="2250"/>
              <a:t>The Scientific Approach in Economics</a:t>
            </a:r>
          </a:p>
        </p:txBody>
      </p:sp>
      <p:sp>
        <p:nvSpPr>
          <p:cNvPr id="3" name="TextBox 2"/>
          <p:cNvSpPr txBox="1"/>
          <p:nvPr/>
        </p:nvSpPr>
        <p:spPr>
          <a:xfrm>
            <a:off x="582930" y="994410"/>
            <a:ext cx="8023860" cy="2187778"/>
          </a:xfrm>
          <a:prstGeom prst="rect">
            <a:avLst/>
          </a:prstGeom>
          <a:noFill/>
        </p:spPr>
        <p:txBody>
          <a:bodyPr wrap="square">
            <a:spAutoFit/>
          </a:bodyPr>
          <a:lstStyle/>
          <a:p>
            <a:pPr>
              <a:spcAft>
                <a:spcPts val="975"/>
              </a:spcAft>
              <a:defRPr sz="2100"/>
            </a:pPr>
            <a:r>
              <a:rPr sz="1575"/>
              <a:t>1. Identify the problem, issue, or question.</a:t>
            </a:r>
          </a:p>
          <a:p>
            <a:pPr>
              <a:spcAft>
                <a:spcPts val="975"/>
              </a:spcAft>
              <a:defRPr sz="2100"/>
            </a:pPr>
            <a:r>
              <a:rPr sz="1575"/>
              <a:t>2. Define research objectives.</a:t>
            </a:r>
          </a:p>
          <a:p>
            <a:pPr>
              <a:spcAft>
                <a:spcPts val="975"/>
              </a:spcAft>
              <a:defRPr sz="2100"/>
            </a:pPr>
            <a:r>
              <a:rPr sz="1575"/>
              <a:t>3. Develop approaches, hypotheses, or alternative solutions.</a:t>
            </a:r>
          </a:p>
          <a:p>
            <a:pPr>
              <a:spcAft>
                <a:spcPts val="975"/>
              </a:spcAft>
              <a:defRPr sz="2100"/>
            </a:pPr>
            <a:r>
              <a:rPr sz="1575"/>
              <a:t>4. Conduct analysis and evaluate information.</a:t>
            </a:r>
          </a:p>
          <a:p>
            <a:pPr>
              <a:spcAft>
                <a:spcPts val="975"/>
              </a:spcAft>
              <a:defRPr sz="2100"/>
            </a:pPr>
            <a:r>
              <a:rPr sz="1575"/>
              <a:t>5. Interpret results, draw conclusions, and prescribe when appropriate.</a:t>
            </a:r>
          </a:p>
          <a:p>
            <a:pPr>
              <a:spcAft>
                <a:spcPts val="975"/>
              </a:spcAft>
              <a:defRPr sz="2100"/>
            </a:pPr>
            <a:r>
              <a:rPr sz="1575"/>
              <a:t>These are guidelines—not an inflexible, lockstep procedure.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3454792" cy="438582"/>
          </a:xfrm>
          <a:prstGeom prst="rect">
            <a:avLst/>
          </a:prstGeom>
          <a:noFill/>
        </p:spPr>
        <p:txBody>
          <a:bodyPr wrap="none">
            <a:spAutoFit/>
          </a:bodyPr>
          <a:lstStyle/>
          <a:p>
            <a:pPr>
              <a:defRPr sz="3000" b="1"/>
            </a:pPr>
            <a:r>
              <a:rPr sz="2250"/>
              <a:t>Deduction vs. Induction</a:t>
            </a:r>
          </a:p>
        </p:txBody>
      </p:sp>
      <p:sp>
        <p:nvSpPr>
          <p:cNvPr id="3" name="TextBox 2"/>
          <p:cNvSpPr txBox="1"/>
          <p:nvPr/>
        </p:nvSpPr>
        <p:spPr>
          <a:xfrm>
            <a:off x="582930" y="994410"/>
            <a:ext cx="8023860" cy="1817164"/>
          </a:xfrm>
          <a:prstGeom prst="rect">
            <a:avLst/>
          </a:prstGeom>
          <a:noFill/>
        </p:spPr>
        <p:txBody>
          <a:bodyPr wrap="square">
            <a:spAutoFit/>
          </a:bodyPr>
          <a:lstStyle/>
          <a:p>
            <a:pPr>
              <a:spcAft>
                <a:spcPts val="975"/>
              </a:spcAft>
              <a:defRPr sz="2100"/>
            </a:pPr>
            <a:r>
              <a:rPr sz="1575"/>
              <a:t>DEDUCTION: starts with premises/assumptions and uses logic to derive conclusions.</a:t>
            </a:r>
          </a:p>
          <a:p>
            <a:pPr>
              <a:spcAft>
                <a:spcPts val="975"/>
              </a:spcAft>
              <a:defRPr sz="2100"/>
            </a:pPr>
            <a:r>
              <a:rPr sz="1575"/>
              <a:t>INDUCTION: starts from observed realities, facts, or data and develops generalizations.</a:t>
            </a:r>
          </a:p>
          <a:p>
            <a:pPr>
              <a:spcAft>
                <a:spcPts val="975"/>
              </a:spcAft>
              <a:defRPr sz="2100"/>
            </a:pPr>
            <a:r>
              <a:rPr sz="1575"/>
              <a:t>Deduction is central to theory and hypothesis development.</a:t>
            </a:r>
          </a:p>
          <a:p>
            <a:pPr>
              <a:spcAft>
                <a:spcPts val="975"/>
              </a:spcAft>
              <a:defRPr sz="2100"/>
            </a:pPr>
            <a:r>
              <a:rPr sz="1575"/>
              <a:t>Induction is central to empirical testing and evaluating applicability.</a:t>
            </a:r>
          </a:p>
          <a:p>
            <a:pPr>
              <a:spcAft>
                <a:spcPts val="975"/>
              </a:spcAft>
              <a:defRPr sz="2100"/>
            </a:pPr>
            <a:r>
              <a:rPr sz="1575"/>
              <a:t>Neither is sufficient by itself.</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4095993" cy="438582"/>
          </a:xfrm>
          <a:prstGeom prst="rect">
            <a:avLst/>
          </a:prstGeom>
          <a:noFill/>
        </p:spPr>
        <p:txBody>
          <a:bodyPr wrap="none">
            <a:spAutoFit/>
          </a:bodyPr>
          <a:lstStyle/>
          <a:p>
            <a:pPr>
              <a:defRPr sz="3000" b="1"/>
            </a:pPr>
            <a:r>
              <a:rPr sz="2250"/>
              <a:t>Why Economics Needs Both</a:t>
            </a:r>
          </a:p>
        </p:txBody>
      </p:sp>
      <p:sp>
        <p:nvSpPr>
          <p:cNvPr id="3" name="TextBox 2"/>
          <p:cNvSpPr txBox="1"/>
          <p:nvPr/>
        </p:nvSpPr>
        <p:spPr>
          <a:xfrm>
            <a:off x="582930" y="994410"/>
            <a:ext cx="8023860" cy="1931298"/>
          </a:xfrm>
          <a:prstGeom prst="rect">
            <a:avLst/>
          </a:prstGeom>
          <a:noFill/>
        </p:spPr>
        <p:txBody>
          <a:bodyPr wrap="square">
            <a:spAutoFit/>
          </a:bodyPr>
          <a:lstStyle/>
          <a:p>
            <a:pPr>
              <a:spcAft>
                <a:spcPts val="975"/>
              </a:spcAft>
              <a:defRPr sz="2100"/>
            </a:pPr>
            <a:r>
              <a:rPr sz="1575"/>
              <a:t>Deduction alone cannot establish whether theoretical assumptions fit the real world.</a:t>
            </a:r>
          </a:p>
          <a:p>
            <a:pPr>
              <a:spcAft>
                <a:spcPts val="975"/>
              </a:spcAft>
              <a:defRPr sz="2100"/>
            </a:pPr>
            <a:r>
              <a:rPr sz="1575"/>
              <a:t>Induction alone can be inefficient because it does not fully use prior theory and knowledge.</a:t>
            </a:r>
          </a:p>
          <a:p>
            <a:pPr>
              <a:spcAft>
                <a:spcPts val="975"/>
              </a:spcAft>
              <a:defRPr sz="2100"/>
            </a:pPr>
            <a:r>
              <a:rPr sz="1575"/>
              <a:t>Inductive conclusions are probable, not absolute proof, because evidence is necessarily incomplete.</a:t>
            </a:r>
          </a:p>
          <a:p>
            <a:pPr>
              <a:spcAft>
                <a:spcPts val="975"/>
              </a:spcAft>
              <a:defRPr sz="2100"/>
            </a:pPr>
            <a:r>
              <a:rPr sz="1575"/>
              <a:t>Economic inquiry therefore requires continual interaction between theory and evidence.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0" y="308610"/>
            <a:ext cx="2300630" cy="438582"/>
          </a:xfrm>
          <a:prstGeom prst="rect">
            <a:avLst/>
          </a:prstGeom>
          <a:noFill/>
        </p:spPr>
        <p:txBody>
          <a:bodyPr wrap="none">
            <a:spAutoFit/>
          </a:bodyPr>
          <a:lstStyle/>
          <a:p>
            <a:pPr>
              <a:defRPr sz="3000" b="1"/>
            </a:pPr>
            <a:r>
              <a:rPr sz="2250"/>
              <a:t>The Big Picture</a:t>
            </a:r>
          </a:p>
        </p:txBody>
      </p:sp>
      <p:sp>
        <p:nvSpPr>
          <p:cNvPr id="3" name="TextBox 2"/>
          <p:cNvSpPr txBox="1"/>
          <p:nvPr/>
        </p:nvSpPr>
        <p:spPr>
          <a:xfrm>
            <a:off x="582930" y="994410"/>
            <a:ext cx="8023860" cy="1931298"/>
          </a:xfrm>
          <a:prstGeom prst="rect">
            <a:avLst/>
          </a:prstGeom>
          <a:noFill/>
        </p:spPr>
        <p:txBody>
          <a:bodyPr wrap="square">
            <a:spAutoFit/>
          </a:bodyPr>
          <a:lstStyle/>
          <a:p>
            <a:pPr>
              <a:spcAft>
                <a:spcPts val="975"/>
              </a:spcAft>
              <a:defRPr sz="2100"/>
            </a:pPr>
            <a:r>
              <a:rPr sz="1575"/>
              <a:t>Economic research is not purely “positive,” purely normative, or purely pragmatic.</a:t>
            </a:r>
          </a:p>
          <a:p>
            <a:pPr>
              <a:spcAft>
                <a:spcPts val="975"/>
              </a:spcAft>
              <a:defRPr sz="2100"/>
            </a:pPr>
            <a:r>
              <a:rPr sz="1575"/>
              <a:t>Reliable research combines logical reasoning, empirical evidence, attention to values, and practical relevance.</a:t>
            </a:r>
          </a:p>
          <a:p>
            <a:pPr>
              <a:spcAft>
                <a:spcPts val="975"/>
              </a:spcAft>
              <a:defRPr sz="2100"/>
            </a:pPr>
            <a:r>
              <a:rPr sz="1575"/>
              <a:t>The appropriate mix depends on the type of research and the question being addressed.</a:t>
            </a:r>
          </a:p>
          <a:p>
            <a:pPr>
              <a:spcAft>
                <a:spcPts val="975"/>
              </a:spcAft>
              <a:defRPr sz="2100"/>
            </a:pPr>
            <a:r>
              <a:rPr sz="1575"/>
              <a:t>The goal is not one universal method, but disciplined inquiry that produces useful and reliable knowledge.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5771" y="308610"/>
            <a:ext cx="5186035" cy="438582"/>
          </a:xfrm>
          <a:prstGeom prst="rect">
            <a:avLst/>
          </a:prstGeom>
          <a:noFill/>
        </p:spPr>
        <p:txBody>
          <a:bodyPr wrap="none">
            <a:spAutoFit/>
          </a:bodyPr>
          <a:lstStyle/>
          <a:p>
            <a:pPr>
              <a:defRPr sz="3000" b="1"/>
            </a:pPr>
            <a:r>
              <a:rPr sz="2250"/>
              <a:t>Implications for Applied Economists</a:t>
            </a:r>
          </a:p>
        </p:txBody>
      </p:sp>
      <p:sp>
        <p:nvSpPr>
          <p:cNvPr id="3" name="TextBox 2"/>
          <p:cNvSpPr txBox="1"/>
          <p:nvPr/>
        </p:nvSpPr>
        <p:spPr>
          <a:xfrm>
            <a:off x="582930" y="994410"/>
            <a:ext cx="8023860" cy="3043141"/>
          </a:xfrm>
          <a:prstGeom prst="rect">
            <a:avLst/>
          </a:prstGeom>
          <a:noFill/>
        </p:spPr>
        <p:txBody>
          <a:bodyPr wrap="square">
            <a:spAutoFit/>
          </a:bodyPr>
          <a:lstStyle/>
          <a:p>
            <a:pPr>
              <a:spcAft>
                <a:spcPts val="975"/>
              </a:spcAft>
              <a:defRPr sz="2100"/>
            </a:pPr>
            <a:r>
              <a:rPr sz="1575" dirty="0"/>
              <a:t>Start with a clearly defined problem and objective.</a:t>
            </a:r>
          </a:p>
          <a:p>
            <a:pPr>
              <a:spcAft>
                <a:spcPts val="975"/>
              </a:spcAft>
              <a:defRPr sz="2100"/>
            </a:pPr>
            <a:r>
              <a:rPr sz="1575" dirty="0"/>
              <a:t>Use theory to identify relevant variables and formulate expectations.</a:t>
            </a:r>
          </a:p>
          <a:p>
            <a:pPr>
              <a:spcAft>
                <a:spcPts val="975"/>
              </a:spcAft>
              <a:defRPr sz="2100"/>
            </a:pPr>
            <a:r>
              <a:rPr sz="1575" dirty="0"/>
              <a:t>Use evidence to test and evaluate those expectations.</a:t>
            </a:r>
          </a:p>
          <a:p>
            <a:pPr>
              <a:spcAft>
                <a:spcPts val="975"/>
              </a:spcAft>
              <a:defRPr sz="2100"/>
            </a:pPr>
            <a:r>
              <a:rPr sz="1575" dirty="0"/>
              <a:t>Be explicit about values, assumptions, conditions, and goals when moving toward prescriptions.</a:t>
            </a:r>
          </a:p>
          <a:p>
            <a:pPr>
              <a:spcAft>
                <a:spcPts val="975"/>
              </a:spcAft>
              <a:defRPr sz="2100"/>
            </a:pPr>
            <a:r>
              <a:rPr sz="1575" dirty="0"/>
              <a:t>Ask not only “Is the analysis rigorous?” but also “Does it address the problem and work in practice?”</a:t>
            </a:r>
            <a:endParaRPr lang="en-US" sz="1575" dirty="0"/>
          </a:p>
          <a:p>
            <a:pPr>
              <a:spcAft>
                <a:spcPts val="975"/>
              </a:spcAft>
              <a:defRPr sz="2100"/>
            </a:pPr>
            <a:endParaRPr lang="en-US" sz="1575" dirty="0"/>
          </a:p>
          <a:p>
            <a:pPr>
              <a:spcAft>
                <a:spcPts val="975"/>
              </a:spcAft>
              <a:defRPr sz="2100"/>
            </a:pPr>
            <a:r>
              <a:rPr lang="en-US" sz="1575" dirty="0"/>
              <a:t>Question: Can an economic policy recommendation ever be completely value-free?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8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Machlup - Why Economists Disagree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8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510" name="Google Shape;510;p8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this article about?</a:t>
            </a:r>
            <a:endParaRPr/>
          </a:p>
          <a:p>
            <a:pPr marL="0" lvl="0" indent="0" algn="l" rtl="0">
              <a:spcBef>
                <a:spcPts val="1600"/>
              </a:spcBef>
              <a:spcAft>
                <a:spcPts val="0"/>
              </a:spcAft>
              <a:buNone/>
            </a:pPr>
            <a:r>
              <a:rPr lang="en"/>
              <a:t>What are Machlup’s main arguments?</a:t>
            </a:r>
            <a:endParaRPr/>
          </a:p>
          <a:p>
            <a:pPr marL="0" lvl="0" indent="0" algn="l" rtl="0">
              <a:spcBef>
                <a:spcPts val="1600"/>
              </a:spcBef>
              <a:spcAft>
                <a:spcPts val="1600"/>
              </a:spcAft>
              <a:buNone/>
            </a:pPr>
            <a:r>
              <a:rPr lang="en"/>
              <a:t>Any particular parts that you liked or didn’t like?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9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4 reasons for disagreement</a:t>
            </a:r>
            <a:endParaRPr/>
          </a:p>
        </p:txBody>
      </p:sp>
      <p:sp>
        <p:nvSpPr>
          <p:cNvPr id="516" name="Google Shape;516;p9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word meanings</a:t>
            </a:r>
            <a:endParaRPr/>
          </a:p>
          <a:p>
            <a:pPr marL="0" lvl="0" indent="0" algn="l" rtl="0">
              <a:spcBef>
                <a:spcPts val="1600"/>
              </a:spcBef>
              <a:spcAft>
                <a:spcPts val="0"/>
              </a:spcAft>
              <a:buNone/>
            </a:pPr>
            <a:r>
              <a:rPr lang="en"/>
              <a:t>Different logical reasoning</a:t>
            </a:r>
            <a:endParaRPr/>
          </a:p>
          <a:p>
            <a:pPr marL="0" lvl="0" indent="0" algn="l" rtl="0">
              <a:spcBef>
                <a:spcPts val="1600"/>
              </a:spcBef>
              <a:spcAft>
                <a:spcPts val="0"/>
              </a:spcAft>
              <a:buNone/>
            </a:pPr>
            <a:r>
              <a:rPr lang="en"/>
              <a:t>Different factual assumptions</a:t>
            </a:r>
            <a:endParaRPr/>
          </a:p>
          <a:p>
            <a:pPr marL="0" lvl="0" indent="0" algn="l" rtl="0">
              <a:spcBef>
                <a:spcPts val="1600"/>
              </a:spcBef>
              <a:spcAft>
                <a:spcPts val="0"/>
              </a:spcAft>
              <a:buNone/>
            </a:pPr>
            <a:r>
              <a:rPr lang="en"/>
              <a:t>Different value judgements</a:t>
            </a:r>
            <a:endParaRPr/>
          </a:p>
          <a:p>
            <a:pPr marL="0" lvl="0" indent="0" algn="l" rtl="0">
              <a:spcBef>
                <a:spcPts val="1600"/>
              </a:spcBef>
              <a:spcAft>
                <a:spcPts val="0"/>
              </a:spcAft>
              <a:buNone/>
            </a:pPr>
            <a:endParaRPr/>
          </a:p>
          <a:p>
            <a:pPr marL="0" lvl="0" indent="0" algn="l" rtl="0">
              <a:spcBef>
                <a:spcPts val="1600"/>
              </a:spcBef>
              <a:spcAft>
                <a:spcPts val="1600"/>
              </a:spcAft>
              <a:buNone/>
            </a:pPr>
            <a:r>
              <a:rPr lang="en"/>
              <a:t>Merely identifying the differences can help focus the debate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9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word meanings</a:t>
            </a:r>
            <a:endParaRPr/>
          </a:p>
        </p:txBody>
      </p:sp>
      <p:sp>
        <p:nvSpPr>
          <p:cNvPr id="522" name="Google Shape;522;p9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Semantic cartel - groups of researchers that agree on the meanings of terms</a:t>
            </a:r>
            <a:endParaRPr/>
          </a:p>
          <a:p>
            <a:pPr marL="0" lvl="0" indent="0" algn="l" rtl="0">
              <a:spcBef>
                <a:spcPts val="1600"/>
              </a:spcBef>
              <a:spcAft>
                <a:spcPts val="0"/>
              </a:spcAft>
              <a:buNone/>
            </a:pPr>
            <a:r>
              <a:rPr lang="en"/>
              <a:t>Devaluation example: ↑ price gold, ↑ foreign currencies, ↑ in both</a:t>
            </a:r>
            <a:endParaRPr/>
          </a:p>
          <a:p>
            <a:pPr marL="0" lvl="0" indent="0" algn="l" rtl="0">
              <a:spcBef>
                <a:spcPts val="1600"/>
              </a:spcBef>
              <a:spcAft>
                <a:spcPts val="1600"/>
              </a:spcAft>
              <a:buNone/>
            </a:pPr>
            <a:r>
              <a:rPr lang="en"/>
              <a:t>Can you think of other examples?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9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logical reasoning</a:t>
            </a:r>
            <a:endParaRPr/>
          </a:p>
        </p:txBody>
      </p:sp>
      <p:sp>
        <p:nvSpPr>
          <p:cNvPr id="528" name="Google Shape;528;p9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Not that the rules of logic differ but that there are logical fallacies buried deep within theory.  </a:t>
            </a:r>
            <a:endParaRPr dirty="0"/>
          </a:p>
          <a:p>
            <a:pPr marL="0" lvl="0" indent="0" algn="l" rtl="0">
              <a:spcBef>
                <a:spcPts val="1600"/>
              </a:spcBef>
              <a:spcAft>
                <a:spcPts val="1600"/>
              </a:spcAft>
              <a:buNone/>
            </a:pPr>
            <a:r>
              <a:rPr lang="en" dirty="0"/>
              <a:t>Debate often motivates thorough investigation</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9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factual assumptions</a:t>
            </a:r>
            <a:endParaRPr/>
          </a:p>
        </p:txBody>
      </p:sp>
      <p:sp>
        <p:nvSpPr>
          <p:cNvPr id="534" name="Google Shape;534;p9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Common source of disagreement - implicit assumptions about aspects of reality</a:t>
            </a:r>
            <a:endParaRPr dirty="0"/>
          </a:p>
          <a:p>
            <a:pPr marL="0" lvl="0" indent="0" algn="l" rtl="0">
              <a:spcBef>
                <a:spcPts val="1600"/>
              </a:spcBef>
              <a:spcAft>
                <a:spcPts val="0"/>
              </a:spcAft>
              <a:buNone/>
            </a:pPr>
            <a:r>
              <a:rPr lang="en" dirty="0"/>
              <a:t>Have you identified assumptions based on incorrect </a:t>
            </a:r>
            <a:r>
              <a:rPr lang="en"/>
              <a:t>“facts”?</a:t>
            </a:r>
            <a:endParaRPr dirty="0"/>
          </a:p>
          <a:p>
            <a:pPr marL="0" lvl="0" indent="0" algn="l" rtl="0">
              <a:spcBef>
                <a:spcPts val="1600"/>
              </a:spcBef>
              <a:spcAft>
                <a:spcPts val="0"/>
              </a:spcAft>
              <a:buNone/>
            </a:pPr>
            <a:r>
              <a:rPr lang="en" dirty="0"/>
              <a:t>Assumptions about behavior during the pandemic</a:t>
            </a:r>
            <a:endParaRPr dirty="0"/>
          </a:p>
          <a:p>
            <a:pPr marL="457200" lvl="0" indent="-342900" algn="l" rtl="0">
              <a:spcBef>
                <a:spcPts val="1600"/>
              </a:spcBef>
              <a:spcAft>
                <a:spcPts val="0"/>
              </a:spcAft>
              <a:buSzPts val="1800"/>
              <a:buChar char="●"/>
            </a:pPr>
            <a:r>
              <a:rPr lang="en" dirty="0"/>
              <a:t>About a decade of theory about how people will respond to disease risk during a pandemic.  Some limited evidence from past outbreaks.</a:t>
            </a:r>
            <a:endParaRPr dirty="0"/>
          </a:p>
          <a:p>
            <a:pPr marL="457200" lvl="0" indent="-342900" algn="l" rtl="0">
              <a:spcBef>
                <a:spcPts val="0"/>
              </a:spcBef>
              <a:spcAft>
                <a:spcPts val="0"/>
              </a:spcAft>
              <a:buSzPts val="1800"/>
              <a:buChar char="●"/>
            </a:pPr>
            <a:r>
              <a:rPr lang="en" dirty="0"/>
              <a:t>Behavior evolved in very unexpected ways and along unexpected dimensions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9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value judgements</a:t>
            </a:r>
            <a:endParaRPr/>
          </a:p>
        </p:txBody>
      </p:sp>
      <p:sp>
        <p:nvSpPr>
          <p:cNvPr id="540" name="Google Shape;540;p9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Lack of consistency in value judgements</a:t>
            </a:r>
            <a:endParaRPr/>
          </a:p>
          <a:p>
            <a:pPr marL="0" lvl="0" indent="0" algn="l" rtl="0">
              <a:spcBef>
                <a:spcPts val="1600"/>
              </a:spcBef>
              <a:spcAft>
                <a:spcPts val="0"/>
              </a:spcAft>
              <a:buNone/>
            </a:pPr>
            <a:r>
              <a:rPr lang="en"/>
              <a:t>You may favor increases in the minimum wage because it can improve income of vulnerable groups even if it does not improve overall welfare.</a:t>
            </a:r>
            <a:endParaRPr/>
          </a:p>
          <a:p>
            <a:pPr marL="0" lvl="0" indent="0" algn="l" rtl="0">
              <a:spcBef>
                <a:spcPts val="1600"/>
              </a:spcBef>
              <a:spcAft>
                <a:spcPts val="0"/>
              </a:spcAft>
              <a:buNone/>
            </a:pPr>
            <a:r>
              <a:rPr lang="en"/>
              <a:t>Being able to disentangle normative and positive elements of the disagreement.</a:t>
            </a:r>
            <a:endParaRPr/>
          </a:p>
          <a:p>
            <a:pPr marL="0" lvl="0" indent="0" algn="l" rtl="0">
              <a:spcBef>
                <a:spcPts val="1600"/>
              </a:spcBef>
              <a:spcAft>
                <a:spcPts val="0"/>
              </a:spcAft>
              <a:buNone/>
            </a:pPr>
            <a:r>
              <a:rPr lang="en"/>
              <a:t>Example of recommendations about monetary policy by foreign entity.  May be resistant even if it was the same conclusion they would come to on their own</a:t>
            </a:r>
            <a:endParaRPr/>
          </a:p>
          <a:p>
            <a:pPr marL="0" lvl="0" indent="0" algn="l" rtl="0">
              <a:spcBef>
                <a:spcPts val="1600"/>
              </a:spcBef>
              <a:spcAft>
                <a:spcPts val="16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9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Comparison to natural sciences</a:t>
            </a:r>
            <a:endParaRPr/>
          </a:p>
        </p:txBody>
      </p:sp>
      <p:sp>
        <p:nvSpPr>
          <p:cNvPr id="546" name="Google Shape;546;p9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Machlup contrasts economists and natural scientists by arguing that natural scientists aren’t called to offer opinions on policy. Climate change debates may have changed that.</a:t>
            </a:r>
            <a:endParaRPr/>
          </a:p>
          <a:p>
            <a:pPr marL="0" lvl="0" indent="0" algn="l" rtl="0">
              <a:spcBef>
                <a:spcPts val="1600"/>
              </a:spcBef>
              <a:spcAft>
                <a:spcPts val="0"/>
              </a:spcAft>
              <a:buNone/>
            </a:pPr>
            <a:r>
              <a:rPr lang="en"/>
              <a:t>The pandemic is such a clear example of academic debate playing out in public.  Masks, lockdowns, school closures, vaccination</a:t>
            </a:r>
            <a:endParaRPr/>
          </a:p>
          <a:p>
            <a:pPr marL="457200" lvl="0" indent="-342900" algn="l" rtl="0">
              <a:spcBef>
                <a:spcPts val="1600"/>
              </a:spcBef>
              <a:spcAft>
                <a:spcPts val="0"/>
              </a:spcAft>
              <a:buSzPts val="1800"/>
              <a:buChar char="●"/>
            </a:pPr>
            <a:r>
              <a:rPr lang="en"/>
              <a:t>People from different disciplines have different value judgements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9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Larue - a defense of reasonable pluralism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9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557" name="Google Shape;557;p9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this article about?</a:t>
            </a:r>
            <a:endParaRPr/>
          </a:p>
          <a:p>
            <a:pPr marL="0" lvl="0" indent="0" algn="l" rtl="0">
              <a:spcBef>
                <a:spcPts val="1600"/>
              </a:spcBef>
              <a:spcAft>
                <a:spcPts val="0"/>
              </a:spcAft>
              <a:buNone/>
            </a:pPr>
            <a:r>
              <a:rPr lang="en"/>
              <a:t>What are Larue’s main arguments?</a:t>
            </a:r>
            <a:endParaRPr/>
          </a:p>
          <a:p>
            <a:pPr marL="0" lvl="0" indent="0" algn="l" rtl="0">
              <a:spcBef>
                <a:spcPts val="1600"/>
              </a:spcBef>
              <a:spcAft>
                <a:spcPts val="1600"/>
              </a:spcAft>
              <a:buNone/>
            </a:pPr>
            <a:r>
              <a:rPr lang="en"/>
              <a:t>Any particular parts that you liked or didn’t like?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2F39-4494-D273-0D8C-7AF007345FE6}"/>
              </a:ext>
            </a:extLst>
          </p:cNvPr>
          <p:cNvSpPr>
            <a:spLocks noGrp="1"/>
          </p:cNvSpPr>
          <p:nvPr>
            <p:ph type="title"/>
          </p:nvPr>
        </p:nvSpPr>
        <p:spPr/>
        <p:txBody>
          <a:bodyPr/>
          <a:lstStyle/>
          <a:p>
            <a:r>
              <a:rPr lang="en-US" dirty="0"/>
              <a:t>What is pluralism in econ?</a:t>
            </a:r>
          </a:p>
        </p:txBody>
      </p:sp>
      <p:sp>
        <p:nvSpPr>
          <p:cNvPr id="3" name="Text Placeholder 2">
            <a:extLst>
              <a:ext uri="{FF2B5EF4-FFF2-40B4-BE49-F238E27FC236}">
                <a16:creationId xmlns:a16="http://schemas.microsoft.com/office/drawing/2014/main" id="{1E840E7E-10AD-D94C-60A6-E7355726B3DE}"/>
              </a:ext>
            </a:extLst>
          </p:cNvPr>
          <p:cNvSpPr>
            <a:spLocks noGrp="1"/>
          </p:cNvSpPr>
          <p:nvPr>
            <p:ph type="body" idx="1"/>
          </p:nvPr>
        </p:nvSpPr>
        <p:spPr/>
        <p:txBody>
          <a:bodyPr/>
          <a:lstStyle/>
          <a:p>
            <a:pPr marL="114300" indent="0">
              <a:buNone/>
            </a:pPr>
            <a:r>
              <a:rPr lang="en-US" dirty="0"/>
              <a:t>More than one set of theories and methods</a:t>
            </a:r>
          </a:p>
          <a:p>
            <a:pPr marL="114300" indent="0">
              <a:buNone/>
            </a:pPr>
            <a:endParaRPr lang="en-US" dirty="0"/>
          </a:p>
          <a:p>
            <a:pPr marL="114300" indent="0">
              <a:buNone/>
            </a:pPr>
            <a:r>
              <a:rPr lang="en-US" dirty="0"/>
              <a:t>Theories: Well-structured and consistent explanatory claims informed by a diversity of core assumptions</a:t>
            </a:r>
          </a:p>
        </p:txBody>
      </p:sp>
    </p:spTree>
    <p:extLst>
      <p:ext uri="{BB962C8B-B14F-4D97-AF65-F5344CB8AC3E}">
        <p14:creationId xmlns:p14="http://schemas.microsoft.com/office/powerpoint/2010/main" val="3591963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9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Efficiency of pluralism</a:t>
            </a:r>
            <a:endParaRPr/>
          </a:p>
        </p:txBody>
      </p:sp>
      <p:sp>
        <p:nvSpPr>
          <p:cNvPr id="563" name="Google Shape;563;p9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Plurality of theories may lead to wasted time and energies</a:t>
            </a:r>
            <a:endParaRPr/>
          </a:p>
          <a:p>
            <a:pPr marL="0" lvl="0" indent="0" algn="l" rtl="0">
              <a:spcBef>
                <a:spcPts val="1600"/>
              </a:spcBef>
              <a:spcAft>
                <a:spcPts val="0"/>
              </a:spcAft>
              <a:buNone/>
            </a:pPr>
            <a:r>
              <a:rPr lang="en"/>
              <a:t>Yet, neoclassical economists embrace this in the service of lower prices and innovation</a:t>
            </a:r>
            <a:endParaRPr/>
          </a:p>
          <a:p>
            <a:pPr marL="0" lvl="0" indent="0" algn="l" rtl="0">
              <a:spcBef>
                <a:spcPts val="1600"/>
              </a:spcBef>
              <a:spcAft>
                <a:spcPts val="160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9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Complexity and cognitive ability</a:t>
            </a:r>
            <a:endParaRPr dirty="0"/>
          </a:p>
        </p:txBody>
      </p:sp>
      <p:sp>
        <p:nvSpPr>
          <p:cNvPr id="569" name="Google Shape;569;p9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World is too complex to have one theory</a:t>
            </a:r>
            <a:endParaRPr dirty="0"/>
          </a:p>
          <a:p>
            <a:pPr marL="0" lvl="0" indent="0" algn="l" rtl="0">
              <a:spcBef>
                <a:spcPts val="1600"/>
              </a:spcBef>
              <a:spcAft>
                <a:spcPts val="1600"/>
              </a:spcAft>
              <a:buNone/>
            </a:pPr>
            <a:endParaRPr lang="en" dirty="0"/>
          </a:p>
          <a:p>
            <a:pPr marL="0" lvl="0" indent="0" algn="l" rtl="0">
              <a:spcBef>
                <a:spcPts val="1600"/>
              </a:spcBef>
              <a:spcAft>
                <a:spcPts val="1600"/>
              </a:spcAft>
              <a:buNone/>
            </a:pPr>
            <a:r>
              <a:rPr lang="en" dirty="0"/>
              <a:t>Limited cognitive ability to understand all economic reality with one complete theory</a:t>
            </a:r>
          </a:p>
          <a:p>
            <a:pPr marL="0" lvl="0" indent="0" algn="l" rtl="0">
              <a:spcBef>
                <a:spcPts val="1600"/>
              </a:spcBef>
              <a:spcAft>
                <a:spcPts val="1600"/>
              </a:spcAft>
              <a:buNone/>
            </a:pPr>
            <a:endParaRPr lang="en" dirty="0"/>
          </a:p>
          <a:p>
            <a:pPr marL="0" lvl="0" indent="0" algn="l" rtl="0">
              <a:spcBef>
                <a:spcPts val="1600"/>
              </a:spcBef>
              <a:spcAft>
                <a:spcPts val="1600"/>
              </a:spcAft>
              <a:buNone/>
            </a:pPr>
            <a:r>
              <a:rPr lang="en" dirty="0"/>
              <a:t>Why does Larue disagree with these arguments?</a:t>
            </a:r>
          </a:p>
          <a:p>
            <a:pPr marL="0" lvl="0" indent="0" algn="l" rtl="0">
              <a:spcBef>
                <a:spcPts val="1600"/>
              </a:spcBef>
              <a:spcAft>
                <a:spcPts val="1600"/>
              </a:spcAft>
              <a:buNone/>
            </a:pPr>
            <a:endParaRPr lang="en" dirty="0"/>
          </a:p>
          <a:p>
            <a:pPr marL="0" lvl="0" indent="0" algn="l" rtl="0">
              <a:spcBef>
                <a:spcPts val="1600"/>
              </a:spcBef>
              <a:spcAft>
                <a:spcPts val="1600"/>
              </a:spcAft>
              <a:buNone/>
            </a:pPr>
            <a:endParaRPr dirty="0"/>
          </a:p>
        </p:txBody>
      </p:sp>
      <p:sp>
        <p:nvSpPr>
          <p:cNvPr id="2" name="Google Shape;569;p99">
            <a:extLst>
              <a:ext uri="{FF2B5EF4-FFF2-40B4-BE49-F238E27FC236}">
                <a16:creationId xmlns:a16="http://schemas.microsoft.com/office/drawing/2014/main" id="{17E3D422-0636-F787-170C-5D90966F6DCB}"/>
              </a:ext>
            </a:extLst>
          </p:cNvPr>
          <p:cNvSpPr txBox="1">
            <a:spLocks/>
          </p:cNvSpPr>
          <p:nvPr/>
        </p:nvSpPr>
        <p:spPr>
          <a:xfrm>
            <a:off x="694687" y="1282075"/>
            <a:ext cx="8520600"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spcBef>
                <a:spcPts val="1600"/>
              </a:spcBef>
              <a:spcAft>
                <a:spcPts val="1600"/>
              </a:spcAft>
              <a:buNone/>
            </a:pPr>
            <a:r>
              <a:rPr lang="en-US" dirty="0">
                <a:solidFill>
                  <a:srgbClr val="002060"/>
                </a:solidFill>
              </a:rPr>
              <a:t>you need evidence that pluralism actually improves our knowledge, rather than simply assuming that complexity makes pluralism necessary</a:t>
            </a:r>
          </a:p>
          <a:p>
            <a:pPr marL="0" indent="0">
              <a:spcBef>
                <a:spcPts val="1600"/>
              </a:spcBef>
              <a:spcAft>
                <a:spcPts val="1600"/>
              </a:spcAft>
              <a:buNone/>
            </a:pPr>
            <a:endParaRPr lang="en-US" dirty="0">
              <a:solidFill>
                <a:srgbClr val="002060"/>
              </a:solidFill>
            </a:endParaRPr>
          </a:p>
          <a:p>
            <a:pPr marL="114300" indent="0">
              <a:buNone/>
            </a:pPr>
            <a:r>
              <a:rPr lang="en-US" dirty="0">
                <a:solidFill>
                  <a:srgbClr val="002060"/>
                </a:solidFill>
              </a:rPr>
              <a:t>-Unified theory could actually </a:t>
            </a:r>
            <a:r>
              <a:rPr lang="en-US" i="1" dirty="0">
                <a:solidFill>
                  <a:srgbClr val="002060"/>
                </a:solidFill>
              </a:rPr>
              <a:t>reduce</a:t>
            </a:r>
            <a:r>
              <a:rPr lang="en-US" dirty="0">
                <a:solidFill>
                  <a:srgbClr val="002060"/>
                </a:solidFill>
              </a:rPr>
              <a:t> the cognitive burden on economists. </a:t>
            </a:r>
          </a:p>
          <a:p>
            <a:pPr marL="114300" indent="0">
              <a:buNone/>
            </a:pPr>
            <a:r>
              <a:rPr lang="en-US" dirty="0">
                <a:solidFill>
                  <a:srgbClr val="002060"/>
                </a:solidFill>
              </a:rPr>
              <a:t>-Pluralism can increase cognitive demands because economists have to evaluate competing theories, methods, and methodological choices.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10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Benefits of competing theory</a:t>
            </a:r>
          </a:p>
        </p:txBody>
      </p:sp>
      <p:sp>
        <p:nvSpPr>
          <p:cNvPr id="575" name="Google Shape;575;p10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the peculiar evil of silencing the expression of an opinion is that it is robbing the human race, posterity as well as the existing generation – those who dissent from the opinion, still more than those who hold it. If the opinion is right, they are deprived of the opportunity of exchanging error for truth; if wrong, they lose, what is almost as great a benefit, the clearer perception and livelier impression of truth produced by its collision with error.” Mill</a:t>
            </a:r>
            <a:endParaRPr/>
          </a:p>
          <a:p>
            <a:pPr marL="0" lvl="0" indent="0" algn="l" rtl="0">
              <a:spcBef>
                <a:spcPts val="1600"/>
              </a:spcBef>
              <a:spcAft>
                <a:spcPts val="160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10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Defense of pluralism</a:t>
            </a:r>
            <a:endParaRPr dirty="0"/>
          </a:p>
        </p:txBody>
      </p:sp>
      <p:sp>
        <p:nvSpPr>
          <p:cNvPr id="581" name="Google Shape;581;p10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Starting point: we do not know that current dominant theory is correct</a:t>
            </a:r>
            <a:endParaRPr/>
          </a:p>
          <a:p>
            <a:pPr marL="0" lvl="0" indent="0" algn="l" rtl="0">
              <a:spcBef>
                <a:spcPts val="1600"/>
              </a:spcBef>
              <a:spcAft>
                <a:spcPts val="0"/>
              </a:spcAft>
              <a:buNone/>
            </a:pPr>
            <a:r>
              <a:rPr lang="en"/>
              <a:t>Following Mill’s logic</a:t>
            </a:r>
            <a:endParaRPr/>
          </a:p>
          <a:p>
            <a:pPr marL="457200" lvl="0" indent="-342900" algn="l" rtl="0">
              <a:spcBef>
                <a:spcPts val="1600"/>
              </a:spcBef>
              <a:spcAft>
                <a:spcPts val="0"/>
              </a:spcAft>
              <a:buSzPts val="1800"/>
              <a:buAutoNum type="arabicPeriod"/>
            </a:pPr>
            <a:r>
              <a:rPr lang="en"/>
              <a:t>Ignoring competing theories would deny the opportunity to exchange error for truth</a:t>
            </a:r>
            <a:endParaRPr/>
          </a:p>
          <a:p>
            <a:pPr marL="457200" lvl="0" indent="-342900" algn="l" rtl="0">
              <a:spcBef>
                <a:spcPts val="0"/>
              </a:spcBef>
              <a:spcAft>
                <a:spcPts val="0"/>
              </a:spcAft>
              <a:buSzPts val="1800"/>
              <a:buAutoNum type="arabicPeriod"/>
            </a:pPr>
            <a:r>
              <a:rPr lang="en"/>
              <a:t>Even if we know the correct theory, competing ideas help us better understand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10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Ecological vs neoclassical economics</a:t>
            </a:r>
            <a:endParaRPr/>
          </a:p>
        </p:txBody>
      </p:sp>
      <p:sp>
        <p:nvSpPr>
          <p:cNvPr id="587" name="Google Shape;587;p10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Natural capital is not always substitutable for conventional capital → planetary boundaries… implications for growth</a:t>
            </a:r>
            <a:endParaRPr dirty="0"/>
          </a:p>
          <a:p>
            <a:pPr marL="0" lvl="0" indent="0" algn="l" rtl="0">
              <a:spcBef>
                <a:spcPts val="1600"/>
              </a:spcBef>
              <a:spcAft>
                <a:spcPts val="0"/>
              </a:spcAft>
              <a:buNone/>
            </a:pPr>
            <a:r>
              <a:rPr lang="en" dirty="0"/>
              <a:t>Neoclassical economists argue that models help us understand transition in intermediate time scales</a:t>
            </a:r>
          </a:p>
          <a:p>
            <a:pPr marL="0" lvl="0" indent="0" algn="l" rtl="0">
              <a:spcBef>
                <a:spcPts val="1600"/>
              </a:spcBef>
              <a:spcAft>
                <a:spcPts val="0"/>
              </a:spcAft>
              <a:buNone/>
            </a:pPr>
            <a:r>
              <a:rPr lang="en-US" dirty="0"/>
              <a:t>“… having both flourishing side by side ensures that, at least, not everyone delves into error. Moreover, the existence of an opponent may force each theorist to adapt his models to respond to external criticisms.”</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10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Methodological Foundations Overview</a:t>
            </a:r>
            <a:endParaRPr/>
          </a:p>
        </p:txBody>
      </p:sp>
      <p:sp>
        <p:nvSpPr>
          <p:cNvPr id="593" name="Google Shape;593;p10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collectively held knowledge evolves over time via the scientific process.  Develop theory → hypothesis, test, revise theory</a:t>
            </a:r>
            <a:endParaRPr/>
          </a:p>
          <a:p>
            <a:pPr marL="0" lvl="0" indent="0" algn="l" rtl="0">
              <a:spcBef>
                <a:spcPts val="1600"/>
              </a:spcBef>
              <a:spcAft>
                <a:spcPts val="0"/>
              </a:spcAft>
              <a:buNone/>
            </a:pPr>
            <a:r>
              <a:rPr lang="en"/>
              <a:t>Communicating research involves argument and persuasion</a:t>
            </a:r>
            <a:endParaRPr/>
          </a:p>
          <a:p>
            <a:pPr marL="0" lvl="0" indent="0" algn="l" rtl="0">
              <a:spcBef>
                <a:spcPts val="1600"/>
              </a:spcBef>
              <a:spcAft>
                <a:spcPts val="0"/>
              </a:spcAft>
              <a:buNone/>
            </a:pPr>
            <a:r>
              <a:rPr lang="en"/>
              <a:t>Recognize that others are persuading and try to evaluate arguments critically</a:t>
            </a:r>
            <a:endParaRPr/>
          </a:p>
          <a:p>
            <a:pPr marL="0" lvl="0" indent="0" algn="l" rtl="0">
              <a:spcBef>
                <a:spcPts val="1600"/>
              </a:spcBef>
              <a:spcAft>
                <a:spcPts val="0"/>
              </a:spcAft>
              <a:buNone/>
            </a:pPr>
            <a:r>
              <a:rPr lang="en"/>
              <a:t>A good argument is: logically sound, based on reasonable assumptions, and supported by evidence that clearly aligns with the claims</a:t>
            </a:r>
            <a:endParaRPr/>
          </a:p>
          <a:p>
            <a:pPr marL="0" lvl="0" indent="0" algn="l" rtl="0">
              <a:spcBef>
                <a:spcPts val="1600"/>
              </a:spcBef>
              <a:spcAft>
                <a:spcPts val="1600"/>
              </a:spcAft>
              <a:buNone/>
            </a:pPr>
            <a:r>
              <a:rPr lang="en"/>
              <a:t>We should strive to do this in a respectful manner.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10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 topics you would like to work on</a:t>
            </a:r>
            <a:endParaRPr/>
          </a:p>
        </p:txBody>
      </p:sp>
      <p:sp>
        <p:nvSpPr>
          <p:cNvPr id="599" name="Google Shape;599;p10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Team up!</a:t>
            </a:r>
            <a:endParaRPr dirty="0"/>
          </a:p>
          <a:p>
            <a:pPr marL="0" lvl="0" indent="0" algn="l" rtl="0">
              <a:spcBef>
                <a:spcPts val="1600"/>
              </a:spcBef>
              <a:spcAft>
                <a:spcPts val="0"/>
              </a:spcAft>
              <a:buNone/>
            </a:pPr>
            <a:r>
              <a:rPr lang="en" dirty="0"/>
              <a:t>What topics interest you?</a:t>
            </a:r>
            <a:endParaRPr dirty="0"/>
          </a:p>
          <a:p>
            <a:pPr marL="0" lvl="0" indent="0" algn="l" rtl="0">
              <a:spcBef>
                <a:spcPts val="1600"/>
              </a:spcBef>
              <a:spcAft>
                <a:spcPts val="1600"/>
              </a:spcAft>
              <a:buNone/>
            </a:pPr>
            <a:r>
              <a:rPr lang="en" dirty="0"/>
              <a:t>If you are already working on a topic, what are some interesting questions? What are the economic phenomenon at work?  Why should others not in your field care?  Make the argument.</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fb58802-ff7a-4bb1-ab21-367ff2ecfc8b}" enabled="0" method="" siteId="{afb58802-ff7a-4bb1-ab21-367ff2ecfc8b}" removed="1"/>
</clbl:labelList>
</file>

<file path=docProps/app.xml><?xml version="1.0" encoding="utf-8"?>
<Properties xmlns="http://schemas.openxmlformats.org/officeDocument/2006/extended-properties" xmlns:vt="http://schemas.openxmlformats.org/officeDocument/2006/docPropsVTypes">
  <TotalTime>49103</TotalTime>
  <Words>1781</Words>
  <Application>Microsoft Office PowerPoint</Application>
  <PresentationFormat>On-screen Show (16:9)</PresentationFormat>
  <Paragraphs>166</Paragraphs>
  <Slides>35</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Simple Light</vt:lpstr>
      <vt:lpstr>AREC 570 Slides</vt:lpstr>
      <vt:lpstr>Unit 1 Foundations of Economic Research</vt:lpstr>
      <vt:lpstr>Introduction</vt:lpstr>
      <vt:lpstr>Ethridge Chapter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Machlup - Why Economists Disagree</vt:lpstr>
      <vt:lpstr>Overview</vt:lpstr>
      <vt:lpstr>4 reasons for disagreement</vt:lpstr>
      <vt:lpstr>Different word meanings</vt:lpstr>
      <vt:lpstr>Different logical reasoning</vt:lpstr>
      <vt:lpstr>Different factual assumptions</vt:lpstr>
      <vt:lpstr>Different value judgements</vt:lpstr>
      <vt:lpstr>Comparison to natural sciences</vt:lpstr>
      <vt:lpstr>Larue - a defense of reasonable pluralism</vt:lpstr>
      <vt:lpstr>Overview</vt:lpstr>
      <vt:lpstr>What is pluralism in econ?</vt:lpstr>
      <vt:lpstr>Efficiency of pluralism</vt:lpstr>
      <vt:lpstr>Complexity and cognitive ability</vt:lpstr>
      <vt:lpstr>Benefits of competing theory</vt:lpstr>
      <vt:lpstr>Defense of pluralism</vt:lpstr>
      <vt:lpstr>Ecological vs neoclassical economics</vt:lpstr>
      <vt:lpstr>Methodological Foundations Overview</vt:lpstr>
      <vt:lpstr>Discuss topics you would like to work 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264</cp:revision>
  <dcterms:modified xsi:type="dcterms:W3CDTF">2026-09-03T15:16:02Z</dcterms:modified>
</cp:coreProperties>
</file>