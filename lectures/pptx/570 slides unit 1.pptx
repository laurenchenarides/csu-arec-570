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77"/>
  </p:notesMasterIdLst>
  <p:sldIdLst>
    <p:sldId id="256" r:id="rId2"/>
    <p:sldId id="257" r:id="rId3"/>
    <p:sldId id="680"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6" r:id="rId22"/>
    <p:sldId id="277" r:id="rId23"/>
    <p:sldId id="278" r:id="rId24"/>
    <p:sldId id="279" r:id="rId25"/>
    <p:sldId id="280" r:id="rId26"/>
    <p:sldId id="282" r:id="rId27"/>
    <p:sldId id="283" r:id="rId28"/>
    <p:sldId id="284" r:id="rId29"/>
    <p:sldId id="285" r:id="rId30"/>
    <p:sldId id="286" r:id="rId31"/>
    <p:sldId id="287" r:id="rId32"/>
    <p:sldId id="288" r:id="rId33"/>
    <p:sldId id="289" r:id="rId34"/>
    <p:sldId id="290" r:id="rId35"/>
    <p:sldId id="291" r:id="rId36"/>
    <p:sldId id="292" r:id="rId37"/>
    <p:sldId id="634"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9" r:id="rId52"/>
    <p:sldId id="310" r:id="rId53"/>
    <p:sldId id="313" r:id="rId54"/>
    <p:sldId id="314" r:id="rId55"/>
    <p:sldId id="315" r:id="rId56"/>
    <p:sldId id="316" r:id="rId57"/>
    <p:sldId id="317" r:id="rId58"/>
    <p:sldId id="331" r:id="rId59"/>
    <p:sldId id="332" r:id="rId60"/>
    <p:sldId id="333" r:id="rId61"/>
    <p:sldId id="334" r:id="rId62"/>
    <p:sldId id="335" r:id="rId63"/>
    <p:sldId id="336" r:id="rId64"/>
    <p:sldId id="337" r:id="rId65"/>
    <p:sldId id="338" r:id="rId66"/>
    <p:sldId id="339" r:id="rId67"/>
    <p:sldId id="340" r:id="rId68"/>
    <p:sldId id="636" r:id="rId69"/>
    <p:sldId id="341" r:id="rId70"/>
    <p:sldId id="342" r:id="rId71"/>
    <p:sldId id="343" r:id="rId72"/>
    <p:sldId id="344" r:id="rId73"/>
    <p:sldId id="345" r:id="rId74"/>
    <p:sldId id="346" r:id="rId75"/>
    <p:sldId id="347" r:id="rId7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4DF2DC-0085-43A8-A628-614D45359268}" v="4" dt="2026-08-27T05:48:10.207"/>
  </p1510:revLst>
</p1510:revInfo>
</file>

<file path=ppt/tableStyles.xml><?xml version="1.0" encoding="utf-8"?>
<a:tblStyleLst xmlns:a="http://schemas.openxmlformats.org/drawingml/2006/main" def="{C3914263-E9C5-46C8-9AAA-96102F47AFED}">
  <a:tblStyle styleId="{C3914263-E9C5-46C8-9AAA-96102F47AFED}"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056"/>
    <p:restoredTop sz="81741"/>
  </p:normalViewPr>
  <p:slideViewPr>
    <p:cSldViewPr snapToGrid="0">
      <p:cViewPr varScale="1">
        <p:scale>
          <a:sx n="80" d="100"/>
          <a:sy n="80" d="100"/>
        </p:scale>
        <p:origin x="1168" y="52"/>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 Chenarides" userId="adbf3f91-28ff-415d-924b-37ef86f41ea6" providerId="ADAL" clId="{91C6A867-4822-4C05-B79B-B921162A7D31}"/>
    <pc:docChg chg="addSld delSld modSld sldOrd">
      <pc:chgData name="Lauren Chenarides" userId="adbf3f91-28ff-415d-924b-37ef86f41ea6" providerId="ADAL" clId="{91C6A867-4822-4C05-B79B-B921162A7D31}" dt="2026-08-14T18:32:24.462" v="122"/>
      <pc:docMkLst>
        <pc:docMk/>
      </pc:docMkLst>
      <pc:sldChg chg="modSp mod setBg">
        <pc:chgData name="Lauren Chenarides" userId="adbf3f91-28ff-415d-924b-37ef86f41ea6" providerId="ADAL" clId="{91C6A867-4822-4C05-B79B-B921162A7D31}" dt="2026-08-14T18:28:07.016" v="43"/>
        <pc:sldMkLst>
          <pc:docMk/>
          <pc:sldMk cId="0" sldId="257"/>
        </pc:sldMkLst>
        <pc:spChg chg="mod">
          <ac:chgData name="Lauren Chenarides" userId="adbf3f91-28ff-415d-924b-37ef86f41ea6" providerId="ADAL" clId="{91C6A867-4822-4C05-B79B-B921162A7D31}" dt="2026-08-14T18:28:01.555" v="42" actId="20577"/>
          <ac:spMkLst>
            <pc:docMk/>
            <pc:sldMk cId="0" sldId="257"/>
            <ac:spMk id="60" creationId="{00000000-0000-0000-0000-000000000000}"/>
          </ac:spMkLst>
        </pc:spChg>
      </pc:sldChg>
      <pc:sldChg chg="add">
        <pc:chgData name="Lauren Chenarides" userId="adbf3f91-28ff-415d-924b-37ef86f41ea6" providerId="ADAL" clId="{91C6A867-4822-4C05-B79B-B921162A7D31}" dt="2026-08-14T18:27:50.880" v="2" actId="2890"/>
        <pc:sldMkLst>
          <pc:docMk/>
          <pc:sldMk cId="3209933386" sldId="680"/>
        </pc:sldMkLst>
      </pc:sldChg>
    </pc:docChg>
  </pc:docChgLst>
  <pc:docChgLst>
    <pc:chgData name="Amanda Countryman" userId="0be1c61d-c610-49a2-ae7e-a4e60bd07712" providerId="ADAL" clId="{00873937-8841-4394-9081-668AB0E0F950}"/>
    <pc:docChg chg="undo custSel delSld modSld">
      <pc:chgData name="Amanda Countryman" userId="0be1c61d-c610-49a2-ae7e-a4e60bd07712" providerId="ADAL" clId="{00873937-8841-4394-9081-668AB0E0F950}" dt="2026-08-27T05:52:28.838" v="460" actId="20577"/>
      <pc:docMkLst>
        <pc:docMk/>
      </pc:docMkLst>
      <pc:sldChg chg="delSp mod">
        <pc:chgData name="Amanda Countryman" userId="0be1c61d-c610-49a2-ae7e-a4e60bd07712" providerId="ADAL" clId="{00873937-8841-4394-9081-668AB0E0F950}" dt="2026-08-25T02:10:57.380" v="58" actId="478"/>
        <pc:sldMkLst>
          <pc:docMk/>
          <pc:sldMk cId="0" sldId="256"/>
        </pc:sldMkLst>
      </pc:sldChg>
      <pc:sldChg chg="modSp mod">
        <pc:chgData name="Amanda Countryman" userId="0be1c61d-c610-49a2-ae7e-a4e60bd07712" providerId="ADAL" clId="{00873937-8841-4394-9081-668AB0E0F950}" dt="2026-08-27T05:00:14.424" v="64" actId="6549"/>
        <pc:sldMkLst>
          <pc:docMk/>
          <pc:sldMk cId="0" sldId="264"/>
        </pc:sldMkLst>
        <pc:spChg chg="mod">
          <ac:chgData name="Amanda Countryman" userId="0be1c61d-c610-49a2-ae7e-a4e60bd07712" providerId="ADAL" clId="{00873937-8841-4394-9081-668AB0E0F950}" dt="2026-08-27T05:00:14.424" v="64" actId="6549"/>
          <ac:spMkLst>
            <pc:docMk/>
            <pc:sldMk cId="0" sldId="264"/>
            <ac:spMk id="102" creationId="{00000000-0000-0000-0000-000000000000}"/>
          </ac:spMkLst>
        </pc:spChg>
      </pc:sldChg>
      <pc:sldChg chg="modSp mod">
        <pc:chgData name="Amanda Countryman" userId="0be1c61d-c610-49a2-ae7e-a4e60bd07712" providerId="ADAL" clId="{00873937-8841-4394-9081-668AB0E0F950}" dt="2026-08-27T05:29:01.150" v="445" actId="13926"/>
        <pc:sldMkLst>
          <pc:docMk/>
          <pc:sldMk cId="0" sldId="272"/>
        </pc:sldMkLst>
        <pc:spChg chg="mod">
          <ac:chgData name="Amanda Countryman" userId="0be1c61d-c610-49a2-ae7e-a4e60bd07712" providerId="ADAL" clId="{00873937-8841-4394-9081-668AB0E0F950}" dt="2026-08-27T05:29:01.150" v="445" actId="13926"/>
          <ac:spMkLst>
            <pc:docMk/>
            <pc:sldMk cId="0" sldId="272"/>
            <ac:spMk id="150" creationId="{00000000-0000-0000-0000-000000000000}"/>
          </ac:spMkLst>
        </pc:spChg>
      </pc:sldChg>
      <pc:sldChg chg="modSp mod">
        <pc:chgData name="Amanda Countryman" userId="0be1c61d-c610-49a2-ae7e-a4e60bd07712" providerId="ADAL" clId="{00873937-8841-4394-9081-668AB0E0F950}" dt="2026-08-27T05:40:12.369" v="459" actId="20577"/>
        <pc:sldMkLst>
          <pc:docMk/>
          <pc:sldMk cId="0" sldId="280"/>
        </pc:sldMkLst>
        <pc:spChg chg="mod">
          <ac:chgData name="Amanda Countryman" userId="0be1c61d-c610-49a2-ae7e-a4e60bd07712" providerId="ADAL" clId="{00873937-8841-4394-9081-668AB0E0F950}" dt="2026-08-27T05:40:12.369" v="459" actId="20577"/>
          <ac:spMkLst>
            <pc:docMk/>
            <pc:sldMk cId="0" sldId="280"/>
            <ac:spMk id="198" creationId="{00000000-0000-0000-0000-000000000000}"/>
          </ac:spMkLst>
        </pc:spChg>
      </pc:sldChg>
      <pc:sldChg chg="modSp mod">
        <pc:chgData name="Amanda Countryman" userId="0be1c61d-c610-49a2-ae7e-a4e60bd07712" providerId="ADAL" clId="{00873937-8841-4394-9081-668AB0E0F950}" dt="2026-08-27T05:52:28.838" v="460" actId="20577"/>
        <pc:sldMkLst>
          <pc:docMk/>
          <pc:sldMk cId="0" sldId="292"/>
        </pc:sldMkLst>
        <pc:spChg chg="mod">
          <ac:chgData name="Amanda Countryman" userId="0be1c61d-c610-49a2-ae7e-a4e60bd07712" providerId="ADAL" clId="{00873937-8841-4394-9081-668AB0E0F950}" dt="2026-08-27T05:52:28.838" v="460" actId="20577"/>
          <ac:spMkLst>
            <pc:docMk/>
            <pc:sldMk cId="0" sldId="292"/>
            <ac:spMk id="275" creationId="{00000000-0000-0000-0000-000000000000}"/>
          </ac:spMkLst>
        </pc:spChg>
      </pc:sldChg>
      <pc:sldMasterChg chg="delSldLayout">
        <pc:chgData name="Amanda Countryman" userId="0be1c61d-c610-49a2-ae7e-a4e60bd07712" providerId="ADAL" clId="{00873937-8841-4394-9081-668AB0E0F950}" dt="2026-08-25T01:49:56.922" v="0" actId="47"/>
        <pc:sldMasterMkLst>
          <pc:docMk/>
          <pc:sldMasterMk cId="0" sldId="2147483659"/>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e8fa69a014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e8fa69a014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4a7460c34a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4a7460c34a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FF9C4486-0B65-DE03-D045-7B027D729296}"/>
            </a:ext>
          </a:extLst>
        </p:cNvPr>
        <p:cNvGrpSpPr/>
        <p:nvPr/>
      </p:nvGrpSpPr>
      <p:grpSpPr>
        <a:xfrm>
          <a:off x="0" y="0"/>
          <a:ext cx="0" cy="0"/>
          <a:chOff x="0" y="0"/>
          <a:chExt cx="0" cy="0"/>
        </a:xfrm>
      </p:grpSpPr>
      <p:sp>
        <p:nvSpPr>
          <p:cNvPr id="57" name="Google Shape;57;g14a7460c34a_0_72:notes">
            <a:extLst>
              <a:ext uri="{FF2B5EF4-FFF2-40B4-BE49-F238E27FC236}">
                <a16:creationId xmlns:a16="http://schemas.microsoft.com/office/drawing/2014/main" id="{2A6F7346-AC45-6CE3-894E-A1E40DC290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4a7460c34a_0_72:notes">
            <a:extLst>
              <a:ext uri="{FF2B5EF4-FFF2-40B4-BE49-F238E27FC236}">
                <a16:creationId xmlns:a16="http://schemas.microsoft.com/office/drawing/2014/main" id="{498FCD26-EC69-324A-79C4-2BBC628561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2631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14a37d3b79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14a37d3b795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14a37d3b795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4a37d3b795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14a7460c34a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14a7460c34a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14a7460c34a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4a7460c34a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14a37d3b795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14a37d3b795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14a37d3b795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14a37d3b79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4a7460c34a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14a7460c34a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4a7460c34a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14a7460c34a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14a37d3b795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4a37d3b795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14a37d3b795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14a37d3b795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e8fa69a01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e8fa69a01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e8fa69a014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e8fa69a01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e8fa69a01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e8fa69a01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e8fa69a014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e8fa69a014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e8fa69a014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e8fa69a01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e8fa69a014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e8fa69a014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e8fa69a014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e8fa69a014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e8fa69a014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e8fa69a014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e8fa69a014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e8fa69a014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e8fa69a014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e8fa69a014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ec497927c2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ec497927c2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ec497927c2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ec497927c2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ec497927c2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ec497927c2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ec66bd64c6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ec66bd64c6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ec497927c2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ec497927c2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ec66bd64c6_1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ec66bd64c6_1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ec66bd64c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ec66bd64c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ec66bd64c6_1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ec66bd64c6_1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ec66bd64c6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ec66bd64c6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ec66bd64c6_1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ec66bd64c6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ec497927c2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ec497927c2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ec66bd64c6_1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ec66bd64c6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14a7460c34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14a7460c34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14a7460c34a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14a7460c34a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14a7460c34a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14a7460c34a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14a7460c34a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14a7460c34a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Invisible hand</a:t>
            </a:r>
          </a:p>
          <a:p>
            <a:pPr marL="0" lvl="0" indent="0" algn="l" rtl="0">
              <a:spcBef>
                <a:spcPts val="0"/>
              </a:spcBef>
              <a:spcAft>
                <a:spcPts val="0"/>
              </a:spcAft>
              <a:buNone/>
            </a:pPr>
            <a:endParaRP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148bcbcb322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148bcbcb322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14a7460c34a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14a7460c34a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14a7460c34a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14a7460c34a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14a7460c34a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14a7460c34a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14a7460c34a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14a7460c34a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14a7460c34a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14a7460c34a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ec9358726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ec9358726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ec93587262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ec93587262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ec93587262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ec93587262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ec93587262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ec93587262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a:solidFill>
                  <a:srgbClr val="595959"/>
                </a:solidFill>
              </a:rPr>
              <a:t>Example is first and second order conditions of a maximum.  </a:t>
            </a:r>
            <a:endParaRPr sz="1800">
              <a:solidFill>
                <a:srgbClr val="595959"/>
              </a:solidFill>
            </a:endParaRPr>
          </a:p>
          <a:p>
            <a:pPr marL="0" lvl="0" indent="0" algn="l" rtl="0">
              <a:lnSpc>
                <a:spcPct val="115000"/>
              </a:lnSpc>
              <a:spcBef>
                <a:spcPts val="1600"/>
              </a:spcBef>
              <a:spcAft>
                <a:spcPts val="0"/>
              </a:spcAft>
              <a:buNone/>
            </a:pPr>
            <a:r>
              <a:rPr lang="en" sz="1800">
                <a:solidFill>
                  <a:srgbClr val="595959"/>
                </a:solidFill>
              </a:rPr>
              <a:t>Necessary condition: FOC must =0 but does not guarantee max.</a:t>
            </a:r>
            <a:endParaRPr sz="1800">
              <a:solidFill>
                <a:srgbClr val="595959"/>
              </a:solidFill>
            </a:endParaRPr>
          </a:p>
          <a:p>
            <a:pPr marL="0" lvl="0" indent="0" algn="l" rtl="0">
              <a:lnSpc>
                <a:spcPct val="115000"/>
              </a:lnSpc>
              <a:spcBef>
                <a:spcPts val="1600"/>
              </a:spcBef>
              <a:spcAft>
                <a:spcPts val="1600"/>
              </a:spcAft>
              <a:buClr>
                <a:schemeClr val="dk1"/>
              </a:buClr>
              <a:buSzPts val="1100"/>
              <a:buFont typeface="Arial"/>
              <a:buNone/>
            </a:pPr>
            <a:r>
              <a:rPr lang="en" sz="1800">
                <a:solidFill>
                  <a:srgbClr val="595959"/>
                </a:solidFill>
              </a:rPr>
              <a:t>Sufficient conditions: FOC=0 and SOC must be &lt;0.  Max -(x-2)^2</a:t>
            </a:r>
            <a:endParaRPr sz="1800">
              <a:solidFill>
                <a:srgbClr val="595959"/>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ed4c3195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ed4c31955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ed4c31955f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ed4c31955f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ed4c31955f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ed4c31955f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ed4c31955f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ed4c31955f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ed4c31955f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ed4c31955f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ed4c31955f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ed4c31955f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eeff7729d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eeff7729d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eeff7729dc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 name="Google Shape;507;geeff7729dc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eeff7729dc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eeff7729d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eeff7729d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eeff7729d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eeff7729dc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eeff7729d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eeff7729dc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eeff7729dc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eeff7729dc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eeff7729dc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eeff7729dc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3" name="Google Shape;543;geeff7729dc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1511b7c4b0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1511b7c4b0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1511b7c4b0f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1511b7c4b0f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Main arguments: </a:t>
            </a:r>
            <a:endParaRPr/>
          </a:p>
          <a:p>
            <a:pPr marL="457200" lvl="0" indent="-298450" algn="l" rtl="0">
              <a:spcBef>
                <a:spcPts val="0"/>
              </a:spcBef>
              <a:spcAft>
                <a:spcPts val="0"/>
              </a:spcAft>
              <a:buSzPts val="1100"/>
              <a:buAutoNum type="arabicPeriod"/>
            </a:pPr>
            <a:r>
              <a:rPr lang="en"/>
              <a:t>pluralism provides epistemological benefits. It can help us understand where existing theory is weak</a:t>
            </a:r>
            <a:endParaRPr/>
          </a:p>
          <a:p>
            <a:pPr marL="457200" lvl="0" indent="-298450" algn="l" rtl="0">
              <a:spcBef>
                <a:spcPts val="0"/>
              </a:spcBef>
              <a:spcAft>
                <a:spcPts val="0"/>
              </a:spcAft>
              <a:buSzPts val="1100"/>
              <a:buAutoNum type="arabicPeriod"/>
            </a:pPr>
            <a:r>
              <a:rPr lang="en"/>
              <a:t>Reasonable pluralism has a place and the theories and methods are worth considering if other communities can be convinced they are justified</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1511b7c4b0f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0" name="Google Shape;560;g1511b7c4b0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1511b7c4b0f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g1511b7c4b0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Complexity: complexity can be used as an argument for a unified theory so we do not waste time on developing dead ends</a:t>
            </a:r>
          </a:p>
          <a:p>
            <a:pPr marL="0" lvl="0" indent="0" algn="l" rtl="0">
              <a:spcBef>
                <a:spcPts val="0"/>
              </a:spcBef>
              <a:spcAft>
                <a:spcPts val="0"/>
              </a:spcAft>
              <a:buNone/>
            </a:pPr>
            <a:r>
              <a:rPr lang="en-US" dirty="0" err="1"/>
              <a:t>Congnitive</a:t>
            </a:r>
            <a:r>
              <a:rPr lang="en-US" dirty="0"/>
              <a:t> ability: humans are cognitively limited, so wouldn’t a unified framework help focus researchers saving them from complicated decisions about methods.</a:t>
            </a:r>
            <a:endParaRPr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1511b7c4b0f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2" name="Google Shape;572;g1511b7c4b0f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1511b7c4b0f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1511b7c4b0f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g1511b7c4b0f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4" name="Google Shape;584;g1511b7c4b0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Feels like Malthus argument all over again</a:t>
            </a:r>
          </a:p>
          <a:p>
            <a:pPr marL="0" lvl="0" indent="0" algn="l" rtl="0">
              <a:spcBef>
                <a:spcPts val="0"/>
              </a:spcBef>
              <a:spcAft>
                <a:spcPts val="0"/>
              </a:spcAft>
              <a:buNone/>
            </a:pPr>
            <a:endParaRPr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eeff7729dc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0" name="Google Shape;590;geeff7729dc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eeff7729dc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eeff7729dc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5" r:id="rId5"/>
    <p:sldLayoutId id="2147483656" r:id="rId6"/>
    <p:sldLayoutId id="2147483657" r:id="rId7"/>
    <p:sldLayoutId id="2147483658"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hyperlink" Target="https://www.cato.org/policy-analysis/making-sense-minimum-wage-roadmap-navigating-recent-research#research-on-the-long-history-of-u-s-minimum-wage-changes" TargetMode="External"/><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hyperlink" Target="https://nickch-k.github.io/ManyEconomists/" TargetMode="External"/><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AREC 570 Slides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1917225"/>
            <a:ext cx="8520600" cy="107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Unit 1</a:t>
            </a:r>
            <a:br>
              <a:rPr lang="en-US" dirty="0"/>
            </a:br>
            <a:r>
              <a:rPr lang="en-US" dirty="0"/>
              <a:t>Foundations of Economic Research</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3634A9BC-BD08-84FA-301A-115300BC4F5C}"/>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18B49D6D-63AE-4F91-F003-7219C4E29F5F}"/>
              </a:ext>
            </a:extLst>
          </p:cNvPr>
          <p:cNvSpPr txBox="1">
            <a:spLocks noGrp="1"/>
          </p:cNvSpPr>
          <p:nvPr>
            <p:ph type="title"/>
          </p:nvPr>
        </p:nvSpPr>
        <p:spPr>
          <a:xfrm>
            <a:off x="311700" y="1917225"/>
            <a:ext cx="8520600" cy="107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Introduction</a:t>
            </a:r>
            <a:endParaRPr/>
          </a:p>
          <a:p>
            <a:pPr marL="0" lvl="0" indent="0" algn="ctr" rtl="0">
              <a:spcBef>
                <a:spcPts val="0"/>
              </a:spcBef>
              <a:spcAft>
                <a:spcPts val="0"/>
              </a:spcAft>
              <a:buNone/>
            </a:pPr>
            <a:r>
              <a:rPr lang="en"/>
              <a:t>Greenlaw Ch 1; Ethridge Ch 2</a:t>
            </a:r>
            <a:endParaRPr/>
          </a:p>
        </p:txBody>
      </p:sp>
    </p:spTree>
    <p:extLst>
      <p:ext uri="{BB962C8B-B14F-4D97-AF65-F5344CB8AC3E}">
        <p14:creationId xmlns:p14="http://schemas.microsoft.com/office/powerpoint/2010/main" val="3209933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2400">
                <a:solidFill>
                  <a:schemeClr val="dk1"/>
                </a:solidFill>
                <a:latin typeface="Calibri"/>
                <a:ea typeface="Calibri"/>
                <a:cs typeface="Calibri"/>
                <a:sym typeface="Calibri"/>
              </a:rPr>
              <a:t>What is economic research?  </a:t>
            </a:r>
            <a:endParaRPr sz="2400">
              <a:solidFill>
                <a:schemeClr val="dk1"/>
              </a:solidFill>
              <a:latin typeface="Calibri"/>
              <a:ea typeface="Calibri"/>
              <a:cs typeface="Calibri"/>
              <a:sym typeface="Calibri"/>
            </a:endParaRPr>
          </a:p>
          <a:p>
            <a:pPr marL="0" lvl="0" indent="0" algn="l" rtl="0">
              <a:lnSpc>
                <a:spcPct val="200000"/>
              </a:lnSpc>
              <a:spcBef>
                <a:spcPts val="0"/>
              </a:spcBef>
              <a:spcAft>
                <a:spcPts val="0"/>
              </a:spcAft>
              <a:buNone/>
            </a:pPr>
            <a:r>
              <a:rPr lang="en" sz="2400">
                <a:solidFill>
                  <a:schemeClr val="dk1"/>
                </a:solidFill>
                <a:latin typeface="Calibri"/>
                <a:ea typeface="Calibri"/>
                <a:cs typeface="Calibri"/>
                <a:sym typeface="Calibri"/>
              </a:rPr>
              <a:t>What is the goal of economic research?  </a:t>
            </a:r>
            <a:endParaRPr sz="2400">
              <a:solidFill>
                <a:schemeClr val="dk1"/>
              </a:solidFill>
              <a:latin typeface="Calibri"/>
              <a:ea typeface="Calibri"/>
              <a:cs typeface="Calibri"/>
              <a:sym typeface="Calibri"/>
            </a:endParaRPr>
          </a:p>
          <a:p>
            <a:pPr marL="0" lvl="0" indent="0" algn="l" rtl="0">
              <a:lnSpc>
                <a:spcPct val="200000"/>
              </a:lnSpc>
              <a:spcBef>
                <a:spcPts val="0"/>
              </a:spcBef>
              <a:spcAft>
                <a:spcPts val="0"/>
              </a:spcAft>
              <a:buNone/>
            </a:pPr>
            <a:r>
              <a:rPr lang="en" sz="2400">
                <a:solidFill>
                  <a:schemeClr val="dk1"/>
                </a:solidFill>
                <a:latin typeface="Calibri"/>
                <a:ea typeface="Calibri"/>
                <a:cs typeface="Calibri"/>
                <a:sym typeface="Calibri"/>
              </a:rPr>
              <a:t>How do we do economic research?  </a:t>
            </a:r>
            <a:endParaRPr sz="2400">
              <a:solidFill>
                <a:schemeClr val="dk1"/>
              </a:solidFill>
              <a:latin typeface="Calibri"/>
              <a:ea typeface="Calibri"/>
              <a:cs typeface="Calibri"/>
              <a:sym typeface="Calibri"/>
            </a:endParaRPr>
          </a:p>
          <a:p>
            <a:pPr marL="0" lvl="0" indent="0" algn="l" rtl="0">
              <a:lnSpc>
                <a:spcPct val="200000"/>
              </a:lnSpc>
              <a:spcBef>
                <a:spcPts val="0"/>
              </a:spcBef>
              <a:spcAft>
                <a:spcPts val="0"/>
              </a:spcAft>
              <a:buNone/>
            </a:pPr>
            <a:r>
              <a:rPr lang="en" sz="2400">
                <a:solidFill>
                  <a:schemeClr val="dk1"/>
                </a:solidFill>
                <a:latin typeface="Calibri"/>
                <a:ea typeface="Calibri"/>
                <a:cs typeface="Calibri"/>
                <a:sym typeface="Calibri"/>
              </a:rPr>
              <a:t>How do we evaluate economic research?</a:t>
            </a:r>
            <a:endParaRPr sz="2400">
              <a:solidFill>
                <a:schemeClr val="dk1"/>
              </a:solidFill>
              <a:latin typeface="Calibri"/>
              <a:ea typeface="Calibri"/>
              <a:cs typeface="Calibri"/>
              <a:sym typeface="Calibri"/>
            </a:endParaRPr>
          </a:p>
          <a:p>
            <a:pPr marL="0" lvl="0" indent="0" algn="l" rtl="0">
              <a:lnSpc>
                <a:spcPct val="200000"/>
              </a:lnSpc>
              <a:spcBef>
                <a:spcPts val="0"/>
              </a:spcBef>
              <a:spcAft>
                <a:spcPts val="0"/>
              </a:spcAft>
              <a:buNone/>
            </a:pPr>
            <a:r>
              <a:rPr lang="en" sz="2400">
                <a:solidFill>
                  <a:schemeClr val="dk1"/>
                </a:solidFill>
                <a:latin typeface="Calibri"/>
                <a:ea typeface="Calibri"/>
                <a:cs typeface="Calibri"/>
                <a:sym typeface="Calibri"/>
              </a:rPr>
              <a:t>Why should we study economic research methodology?</a:t>
            </a:r>
            <a:endParaRPr sz="2600"/>
          </a:p>
        </p:txBody>
      </p:sp>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economic research?</a:t>
            </a:r>
            <a:endParaRPr/>
          </a:p>
        </p:txBody>
      </p:sp>
      <p:sp>
        <p:nvSpPr>
          <p:cNvPr id="72" name="Google Shape;72;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“research is the systematic approach to obtaining new and reliable knowledge… the process by which we discover, evaluate, and confirm the stock of economic knowledge.” - Ethridge Ch 2</a:t>
            </a:r>
            <a:endParaRPr/>
          </a:p>
          <a:p>
            <a:pPr marL="0" lvl="0" indent="0" algn="l" rtl="0">
              <a:spcBef>
                <a:spcPts val="1600"/>
              </a:spcBef>
              <a:spcAft>
                <a:spcPts val="0"/>
              </a:spcAft>
              <a:buNone/>
            </a:pPr>
            <a:r>
              <a:rPr lang="en"/>
              <a:t>Farmer vs detective metaphor - knowledge is created through argument</a:t>
            </a:r>
            <a:endParaRPr/>
          </a:p>
          <a:p>
            <a:pPr marL="0" lvl="0" indent="0" algn="l" rtl="0">
              <a:spcBef>
                <a:spcPts val="1600"/>
              </a:spcBef>
              <a:spcAft>
                <a:spcPts val="1600"/>
              </a:spcAft>
              <a:buClr>
                <a:schemeClr val="dk1"/>
              </a:buClr>
              <a:buSzPts val="1100"/>
              <a:buFont typeface="Arial"/>
              <a:buNone/>
            </a:pPr>
            <a:r>
              <a:rPr lang="en"/>
              <a:t>Journals are the forum for discussion. “Through this dialog, arguments are evaluated, the weaker ones are winnowed out, and the stronger ones are refined and improved” (we will return to this in McCloskey)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fade">
                                      <p:cBhvr>
                                        <p:cTn id="7" dur="10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Minimum wage example</a:t>
            </a:r>
            <a:endParaRPr/>
          </a:p>
        </p:txBody>
      </p:sp>
      <p:sp>
        <p:nvSpPr>
          <p:cNvPr id="78" name="Google Shape;78;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Those doing economic research observe and theorize about the laws governing employment in a market economy.  </a:t>
            </a:r>
            <a:endParaRPr/>
          </a:p>
          <a:p>
            <a:pPr marL="0" lvl="0" indent="0" algn="l" rtl="0">
              <a:spcBef>
                <a:spcPts val="1600"/>
              </a:spcBef>
              <a:spcAft>
                <a:spcPts val="0"/>
              </a:spcAft>
              <a:buNone/>
            </a:pPr>
            <a:r>
              <a:rPr lang="en"/>
              <a:t>From that theory comes a prediction that, ceteris peribus, an increase in the minimum wage above the equilibrium will result in lower employment.  </a:t>
            </a:r>
            <a:endParaRPr/>
          </a:p>
          <a:p>
            <a:pPr marL="0" lvl="0" indent="0" algn="l" rtl="0">
              <a:spcBef>
                <a:spcPts val="1600"/>
              </a:spcBef>
              <a:spcAft>
                <a:spcPts val="0"/>
              </a:spcAft>
              <a:buNone/>
            </a:pPr>
            <a:r>
              <a:rPr lang="en"/>
              <a:t>This theory can then be evaluated by empirical study.  </a:t>
            </a:r>
            <a:endParaRPr/>
          </a:p>
          <a:p>
            <a:pPr marL="0" lvl="0" indent="0" algn="l" rtl="0">
              <a:spcBef>
                <a:spcPts val="1600"/>
              </a:spcBef>
              <a:spcAft>
                <a:spcPts val="1600"/>
              </a:spcAft>
              <a:buNone/>
            </a:pPr>
            <a:r>
              <a:rPr lang="en"/>
              <a:t>We either confirm or reject the theory and possibly revise theory.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Ethridge: What research is and isn’t</a:t>
            </a:r>
            <a:endParaRPr/>
          </a:p>
        </p:txBody>
      </p:sp>
      <p:sp>
        <p:nvSpPr>
          <p:cNvPr id="84" name="Google Shape;84;p18"/>
          <p:cNvSpPr txBox="1">
            <a:spLocks noGrp="1"/>
          </p:cNvSpPr>
          <p:nvPr>
            <p:ph type="body" idx="1"/>
          </p:nvPr>
        </p:nvSpPr>
        <p:spPr>
          <a:xfrm>
            <a:off x="311700" y="1017725"/>
            <a:ext cx="8520600" cy="355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Research is the systematic approach to obtaining and confirming new and reliable knowledge</a:t>
            </a:r>
            <a:endParaRPr/>
          </a:p>
          <a:p>
            <a:pPr marL="0" lvl="0" indent="0" algn="l" rtl="0">
              <a:spcBef>
                <a:spcPts val="1600"/>
              </a:spcBef>
              <a:spcAft>
                <a:spcPts val="0"/>
              </a:spcAft>
              <a:buClr>
                <a:schemeClr val="dk1"/>
              </a:buClr>
              <a:buSzPts val="1100"/>
              <a:buFont typeface="Arial"/>
              <a:buNone/>
            </a:pPr>
            <a:r>
              <a:rPr lang="en"/>
              <a:t>Research is:</a:t>
            </a:r>
            <a:endParaRPr/>
          </a:p>
          <a:p>
            <a:pPr marL="457200" lvl="0" indent="-342900" algn="l" rtl="0">
              <a:spcBef>
                <a:spcPts val="1600"/>
              </a:spcBef>
              <a:spcAft>
                <a:spcPts val="0"/>
              </a:spcAft>
              <a:buSzPts val="1800"/>
              <a:buChar char="●"/>
            </a:pPr>
            <a:r>
              <a:rPr lang="en"/>
              <a:t>Searching for explanations</a:t>
            </a:r>
            <a:endParaRPr/>
          </a:p>
          <a:p>
            <a:pPr marL="457200" lvl="0" indent="-342900" algn="l" rtl="0">
              <a:spcBef>
                <a:spcPts val="0"/>
              </a:spcBef>
              <a:spcAft>
                <a:spcPts val="0"/>
              </a:spcAft>
              <a:buSzPts val="1800"/>
              <a:buChar char="●"/>
            </a:pPr>
            <a:r>
              <a:rPr lang="en"/>
              <a:t>A process</a:t>
            </a:r>
            <a:endParaRPr/>
          </a:p>
          <a:p>
            <a:pPr marL="0" lvl="0" indent="0" algn="l" rtl="0">
              <a:spcBef>
                <a:spcPts val="1600"/>
              </a:spcBef>
              <a:spcAft>
                <a:spcPts val="0"/>
              </a:spcAft>
              <a:buClr>
                <a:schemeClr val="dk1"/>
              </a:buClr>
              <a:buSzPts val="1100"/>
              <a:buFont typeface="Arial"/>
              <a:buNone/>
            </a:pPr>
            <a:r>
              <a:rPr lang="en"/>
              <a:t>Research is not:</a:t>
            </a:r>
            <a:endParaRPr/>
          </a:p>
          <a:p>
            <a:pPr marL="457200" lvl="0" indent="-342900" algn="l" rtl="0">
              <a:spcBef>
                <a:spcPts val="1600"/>
              </a:spcBef>
              <a:spcAft>
                <a:spcPts val="0"/>
              </a:spcAft>
              <a:buSzPts val="1800"/>
              <a:buChar char="●"/>
            </a:pPr>
            <a:r>
              <a:rPr lang="en"/>
              <a:t>Accidental discovery</a:t>
            </a:r>
            <a:endParaRPr/>
          </a:p>
          <a:p>
            <a:pPr marL="457200" lvl="0" indent="-342900" algn="l" rtl="0">
              <a:spcBef>
                <a:spcPts val="0"/>
              </a:spcBef>
              <a:spcAft>
                <a:spcPts val="0"/>
              </a:spcAft>
              <a:buSzPts val="1800"/>
              <a:buChar char="●"/>
            </a:pPr>
            <a:r>
              <a:rPr lang="en"/>
              <a:t>Data collection (though it is a critical part of research)</a:t>
            </a:r>
            <a:endParaRPr/>
          </a:p>
          <a:p>
            <a:pPr marL="457200" lvl="0" indent="-342900" algn="l" rtl="0">
              <a:spcBef>
                <a:spcPts val="0"/>
              </a:spcBef>
              <a:spcAft>
                <a:spcPts val="0"/>
              </a:spcAft>
              <a:buSzPts val="1800"/>
              <a:buChar char="●"/>
            </a:pPr>
            <a:r>
              <a:rPr lang="en"/>
              <a:t>Searching out published research (though literature review is important part of the research process)</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Basic and applied research</a:t>
            </a:r>
            <a:endParaRPr/>
          </a:p>
        </p:txBody>
      </p:sp>
      <p:sp>
        <p:nvSpPr>
          <p:cNvPr id="90" name="Google Shape;90;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Basic: proposing new theories or methods and investigating their properties.  Ex: new functional forms, new estimators.  Audience is other economists/researchers</a:t>
            </a:r>
            <a:endParaRPr/>
          </a:p>
          <a:p>
            <a:pPr marL="457200" lvl="0" indent="-342900" algn="l" rtl="0">
              <a:spcBef>
                <a:spcPts val="1600"/>
              </a:spcBef>
              <a:spcAft>
                <a:spcPts val="0"/>
              </a:spcAft>
              <a:buSzPts val="1800"/>
              <a:buChar char="●"/>
            </a:pPr>
            <a:r>
              <a:rPr lang="en"/>
              <a:t>Fundamental economic research is still about human behavior</a:t>
            </a:r>
            <a:endParaRPr/>
          </a:p>
          <a:p>
            <a:pPr marL="457200" lvl="0" indent="-342900" algn="l" rtl="0">
              <a:spcBef>
                <a:spcPts val="0"/>
              </a:spcBef>
              <a:spcAft>
                <a:spcPts val="0"/>
              </a:spcAft>
              <a:buSzPts val="1800"/>
              <a:buChar char="●"/>
            </a:pPr>
            <a:r>
              <a:rPr lang="en"/>
              <a:t>Disciplinary research</a:t>
            </a:r>
            <a:endParaRPr/>
          </a:p>
          <a:p>
            <a:pPr marL="0" lvl="0" indent="0" algn="l" rtl="0">
              <a:spcBef>
                <a:spcPts val="1600"/>
              </a:spcBef>
              <a:spcAft>
                <a:spcPts val="0"/>
              </a:spcAft>
              <a:buClr>
                <a:schemeClr val="dk1"/>
              </a:buClr>
              <a:buSzPts val="1100"/>
              <a:buFont typeface="Arial"/>
              <a:buNone/>
            </a:pPr>
            <a:r>
              <a:rPr lang="en"/>
              <a:t>Applied: applying theories or tools to study real world problems.</a:t>
            </a:r>
            <a:endParaRPr/>
          </a:p>
          <a:p>
            <a:pPr marL="457200" lvl="0" indent="-342900" algn="l" rtl="0">
              <a:spcBef>
                <a:spcPts val="1600"/>
              </a:spcBef>
              <a:spcAft>
                <a:spcPts val="0"/>
              </a:spcAft>
              <a:buSzPts val="1800"/>
              <a:buChar char="●"/>
            </a:pPr>
            <a:r>
              <a:rPr lang="en"/>
              <a:t>Subject-matter: climate change </a:t>
            </a:r>
            <a:endParaRPr/>
          </a:p>
          <a:p>
            <a:pPr marL="457200" lvl="0" indent="-342900" algn="l" rtl="0">
              <a:spcBef>
                <a:spcPts val="0"/>
              </a:spcBef>
              <a:spcAft>
                <a:spcPts val="0"/>
              </a:spcAft>
              <a:buSzPts val="1800"/>
              <a:buChar char="●"/>
            </a:pPr>
            <a:r>
              <a:rPr lang="en"/>
              <a:t>Problem solving: cap and trade in CA policy analysis</a:t>
            </a:r>
            <a:endParaRPr/>
          </a:p>
          <a:p>
            <a:pPr marL="0" lvl="0" indent="0" algn="l" rtl="0">
              <a:spcBef>
                <a:spcPts val="1600"/>
              </a:spcBef>
              <a:spcAft>
                <a:spcPts val="0"/>
              </a:spcAft>
              <a:buClr>
                <a:schemeClr val="dk1"/>
              </a:buClr>
              <a:buSzPts val="1100"/>
              <a:buFont typeface="Arial"/>
              <a:buNone/>
            </a:pPr>
            <a:r>
              <a:rPr lang="en"/>
              <a:t>Both and interdependent and influence each other. How?</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the goal of economic research?  </a:t>
            </a:r>
            <a:endParaRPr/>
          </a:p>
        </p:txBody>
      </p:sp>
      <p:sp>
        <p:nvSpPr>
          <p:cNvPr id="96" name="Google Shape;96;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 learn or better understand economic processes, relationships between people/firms in society, relationships between people and natural resources</a:t>
            </a:r>
            <a:endParaRPr/>
          </a:p>
          <a:p>
            <a:pPr marL="0" lvl="0" indent="0" algn="l" rtl="0">
              <a:spcBef>
                <a:spcPts val="1600"/>
              </a:spcBef>
              <a:spcAft>
                <a:spcPts val="0"/>
              </a:spcAft>
              <a:buNone/>
            </a:pPr>
            <a:r>
              <a:rPr lang="en"/>
              <a:t>Doing the research frequently requires solving problems… solving a model or doing econometrics, but this is not the goal of the research</a:t>
            </a:r>
            <a:endParaRPr/>
          </a:p>
          <a:p>
            <a:pPr marL="0" lvl="0" indent="0" algn="l" rtl="0">
              <a:spcBef>
                <a:spcPts val="1600"/>
              </a:spcBef>
              <a:spcAft>
                <a:spcPts val="0"/>
              </a:spcAft>
              <a:buNone/>
            </a:pPr>
            <a:r>
              <a:rPr lang="en"/>
              <a:t>Throughout the research process ask yourself </a:t>
            </a:r>
            <a:endParaRPr/>
          </a:p>
          <a:p>
            <a:pPr marL="0" lvl="0" indent="457200" algn="l" rtl="0">
              <a:spcBef>
                <a:spcPts val="1600"/>
              </a:spcBef>
              <a:spcAft>
                <a:spcPts val="1600"/>
              </a:spcAft>
              <a:buNone/>
            </a:pPr>
            <a:r>
              <a:rPr lang="en"/>
              <a:t>“Is what I am doing helping me achieve the goal of research”</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6">
                                            <p:txEl>
                                              <p:pRg st="0" end="0"/>
                                            </p:txEl>
                                          </p:spTgt>
                                        </p:tgtEl>
                                        <p:attrNameLst>
                                          <p:attrName>style.visibility</p:attrName>
                                        </p:attrNameLst>
                                      </p:cBhvr>
                                      <p:to>
                                        <p:strVal val="visible"/>
                                      </p:to>
                                    </p:set>
                                    <p:animEffect transition="in" filter="fade">
                                      <p:cBhvr>
                                        <p:cTn id="7" dur="1"/>
                                        <p:tgtEl>
                                          <p:spTgt spid="9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6">
                                            <p:txEl>
                                              <p:pRg st="1" end="1"/>
                                            </p:txEl>
                                          </p:spTgt>
                                        </p:tgtEl>
                                        <p:attrNameLst>
                                          <p:attrName>style.visibility</p:attrName>
                                        </p:attrNameLst>
                                      </p:cBhvr>
                                      <p:to>
                                        <p:strVal val="visible"/>
                                      </p:to>
                                    </p:set>
                                    <p:animEffect transition="in" filter="fade">
                                      <p:cBhvr>
                                        <p:cTn id="12" dur="1"/>
                                        <p:tgtEl>
                                          <p:spTgt spid="9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6">
                                            <p:txEl>
                                              <p:pRg st="2" end="2"/>
                                            </p:txEl>
                                          </p:spTgt>
                                        </p:tgtEl>
                                        <p:attrNameLst>
                                          <p:attrName>style.visibility</p:attrName>
                                        </p:attrNameLst>
                                      </p:cBhvr>
                                      <p:to>
                                        <p:strVal val="visible"/>
                                      </p:to>
                                    </p:set>
                                    <p:animEffect transition="in" filter="fade">
                                      <p:cBhvr>
                                        <p:cTn id="17" dur="1"/>
                                        <p:tgtEl>
                                          <p:spTgt spid="9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6">
                                            <p:txEl>
                                              <p:pRg st="3" end="3"/>
                                            </p:txEl>
                                          </p:spTgt>
                                        </p:tgtEl>
                                        <p:attrNameLst>
                                          <p:attrName>style.visibility</p:attrName>
                                        </p:attrNameLst>
                                      </p:cBhvr>
                                      <p:to>
                                        <p:strVal val="visible"/>
                                      </p:to>
                                    </p:set>
                                    <p:animEffect transition="in" filter="fade">
                                      <p:cBhvr>
                                        <p:cTn id="22" dur="1"/>
                                        <p:tgtEl>
                                          <p:spTgt spid="9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How do we do economic research?</a:t>
            </a:r>
            <a:endParaRPr/>
          </a:p>
        </p:txBody>
      </p:sp>
      <p:sp>
        <p:nvSpPr>
          <p:cNvPr id="102" name="Google Shape;102;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Apply methods to solve identified economic research questions</a:t>
            </a:r>
            <a:endParaRPr dirty="0"/>
          </a:p>
          <a:p>
            <a:pPr marL="0" lvl="0" indent="0" algn="l" rtl="0">
              <a:spcBef>
                <a:spcPts val="1600"/>
              </a:spcBef>
              <a:spcAft>
                <a:spcPts val="0"/>
              </a:spcAft>
              <a:buClr>
                <a:schemeClr val="dk1"/>
              </a:buClr>
              <a:buSzPts val="1100"/>
              <a:buFont typeface="Arial"/>
              <a:buNone/>
            </a:pPr>
            <a:r>
              <a:rPr lang="en" dirty="0"/>
              <a:t>Identify questions → develop hypothesis (based on theory) → collect and analyze data → revise theory → repeat</a:t>
            </a:r>
            <a:endParaRPr dirty="0"/>
          </a:p>
          <a:p>
            <a:pPr marL="0" lvl="0" indent="0" algn="l" rtl="0">
              <a:spcBef>
                <a:spcPts val="1600"/>
              </a:spcBef>
              <a:spcAft>
                <a:spcPts val="0"/>
              </a:spcAft>
              <a:buClr>
                <a:schemeClr val="dk1"/>
              </a:buClr>
              <a:buSzPts val="1100"/>
              <a:buFont typeface="Arial"/>
              <a:buNone/>
            </a:pPr>
            <a:r>
              <a:rPr lang="en" dirty="0"/>
              <a:t>Research does not proceed linearly or as easily as it may sound when reading a journal article.  Often fits and starts with many dead ends. </a:t>
            </a:r>
          </a:p>
          <a:p>
            <a:pPr marL="0" lvl="0" indent="0" algn="l" rtl="0">
              <a:spcBef>
                <a:spcPts val="1600"/>
              </a:spcBef>
              <a:spcAft>
                <a:spcPts val="0"/>
              </a:spcAft>
              <a:buClr>
                <a:schemeClr val="dk1"/>
              </a:buClr>
              <a:buSzPts val="1100"/>
              <a:buFont typeface="Arial"/>
              <a:buNone/>
            </a:pPr>
            <a:r>
              <a:rPr lang="en" dirty="0"/>
              <a:t>Any examples?</a:t>
            </a:r>
            <a:endParaRPr dirty="0"/>
          </a:p>
          <a:p>
            <a:pPr marL="0" lvl="0" indent="0" algn="l" rtl="0">
              <a:spcBef>
                <a:spcPts val="1600"/>
              </a:spcBef>
              <a:spcAft>
                <a:spcPts val="1600"/>
              </a:spcAft>
              <a:buNone/>
            </a:pPr>
            <a:r>
              <a:rPr lang="en" dirty="0"/>
              <a:t>Collaboration: Economics is inherently multidisciplinary. Economics deals with human activities that are affected by social religious political governmental institutional physical by and biological factors. </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Research Process</a:t>
            </a:r>
            <a:endParaRPr/>
          </a:p>
        </p:txBody>
      </p:sp>
      <p:sp>
        <p:nvSpPr>
          <p:cNvPr id="108" name="Google Shape;108;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Identify problem and develop research question</a:t>
            </a:r>
            <a:endParaRPr/>
          </a:p>
          <a:p>
            <a:pPr marL="0" lvl="0" indent="0" algn="l" rtl="0">
              <a:spcBef>
                <a:spcPts val="1600"/>
              </a:spcBef>
              <a:spcAft>
                <a:spcPts val="0"/>
              </a:spcAft>
              <a:buClr>
                <a:schemeClr val="dk1"/>
              </a:buClr>
              <a:buSzPts val="1100"/>
              <a:buFont typeface="Arial"/>
              <a:buNone/>
            </a:pPr>
            <a:r>
              <a:rPr lang="en"/>
              <a:t>Formulate objectives</a:t>
            </a:r>
            <a:endParaRPr/>
          </a:p>
          <a:p>
            <a:pPr marL="0" lvl="0" indent="0" algn="l" rtl="0">
              <a:spcBef>
                <a:spcPts val="1600"/>
              </a:spcBef>
              <a:spcAft>
                <a:spcPts val="0"/>
              </a:spcAft>
              <a:buClr>
                <a:schemeClr val="dk1"/>
              </a:buClr>
              <a:buSzPts val="1100"/>
              <a:buFont typeface="Arial"/>
              <a:buNone/>
            </a:pPr>
            <a:r>
              <a:rPr lang="en"/>
              <a:t>Plan and design research methods</a:t>
            </a:r>
            <a:endParaRPr/>
          </a:p>
          <a:p>
            <a:pPr marL="0" lvl="0" indent="0" algn="l" rtl="0">
              <a:spcBef>
                <a:spcPts val="1600"/>
              </a:spcBef>
              <a:spcAft>
                <a:spcPts val="0"/>
              </a:spcAft>
              <a:buClr>
                <a:schemeClr val="dk1"/>
              </a:buClr>
              <a:buSzPts val="1100"/>
              <a:buFont typeface="Arial"/>
              <a:buNone/>
            </a:pPr>
            <a:r>
              <a:rPr lang="en"/>
              <a:t>Do project and generate results</a:t>
            </a:r>
            <a:endParaRPr/>
          </a:p>
          <a:p>
            <a:pPr marL="0" lvl="0" indent="0" algn="l" rtl="0">
              <a:spcBef>
                <a:spcPts val="1600"/>
              </a:spcBef>
              <a:spcAft>
                <a:spcPts val="0"/>
              </a:spcAft>
              <a:buClr>
                <a:schemeClr val="dk1"/>
              </a:buClr>
              <a:buSzPts val="1100"/>
              <a:buFont typeface="Arial"/>
              <a:buNone/>
            </a:pPr>
            <a:r>
              <a:rPr lang="en"/>
              <a:t>Interpret and draw conclusions</a:t>
            </a:r>
            <a:endParaRPr/>
          </a:p>
          <a:p>
            <a:pPr marL="0" lvl="0" indent="0" algn="l" rtl="0">
              <a:spcBef>
                <a:spcPts val="1600"/>
              </a:spcBef>
              <a:spcAft>
                <a:spcPts val="0"/>
              </a:spcAft>
              <a:buNone/>
            </a:pPr>
            <a:r>
              <a:rPr lang="en"/>
              <a:t>Communicate your research to audience</a:t>
            </a:r>
            <a:endParaRPr/>
          </a:p>
          <a:p>
            <a:pPr marL="457200" lvl="0" indent="-342900" algn="l" rtl="0">
              <a:spcBef>
                <a:spcPts val="1600"/>
              </a:spcBef>
              <a:spcAft>
                <a:spcPts val="0"/>
              </a:spcAft>
              <a:buSzPts val="1800"/>
              <a:buChar char="●"/>
            </a:pPr>
            <a:r>
              <a:rPr lang="en"/>
              <a:t>Sub-discipline, discipline, academic, practitioners, general audience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Creativity</a:t>
            </a:r>
            <a:endParaRPr/>
          </a:p>
        </p:txBody>
      </p:sp>
      <p:sp>
        <p:nvSpPr>
          <p:cNvPr id="114" name="Google Shape;114;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Prescriptive: creativity in converting research into policy</a:t>
            </a:r>
            <a:endParaRPr/>
          </a:p>
          <a:p>
            <a:pPr marL="457200" lvl="0" indent="-342900" algn="l" rtl="0">
              <a:spcBef>
                <a:spcPts val="1600"/>
              </a:spcBef>
              <a:spcAft>
                <a:spcPts val="0"/>
              </a:spcAft>
              <a:buSzPts val="1800"/>
              <a:buChar char="●"/>
            </a:pPr>
            <a:r>
              <a:rPr lang="en"/>
              <a:t>Transferable quota in commercial fishing</a:t>
            </a:r>
            <a:endParaRPr/>
          </a:p>
          <a:p>
            <a:pPr marL="0" lvl="0" indent="0" algn="l" rtl="0">
              <a:spcBef>
                <a:spcPts val="1600"/>
              </a:spcBef>
              <a:spcAft>
                <a:spcPts val="0"/>
              </a:spcAft>
              <a:buClr>
                <a:schemeClr val="dk1"/>
              </a:buClr>
              <a:buSzPts val="1100"/>
              <a:buFont typeface="Arial"/>
              <a:buNone/>
            </a:pPr>
            <a:r>
              <a:rPr lang="en"/>
              <a:t>Applied: creativity in finding appropriate solution concepts to problems</a:t>
            </a:r>
            <a:endParaRPr/>
          </a:p>
          <a:p>
            <a:pPr marL="457200" lvl="0" indent="-342900" algn="l" rtl="0">
              <a:spcBef>
                <a:spcPts val="1600"/>
              </a:spcBef>
              <a:spcAft>
                <a:spcPts val="0"/>
              </a:spcAft>
              <a:buSzPts val="1800"/>
              <a:buChar char="●"/>
            </a:pPr>
            <a:r>
              <a:rPr lang="en"/>
              <a:t>Nash equilibrium to the location choice</a:t>
            </a:r>
            <a:endParaRPr/>
          </a:p>
          <a:p>
            <a:pPr marL="0" lvl="0" indent="0" algn="l" rtl="0">
              <a:spcBef>
                <a:spcPts val="1600"/>
              </a:spcBef>
              <a:spcAft>
                <a:spcPts val="0"/>
              </a:spcAft>
              <a:buClr>
                <a:schemeClr val="dk1"/>
              </a:buClr>
              <a:buSzPts val="1100"/>
              <a:buFont typeface="Arial"/>
              <a:buNone/>
            </a:pPr>
            <a:r>
              <a:rPr lang="en"/>
              <a:t>Theoretical: drawing connections between abstract concepts</a:t>
            </a:r>
            <a:endParaRPr/>
          </a:p>
          <a:p>
            <a:pPr marL="457200" lvl="0" indent="-342900" algn="l" rtl="0">
              <a:spcBef>
                <a:spcPts val="1600"/>
              </a:spcBef>
              <a:spcAft>
                <a:spcPts val="0"/>
              </a:spcAft>
              <a:buSzPts val="1800"/>
              <a:buChar char="●"/>
            </a:pPr>
            <a:r>
              <a:rPr lang="en"/>
              <a:t>Fire and moral hazard</a:t>
            </a:r>
            <a:endParaRPr/>
          </a:p>
          <a:p>
            <a:pPr marL="0" lvl="0" indent="0" algn="l" rtl="0">
              <a:spcBef>
                <a:spcPts val="1600"/>
              </a:spcBef>
              <a:spcAft>
                <a:spcPts val="1600"/>
              </a:spcAft>
              <a:buNone/>
            </a:pPr>
            <a:r>
              <a:rPr lang="en"/>
              <a:t>How can you cultivate creativity?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How do we evaluate economic research?</a:t>
            </a:r>
            <a:endParaRPr/>
          </a:p>
        </p:txBody>
      </p:sp>
      <p:sp>
        <p:nvSpPr>
          <p:cNvPr id="120" name="Google Shape;120;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Evaluate an argument by thinking critically about the component parts: assumptions, logic, evidence</a:t>
            </a:r>
            <a:endParaRPr dirty="0"/>
          </a:p>
          <a:p>
            <a:pPr marL="457200" lvl="0" indent="-342900" algn="l" rtl="0">
              <a:spcBef>
                <a:spcPts val="1600"/>
              </a:spcBef>
              <a:spcAft>
                <a:spcPts val="0"/>
              </a:spcAft>
              <a:buSzPts val="1800"/>
              <a:buChar char="●"/>
            </a:pPr>
            <a:r>
              <a:rPr lang="en" dirty="0"/>
              <a:t>Is the logic flawed?  This is usually handled by the model and logic is imposed by mathematics.  Move toward empirics is making this less clear in papers</a:t>
            </a:r>
            <a:endParaRPr dirty="0"/>
          </a:p>
          <a:p>
            <a:pPr marL="457200" lvl="0" indent="-342900" algn="l" rtl="0">
              <a:spcBef>
                <a:spcPts val="0"/>
              </a:spcBef>
              <a:spcAft>
                <a:spcPts val="0"/>
              </a:spcAft>
              <a:buSzPts val="1800"/>
              <a:buChar char="●"/>
            </a:pPr>
            <a:r>
              <a:rPr lang="en" dirty="0"/>
              <a:t>Are the assumptions necessary to draw the conclusions?  Would changing the assumptions lead to different conclusions. Recognize implicit assumptions and try to make them explicit  </a:t>
            </a:r>
            <a:endParaRPr dirty="0"/>
          </a:p>
          <a:p>
            <a:pPr marL="457200" lvl="0" indent="-342900" algn="l" rtl="0">
              <a:spcBef>
                <a:spcPts val="0"/>
              </a:spcBef>
              <a:spcAft>
                <a:spcPts val="0"/>
              </a:spcAft>
              <a:buSzPts val="1800"/>
              <a:buChar char="●"/>
            </a:pPr>
            <a:r>
              <a:rPr lang="en" dirty="0"/>
              <a:t>Does the evidence support the conclusion?</a:t>
            </a:r>
            <a:endParaRPr dirty="0"/>
          </a:p>
          <a:p>
            <a:pPr marL="457200" lvl="0" indent="-342900" algn="l" rtl="0">
              <a:spcBef>
                <a:spcPts val="0"/>
              </a:spcBef>
              <a:spcAft>
                <a:spcPts val="0"/>
              </a:spcAft>
              <a:buSzPts val="1800"/>
              <a:buChar char="●"/>
            </a:pPr>
            <a:r>
              <a:rPr lang="en" dirty="0"/>
              <a:t>Is the argument persuasive?</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5"/>
          <p:cNvSpPr txBox="1">
            <a:spLocks noGrp="1"/>
          </p:cNvSpPr>
          <p:nvPr>
            <p:ph type="title"/>
          </p:nvPr>
        </p:nvSpPr>
        <p:spPr>
          <a:xfrm>
            <a:off x="113950" y="445025"/>
            <a:ext cx="8958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t>Why should we study economic research methodology?</a:t>
            </a:r>
            <a:endParaRPr sz="2700"/>
          </a:p>
        </p:txBody>
      </p:sp>
      <p:sp>
        <p:nvSpPr>
          <p:cNvPr id="126" name="Google Shape;126;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Understanding the process by which we conduct research is the most efficient way to produce new knowledge</a:t>
            </a:r>
            <a:endParaRPr/>
          </a:p>
          <a:p>
            <a:pPr marL="0" lvl="0" indent="0" algn="l" rtl="0">
              <a:spcBef>
                <a:spcPts val="1600"/>
              </a:spcBef>
              <a:spcAft>
                <a:spcPts val="0"/>
              </a:spcAft>
              <a:buNone/>
            </a:pPr>
            <a:r>
              <a:rPr lang="en"/>
              <a:t>Methods vs. methodology</a:t>
            </a:r>
            <a:endParaRPr/>
          </a:p>
          <a:p>
            <a:pPr marL="457200" lvl="0" indent="-342900" algn="l" rtl="0">
              <a:spcBef>
                <a:spcPts val="1600"/>
              </a:spcBef>
              <a:spcAft>
                <a:spcPts val="0"/>
              </a:spcAft>
              <a:buSzPts val="1800"/>
              <a:buChar char="●"/>
            </a:pPr>
            <a:r>
              <a:rPr lang="en"/>
              <a:t>Methods are the specific details about how a problem is solved </a:t>
            </a:r>
            <a:endParaRPr/>
          </a:p>
          <a:p>
            <a:pPr marL="914400" lvl="1" indent="-317500" algn="l" rtl="0">
              <a:spcBef>
                <a:spcPts val="0"/>
              </a:spcBef>
              <a:spcAft>
                <a:spcPts val="0"/>
              </a:spcAft>
              <a:buSzPts val="1400"/>
              <a:buChar char="○"/>
            </a:pPr>
            <a:r>
              <a:rPr lang="en"/>
              <a:t>The other courses you will take cover methods of economics</a:t>
            </a:r>
            <a:endParaRPr/>
          </a:p>
          <a:p>
            <a:pPr marL="457200" lvl="0" indent="-342900" algn="l" rtl="0">
              <a:spcBef>
                <a:spcPts val="0"/>
              </a:spcBef>
              <a:spcAft>
                <a:spcPts val="0"/>
              </a:spcAft>
              <a:buSzPts val="1800"/>
              <a:buChar char="●"/>
            </a:pPr>
            <a:r>
              <a:rPr lang="en"/>
              <a:t>Methodology provides the principles for organizing, planning, designing, and conducting research.</a:t>
            </a:r>
            <a:endParaRPr/>
          </a:p>
          <a:p>
            <a:pPr marL="914400" lvl="1" indent="-317500" algn="l" rtl="0">
              <a:spcBef>
                <a:spcPts val="0"/>
              </a:spcBef>
              <a:spcAft>
                <a:spcPts val="0"/>
              </a:spcAft>
              <a:buSzPts val="1400"/>
              <a:buChar char="○"/>
            </a:pPr>
            <a:r>
              <a:rPr lang="en"/>
              <a:t>The science and art of research</a:t>
            </a:r>
            <a:endParaRPr/>
          </a:p>
          <a:p>
            <a:pPr marL="914400" lvl="1" indent="-317500" algn="l" rtl="0">
              <a:spcBef>
                <a:spcPts val="0"/>
              </a:spcBef>
              <a:spcAft>
                <a:spcPts val="0"/>
              </a:spcAft>
              <a:buSzPts val="1400"/>
              <a:buChar char="○"/>
            </a:pPr>
            <a:r>
              <a:rPr lang="en"/>
              <a:t>Goal is to expand and confirm body of knowledge.  Research methodology is the study of how we accomplish that goal.</a:t>
            </a:r>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Poppers Philosophy of Science</a:t>
            </a:r>
            <a:endParaRPr/>
          </a:p>
        </p:txBody>
      </p:sp>
      <p:sp>
        <p:nvSpPr>
          <p:cNvPr id="132" name="Google Shape;132;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Evaluating logic</a:t>
            </a:r>
            <a:endParaRPr/>
          </a:p>
          <a:p>
            <a:pPr marL="457200" lvl="0" indent="-342900" algn="l" rtl="0">
              <a:spcBef>
                <a:spcPts val="1600"/>
              </a:spcBef>
              <a:spcAft>
                <a:spcPts val="0"/>
              </a:spcAft>
              <a:buSzPts val="1800"/>
              <a:buChar char="●"/>
            </a:pPr>
            <a:r>
              <a:rPr lang="en"/>
              <a:t>Modes of argument</a:t>
            </a:r>
            <a:endParaRPr/>
          </a:p>
          <a:p>
            <a:pPr marL="457200" lvl="0" indent="-342900" algn="l" rtl="0">
              <a:spcBef>
                <a:spcPts val="0"/>
              </a:spcBef>
              <a:spcAft>
                <a:spcPts val="0"/>
              </a:spcAft>
              <a:buSzPts val="1800"/>
              <a:buChar char="●"/>
            </a:pPr>
            <a:r>
              <a:rPr lang="en"/>
              <a:t>Validity</a:t>
            </a:r>
            <a:endParaRPr/>
          </a:p>
          <a:p>
            <a:pPr marL="457200" lvl="0" indent="-342900" algn="l" rtl="0">
              <a:spcBef>
                <a:spcPts val="0"/>
              </a:spcBef>
              <a:spcAft>
                <a:spcPts val="0"/>
              </a:spcAft>
              <a:buSzPts val="1800"/>
              <a:buChar char="●"/>
            </a:pPr>
            <a:r>
              <a:rPr lang="en"/>
              <a:t>Soundness</a:t>
            </a:r>
            <a:endParaRPr/>
          </a:p>
          <a:p>
            <a:pPr marL="0" lvl="0" indent="0" algn="l" rtl="0">
              <a:spcBef>
                <a:spcPts val="1600"/>
              </a:spcBef>
              <a:spcAft>
                <a:spcPts val="0"/>
              </a:spcAft>
              <a:buNone/>
            </a:pPr>
            <a:r>
              <a:rPr lang="en"/>
              <a:t>Forms of reasoning</a:t>
            </a:r>
            <a:endParaRPr/>
          </a:p>
          <a:p>
            <a:pPr marL="0" lvl="0" indent="0" algn="l" rtl="0">
              <a:spcBef>
                <a:spcPts val="1600"/>
              </a:spcBef>
              <a:spcAft>
                <a:spcPts val="1600"/>
              </a:spcAft>
              <a:buNone/>
            </a:pPr>
            <a:r>
              <a:rPr lang="en"/>
              <a:t>Scientific Theory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a:t>Two modes of argument from philosophy</a:t>
            </a:r>
            <a:endParaRPr/>
          </a:p>
        </p:txBody>
      </p:sp>
      <p:sp>
        <p:nvSpPr>
          <p:cNvPr id="138" name="Google Shape;138;p27"/>
          <p:cNvSpPr txBox="1">
            <a:spLocks noGrp="1"/>
          </p:cNvSpPr>
          <p:nvPr>
            <p:ph type="body" idx="1"/>
          </p:nvPr>
        </p:nvSpPr>
        <p:spPr>
          <a:xfrm>
            <a:off x="311700" y="1152475"/>
            <a:ext cx="8520600" cy="37452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600">
                <a:solidFill>
                  <a:schemeClr val="dk1"/>
                </a:solidFill>
                <a:latin typeface="Calibri"/>
                <a:ea typeface="Calibri"/>
                <a:cs typeface="Calibri"/>
                <a:sym typeface="Calibri"/>
              </a:rPr>
              <a:t>Modus ponens (mode that affirms): the rule of logic stating that if a conditional statement (“if p then q ”) is accepted, and the antecedent ( p ) holds, then the consequent ( q ) may be inferred.  </a:t>
            </a:r>
            <a:endParaRPr sz="1600">
              <a:solidFill>
                <a:schemeClr val="dk1"/>
              </a:solidFill>
              <a:latin typeface="Calibri"/>
              <a:ea typeface="Calibri"/>
              <a:cs typeface="Calibri"/>
              <a:sym typeface="Calibri"/>
            </a:endParaRPr>
          </a:p>
          <a:p>
            <a:pPr marL="457200" lvl="0" indent="-330200" algn="l" rtl="0">
              <a:lnSpc>
                <a:spcPct val="100000"/>
              </a:lnSpc>
              <a:spcBef>
                <a:spcPts val="0"/>
              </a:spcBef>
              <a:spcAft>
                <a:spcPts val="0"/>
              </a:spcAft>
              <a:buClr>
                <a:schemeClr val="dk1"/>
              </a:buClr>
              <a:buSzPts val="1600"/>
              <a:buFont typeface="Noto Sans Symbols"/>
              <a:buChar char="●"/>
            </a:pPr>
            <a:r>
              <a:rPr lang="en" sz="1600">
                <a:solidFill>
                  <a:schemeClr val="dk1"/>
                </a:solidFill>
                <a:latin typeface="Calibri"/>
                <a:ea typeface="Calibri"/>
                <a:cs typeface="Calibri"/>
                <a:sym typeface="Calibri"/>
              </a:rPr>
              <a:t>Ex: If Socrates is a man then Socrates is mortal. Socrates is a man.</a:t>
            </a:r>
            <a:r>
              <a:rPr lang="en" sz="1600">
                <a:solidFill>
                  <a:schemeClr val="dk1"/>
                </a:solidFill>
                <a:latin typeface="MS Mincho"/>
                <a:ea typeface="MS Mincho"/>
                <a:cs typeface="MS Mincho"/>
                <a:sym typeface="MS Mincho"/>
              </a:rPr>
              <a:t> </a:t>
            </a:r>
            <a:r>
              <a:rPr lang="en" sz="1600">
                <a:solidFill>
                  <a:schemeClr val="dk1"/>
                </a:solidFill>
                <a:latin typeface="Calibri"/>
                <a:ea typeface="Calibri"/>
                <a:cs typeface="Calibri"/>
                <a:sym typeface="Calibri"/>
              </a:rPr>
              <a:t>Therefore, Socrates is mortal.</a:t>
            </a:r>
            <a:endParaRPr sz="1600">
              <a:solidFill>
                <a:schemeClr val="dk1"/>
              </a:solidFill>
              <a:latin typeface="Calibri"/>
              <a:ea typeface="Calibri"/>
              <a:cs typeface="Calibri"/>
              <a:sym typeface="Calibri"/>
            </a:endParaRPr>
          </a:p>
          <a:p>
            <a:pPr marL="457200" lvl="0" indent="-330200" algn="l" rtl="0">
              <a:lnSpc>
                <a:spcPct val="100000"/>
              </a:lnSpc>
              <a:spcBef>
                <a:spcPts val="0"/>
              </a:spcBef>
              <a:spcAft>
                <a:spcPts val="0"/>
              </a:spcAft>
              <a:buClr>
                <a:schemeClr val="dk1"/>
              </a:buClr>
              <a:buSzPts val="1600"/>
              <a:buFont typeface="Noto Sans Symbols"/>
              <a:buChar char="●"/>
            </a:pPr>
            <a:r>
              <a:rPr lang="en" sz="1600">
                <a:solidFill>
                  <a:schemeClr val="dk1"/>
                </a:solidFill>
                <a:latin typeface="Calibri"/>
                <a:ea typeface="Calibri"/>
                <a:cs typeface="Calibri"/>
                <a:sym typeface="Calibri"/>
              </a:rPr>
              <a:t>At one point, most research progressed in this way… and most people think that it does today.</a:t>
            </a:r>
            <a:endParaRPr sz="1600">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endParaRPr sz="1600">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r>
              <a:rPr lang="en" sz="1600">
                <a:solidFill>
                  <a:schemeClr val="dk1"/>
                </a:solidFill>
                <a:latin typeface="Calibri"/>
                <a:ea typeface="Calibri"/>
                <a:cs typeface="Calibri"/>
                <a:sym typeface="Calibri"/>
              </a:rPr>
              <a:t>Modus tollens (mode that denies): if p then q.  The consequent (q) does not hold, therefore the antecedent (p) must not be true.  </a:t>
            </a:r>
            <a:endParaRPr sz="1600">
              <a:solidFill>
                <a:schemeClr val="dk1"/>
              </a:solidFill>
              <a:latin typeface="Calibri"/>
              <a:ea typeface="Calibri"/>
              <a:cs typeface="Calibri"/>
              <a:sym typeface="Calibri"/>
            </a:endParaRPr>
          </a:p>
          <a:p>
            <a:pPr marL="457200" lvl="0" indent="-330200" algn="l" rtl="0">
              <a:lnSpc>
                <a:spcPct val="100000"/>
              </a:lnSpc>
              <a:spcBef>
                <a:spcPts val="0"/>
              </a:spcBef>
              <a:spcAft>
                <a:spcPts val="0"/>
              </a:spcAft>
              <a:buClr>
                <a:schemeClr val="dk1"/>
              </a:buClr>
              <a:buSzPts val="1600"/>
              <a:buFont typeface="Noto Sans Symbols"/>
              <a:buChar char="●"/>
            </a:pPr>
            <a:r>
              <a:rPr lang="en" sz="1600">
                <a:solidFill>
                  <a:schemeClr val="dk1"/>
                </a:solidFill>
                <a:latin typeface="Calibri"/>
                <a:ea typeface="Calibri"/>
                <a:cs typeface="Calibri"/>
                <a:sym typeface="Calibri"/>
              </a:rPr>
              <a:t>If Socrates is a god, then Socrates is immortal. Socrates is not immortal.</a:t>
            </a:r>
            <a:r>
              <a:rPr lang="en" sz="1600">
                <a:solidFill>
                  <a:schemeClr val="dk1"/>
                </a:solidFill>
                <a:latin typeface="MS Mincho"/>
                <a:ea typeface="MS Mincho"/>
                <a:cs typeface="MS Mincho"/>
                <a:sym typeface="MS Mincho"/>
              </a:rPr>
              <a:t> </a:t>
            </a:r>
            <a:r>
              <a:rPr lang="en" sz="1600">
                <a:solidFill>
                  <a:schemeClr val="dk1"/>
                </a:solidFill>
                <a:latin typeface="Calibri"/>
                <a:ea typeface="Calibri"/>
                <a:cs typeface="Calibri"/>
                <a:sym typeface="Calibri"/>
              </a:rPr>
              <a:t>Therefore, Socrates is not a god. </a:t>
            </a:r>
            <a:endParaRPr sz="1600">
              <a:solidFill>
                <a:schemeClr val="dk1"/>
              </a:solidFill>
              <a:latin typeface="Calibri"/>
              <a:ea typeface="Calibri"/>
              <a:cs typeface="Calibri"/>
              <a:sym typeface="Calibri"/>
            </a:endParaRPr>
          </a:p>
          <a:p>
            <a:pPr marL="457200" lvl="0" indent="-330200" algn="l" rtl="0">
              <a:lnSpc>
                <a:spcPct val="100000"/>
              </a:lnSpc>
              <a:spcBef>
                <a:spcPts val="0"/>
              </a:spcBef>
              <a:spcAft>
                <a:spcPts val="0"/>
              </a:spcAft>
              <a:buClr>
                <a:schemeClr val="dk1"/>
              </a:buClr>
              <a:buSzPts val="1600"/>
              <a:buFont typeface="Noto Sans Symbols"/>
              <a:buChar char="●"/>
            </a:pPr>
            <a:r>
              <a:rPr lang="en" sz="1600">
                <a:solidFill>
                  <a:schemeClr val="dk1"/>
                </a:solidFill>
                <a:latin typeface="Calibri"/>
                <a:ea typeface="Calibri"/>
                <a:cs typeface="Calibri"/>
                <a:sym typeface="Calibri"/>
              </a:rPr>
              <a:t>Popper’s philosophy proposes that we use modus tollens to carve away at untruths to hopefully leave truth remaining.</a:t>
            </a:r>
            <a:endParaRPr sz="1600">
              <a:solidFill>
                <a:schemeClr val="dk1"/>
              </a:solidFill>
              <a:latin typeface="Calibri"/>
              <a:ea typeface="Calibri"/>
              <a:cs typeface="Calibri"/>
              <a:sym typeface="Calibri"/>
            </a:endParaRPr>
          </a:p>
          <a:p>
            <a:pPr marL="0" lvl="0" indent="0" algn="l" rtl="0">
              <a:spcBef>
                <a:spcPts val="0"/>
              </a:spcBef>
              <a:spcAft>
                <a:spcPts val="1600"/>
              </a:spcAft>
              <a:buNone/>
            </a:pPr>
            <a:endParaRP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animEffect transition="in" filter="fade">
                                      <p:cBhvr>
                                        <p:cTn id="7" dur="1"/>
                                        <p:tgtEl>
                                          <p:spTgt spid="1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8">
                                            <p:txEl>
                                              <p:pRg st="1" end="1"/>
                                            </p:txEl>
                                          </p:spTgt>
                                        </p:tgtEl>
                                        <p:attrNameLst>
                                          <p:attrName>style.visibility</p:attrName>
                                        </p:attrNameLst>
                                      </p:cBhvr>
                                      <p:to>
                                        <p:strVal val="visible"/>
                                      </p:to>
                                    </p:set>
                                    <p:animEffect transition="in" filter="fade">
                                      <p:cBhvr>
                                        <p:cTn id="12" dur="1"/>
                                        <p:tgtEl>
                                          <p:spTgt spid="13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8">
                                            <p:txEl>
                                              <p:pRg st="2" end="2"/>
                                            </p:txEl>
                                          </p:spTgt>
                                        </p:tgtEl>
                                        <p:attrNameLst>
                                          <p:attrName>style.visibility</p:attrName>
                                        </p:attrNameLst>
                                      </p:cBhvr>
                                      <p:to>
                                        <p:strVal val="visible"/>
                                      </p:to>
                                    </p:set>
                                    <p:animEffect transition="in" filter="fade">
                                      <p:cBhvr>
                                        <p:cTn id="17" dur="1"/>
                                        <p:tgtEl>
                                          <p:spTgt spid="13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8">
                                            <p:txEl>
                                              <p:pRg st="3" end="3"/>
                                            </p:txEl>
                                          </p:spTgt>
                                        </p:tgtEl>
                                        <p:attrNameLst>
                                          <p:attrName>style.visibility</p:attrName>
                                        </p:attrNameLst>
                                      </p:cBhvr>
                                      <p:to>
                                        <p:strVal val="visible"/>
                                      </p:to>
                                    </p:set>
                                    <p:animEffect transition="in" filter="fade">
                                      <p:cBhvr>
                                        <p:cTn id="22" dur="1"/>
                                        <p:tgtEl>
                                          <p:spTgt spid="13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8">
                                            <p:txEl>
                                              <p:pRg st="4" end="4"/>
                                            </p:txEl>
                                          </p:spTgt>
                                        </p:tgtEl>
                                        <p:attrNameLst>
                                          <p:attrName>style.visibility</p:attrName>
                                        </p:attrNameLst>
                                      </p:cBhvr>
                                      <p:to>
                                        <p:strVal val="visible"/>
                                      </p:to>
                                    </p:set>
                                    <p:animEffect transition="in" filter="fade">
                                      <p:cBhvr>
                                        <p:cTn id="27" dur="1"/>
                                        <p:tgtEl>
                                          <p:spTgt spid="13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8">
                                            <p:txEl>
                                              <p:pRg st="5" end="5"/>
                                            </p:txEl>
                                          </p:spTgt>
                                        </p:tgtEl>
                                        <p:attrNameLst>
                                          <p:attrName>style.visibility</p:attrName>
                                        </p:attrNameLst>
                                      </p:cBhvr>
                                      <p:to>
                                        <p:strVal val="visible"/>
                                      </p:to>
                                    </p:set>
                                    <p:animEffect transition="in" filter="fade">
                                      <p:cBhvr>
                                        <p:cTn id="32" dur="1"/>
                                        <p:tgtEl>
                                          <p:spTgt spid="13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8">
                                            <p:txEl>
                                              <p:pRg st="6" end="6"/>
                                            </p:txEl>
                                          </p:spTgt>
                                        </p:tgtEl>
                                        <p:attrNameLst>
                                          <p:attrName>style.visibility</p:attrName>
                                        </p:attrNameLst>
                                      </p:cBhvr>
                                      <p:to>
                                        <p:strVal val="visible"/>
                                      </p:to>
                                    </p:set>
                                    <p:animEffect transition="in" filter="fade">
                                      <p:cBhvr>
                                        <p:cTn id="37" dur="1"/>
                                        <p:tgtEl>
                                          <p:spTgt spid="13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8">
                                            <p:txEl>
                                              <p:pRg st="7" end="7"/>
                                            </p:txEl>
                                          </p:spTgt>
                                        </p:tgtEl>
                                        <p:attrNameLst>
                                          <p:attrName>style.visibility</p:attrName>
                                        </p:attrNameLst>
                                      </p:cBhvr>
                                      <p:to>
                                        <p:strVal val="visible"/>
                                      </p:to>
                                    </p:set>
                                    <p:animEffect transition="in" filter="fade">
                                      <p:cBhvr>
                                        <p:cTn id="42" dur="1"/>
                                        <p:tgtEl>
                                          <p:spTgt spid="13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Examples</a:t>
            </a:r>
            <a:endParaRPr/>
          </a:p>
        </p:txBody>
      </p:sp>
      <p:sp>
        <p:nvSpPr>
          <p:cNvPr id="144" name="Google Shape;144;p28"/>
          <p:cNvSpPr txBox="1">
            <a:spLocks noGrp="1"/>
          </p:cNvSpPr>
          <p:nvPr>
            <p:ph type="body" idx="1"/>
          </p:nvPr>
        </p:nvSpPr>
        <p:spPr>
          <a:xfrm>
            <a:off x="311700" y="1152475"/>
            <a:ext cx="8520600" cy="37452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None/>
            </a:pPr>
            <a:r>
              <a:rPr lang="en" sz="1200" dirty="0">
                <a:solidFill>
                  <a:schemeClr val="dk1"/>
                </a:solidFill>
                <a:latin typeface="Calibri"/>
                <a:ea typeface="Calibri"/>
                <a:cs typeface="Calibri"/>
                <a:sym typeface="Calibri"/>
              </a:rPr>
              <a:t>If Jane has a cat, then Jane has a pet.</a:t>
            </a:r>
            <a:br>
              <a:rPr lang="en" sz="1200" dirty="0">
                <a:solidFill>
                  <a:schemeClr val="dk1"/>
                </a:solidFill>
                <a:latin typeface="Calibri"/>
                <a:ea typeface="Calibri"/>
                <a:cs typeface="Calibri"/>
                <a:sym typeface="Calibri"/>
              </a:rPr>
            </a:br>
            <a:r>
              <a:rPr lang="en" sz="1200" dirty="0">
                <a:solidFill>
                  <a:schemeClr val="dk1"/>
                </a:solidFill>
                <a:latin typeface="Calibri"/>
                <a:ea typeface="Calibri"/>
                <a:cs typeface="Calibri"/>
                <a:sym typeface="Calibri"/>
              </a:rPr>
              <a:t>Jane has a cat.</a:t>
            </a:r>
            <a:br>
              <a:rPr lang="en" sz="1200" dirty="0">
                <a:solidFill>
                  <a:schemeClr val="dk1"/>
                </a:solidFill>
                <a:latin typeface="Calibri"/>
                <a:ea typeface="Calibri"/>
                <a:cs typeface="Calibri"/>
                <a:sym typeface="Calibri"/>
              </a:rPr>
            </a:br>
            <a:r>
              <a:rPr lang="en" sz="1200" dirty="0">
                <a:solidFill>
                  <a:schemeClr val="dk1"/>
                </a:solidFill>
                <a:latin typeface="Calibri"/>
                <a:ea typeface="Calibri"/>
                <a:cs typeface="Calibri"/>
                <a:sym typeface="Calibri"/>
              </a:rPr>
              <a:t>Therefore, Jane has a pet.</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100"/>
              <a:buFont typeface="Arial"/>
              <a:buNone/>
            </a:pPr>
            <a:endParaRPr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200"/>
              <a:buNone/>
            </a:pPr>
            <a:r>
              <a:rPr lang="en" sz="1200" dirty="0">
                <a:solidFill>
                  <a:schemeClr val="dk1"/>
                </a:solidFill>
                <a:latin typeface="Calibri"/>
                <a:ea typeface="Calibri"/>
                <a:cs typeface="Calibri"/>
                <a:sym typeface="Calibri"/>
              </a:rPr>
              <a:t>If Jane has a cat, then Jane has a pet.</a:t>
            </a:r>
            <a:br>
              <a:rPr lang="en" sz="1200" dirty="0">
                <a:solidFill>
                  <a:schemeClr val="dk1"/>
                </a:solidFill>
                <a:latin typeface="Calibri"/>
                <a:ea typeface="Calibri"/>
                <a:cs typeface="Calibri"/>
                <a:sym typeface="Calibri"/>
              </a:rPr>
            </a:br>
            <a:r>
              <a:rPr lang="en" sz="1200" dirty="0">
                <a:solidFill>
                  <a:schemeClr val="dk1"/>
                </a:solidFill>
                <a:latin typeface="Calibri"/>
                <a:ea typeface="Calibri"/>
                <a:cs typeface="Calibri"/>
                <a:sym typeface="Calibri"/>
              </a:rPr>
              <a:t>Jane does not have a cat.</a:t>
            </a:r>
            <a:br>
              <a:rPr lang="en" sz="1200" dirty="0">
                <a:solidFill>
                  <a:schemeClr val="dk1"/>
                </a:solidFill>
                <a:latin typeface="Calibri"/>
                <a:ea typeface="Calibri"/>
                <a:cs typeface="Calibri"/>
                <a:sym typeface="Calibri"/>
              </a:rPr>
            </a:br>
            <a:r>
              <a:rPr lang="en" sz="1200" dirty="0">
                <a:solidFill>
                  <a:schemeClr val="dk1"/>
                </a:solidFill>
                <a:latin typeface="Calibri"/>
                <a:ea typeface="Calibri"/>
                <a:cs typeface="Calibri"/>
                <a:sym typeface="Calibri"/>
              </a:rPr>
              <a:t>Therefore, Jane does not have a pet.</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100"/>
              <a:buFont typeface="Arial"/>
              <a:buNone/>
            </a:pPr>
            <a:endParaRPr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200"/>
              <a:buNone/>
            </a:pPr>
            <a:r>
              <a:rPr lang="en" sz="1200" dirty="0">
                <a:solidFill>
                  <a:schemeClr val="dk1"/>
                </a:solidFill>
                <a:latin typeface="Calibri"/>
                <a:ea typeface="Calibri"/>
                <a:cs typeface="Calibri"/>
                <a:sym typeface="Calibri"/>
              </a:rPr>
              <a:t>If utility is maximized subject to a budget constraint, then an individual is as happy as possible.</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An individual is as happy as possible.</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Therefore, utility must be maximized subject to a budget constraint.</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100"/>
              <a:buFont typeface="Arial"/>
              <a:buNone/>
            </a:pPr>
            <a:endParaRPr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200"/>
              <a:buNone/>
            </a:pPr>
            <a:r>
              <a:rPr lang="en" sz="1200" dirty="0">
                <a:solidFill>
                  <a:schemeClr val="dk1"/>
                </a:solidFill>
                <a:latin typeface="Calibri"/>
                <a:ea typeface="Calibri"/>
                <a:cs typeface="Calibri"/>
                <a:sym typeface="Calibri"/>
              </a:rPr>
              <a:t>If price equates supply and demand, the market is efficient.</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The market is not efficient.</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Therefore, price does not equate supply and demand.</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100"/>
              <a:buFont typeface="Arial"/>
              <a:buNone/>
            </a:pPr>
            <a:endParaRPr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200"/>
              <a:buNone/>
            </a:pPr>
            <a:r>
              <a:rPr lang="en" sz="1200" dirty="0">
                <a:solidFill>
                  <a:schemeClr val="dk1"/>
                </a:solidFill>
                <a:latin typeface="Calibri"/>
                <a:ea typeface="Calibri"/>
                <a:cs typeface="Calibri"/>
                <a:sym typeface="Calibri"/>
              </a:rPr>
              <a:t>If a market exists for a private good with complete information, the equilibrium is efficient.</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A market exists for a good with complete information.</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None/>
            </a:pPr>
            <a:r>
              <a:rPr lang="en" sz="1200" dirty="0">
                <a:solidFill>
                  <a:schemeClr val="dk1"/>
                </a:solidFill>
                <a:latin typeface="Calibri"/>
                <a:ea typeface="Calibri"/>
                <a:cs typeface="Calibri"/>
                <a:sym typeface="Calibri"/>
              </a:rPr>
              <a:t>Therefore, the equilibrium is efficient.</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Examples</a:t>
            </a:r>
            <a:endParaRPr/>
          </a:p>
        </p:txBody>
      </p:sp>
      <p:sp>
        <p:nvSpPr>
          <p:cNvPr id="150" name="Google Shape;150;p29"/>
          <p:cNvSpPr txBox="1">
            <a:spLocks noGrp="1"/>
          </p:cNvSpPr>
          <p:nvPr>
            <p:ph type="body" idx="1"/>
          </p:nvPr>
        </p:nvSpPr>
        <p:spPr>
          <a:xfrm>
            <a:off x="311700" y="1152475"/>
            <a:ext cx="8520600" cy="37452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None/>
            </a:pPr>
            <a:r>
              <a:rPr lang="en" sz="1200" dirty="0">
                <a:solidFill>
                  <a:schemeClr val="dk1"/>
                </a:solidFill>
                <a:latin typeface="Calibri"/>
                <a:ea typeface="Calibri"/>
                <a:cs typeface="Calibri"/>
                <a:sym typeface="Calibri"/>
              </a:rPr>
              <a:t>If Jane has a cat, then Jane has a pet.   </a:t>
            </a:r>
            <a:r>
              <a:rPr lang="en" sz="1200" dirty="0">
                <a:solidFill>
                  <a:schemeClr val="dk1"/>
                </a:solidFill>
                <a:highlight>
                  <a:srgbClr val="FFFF00"/>
                </a:highlight>
                <a:latin typeface="Calibri"/>
                <a:ea typeface="Calibri"/>
                <a:cs typeface="Calibri"/>
                <a:sym typeface="Calibri"/>
              </a:rPr>
              <a:t>(MP: </a:t>
            </a:r>
            <a:r>
              <a:rPr lang="en-US" sz="1200" dirty="0">
                <a:solidFill>
                  <a:schemeClr val="dk1"/>
                </a:solidFill>
                <a:highlight>
                  <a:srgbClr val="FFFF00"/>
                </a:highlight>
                <a:latin typeface="Calibri"/>
                <a:ea typeface="Calibri"/>
                <a:cs typeface="Calibri"/>
                <a:sym typeface="Calibri"/>
              </a:rPr>
              <a:t>Modus Ponens. </a:t>
            </a:r>
            <a:r>
              <a:rPr lang="en-US" sz="1200" i="1" dirty="0">
                <a:solidFill>
                  <a:schemeClr val="dk1"/>
                </a:solidFill>
                <a:highlight>
                  <a:srgbClr val="FFFF00"/>
                </a:highlight>
                <a:latin typeface="Calibri"/>
                <a:ea typeface="Calibri"/>
                <a:cs typeface="Calibri"/>
                <a:sym typeface="Calibri"/>
              </a:rPr>
              <a:t>The condition happened, so the consequence must happen.</a:t>
            </a:r>
            <a:r>
              <a:rPr lang="en-US" sz="1200" dirty="0">
                <a:solidFill>
                  <a:schemeClr val="dk1"/>
                </a:solidFill>
                <a:highlight>
                  <a:srgbClr val="FFFF00"/>
                </a:highlight>
                <a:latin typeface="Calibri"/>
                <a:ea typeface="Calibri"/>
                <a:cs typeface="Calibri"/>
                <a:sym typeface="Calibri"/>
              </a:rPr>
              <a:t>)</a:t>
            </a:r>
            <a:br>
              <a:rPr lang="en" sz="1200" dirty="0">
                <a:solidFill>
                  <a:schemeClr val="dk1"/>
                </a:solidFill>
                <a:highlight>
                  <a:srgbClr val="FFFF00"/>
                </a:highlight>
                <a:latin typeface="Calibri"/>
                <a:ea typeface="Calibri"/>
                <a:cs typeface="Calibri"/>
                <a:sym typeface="Calibri"/>
              </a:rPr>
            </a:br>
            <a:r>
              <a:rPr lang="en" sz="1200" dirty="0">
                <a:solidFill>
                  <a:schemeClr val="dk1"/>
                </a:solidFill>
                <a:latin typeface="Calibri"/>
                <a:ea typeface="Calibri"/>
                <a:cs typeface="Calibri"/>
                <a:sym typeface="Calibri"/>
              </a:rPr>
              <a:t>Jane has a cat.</a:t>
            </a:r>
            <a:br>
              <a:rPr lang="en" sz="1200" dirty="0">
                <a:solidFill>
                  <a:schemeClr val="dk1"/>
                </a:solidFill>
                <a:latin typeface="Calibri"/>
                <a:ea typeface="Calibri"/>
                <a:cs typeface="Calibri"/>
                <a:sym typeface="Calibri"/>
              </a:rPr>
            </a:br>
            <a:r>
              <a:rPr lang="en" sz="1200" dirty="0">
                <a:solidFill>
                  <a:schemeClr val="dk1"/>
                </a:solidFill>
                <a:latin typeface="Calibri"/>
                <a:ea typeface="Calibri"/>
                <a:cs typeface="Calibri"/>
                <a:sym typeface="Calibri"/>
              </a:rPr>
              <a:t>Therefore, Jane has a pet.</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None/>
            </a:pPr>
            <a:endParaRPr sz="1200" dirty="0">
              <a:solidFill>
                <a:schemeClr val="dk1"/>
              </a:solidFill>
              <a:latin typeface="Calibri"/>
              <a:ea typeface="Calibri"/>
              <a:cs typeface="Calibri"/>
              <a:sym typeface="Calibri"/>
            </a:endParaRPr>
          </a:p>
          <a:p>
            <a:pPr marL="0" lvl="0" indent="0">
              <a:lnSpc>
                <a:spcPct val="100000"/>
              </a:lnSpc>
              <a:buClr>
                <a:schemeClr val="dk1"/>
              </a:buClr>
              <a:buSzPts val="1200"/>
              <a:buNone/>
            </a:pPr>
            <a:r>
              <a:rPr lang="en" sz="1200" dirty="0">
                <a:solidFill>
                  <a:schemeClr val="dk1"/>
                </a:solidFill>
                <a:latin typeface="Calibri"/>
                <a:ea typeface="Calibri"/>
                <a:cs typeface="Calibri"/>
                <a:sym typeface="Calibri"/>
              </a:rPr>
              <a:t>If Jane has a cat, then Jane has a pet.   </a:t>
            </a:r>
            <a:r>
              <a:rPr lang="en" sz="1200" dirty="0">
                <a:solidFill>
                  <a:schemeClr val="dk1"/>
                </a:solidFill>
                <a:highlight>
                  <a:srgbClr val="FFFF00"/>
                </a:highlight>
                <a:latin typeface="Calibri"/>
                <a:ea typeface="Calibri"/>
                <a:cs typeface="Calibri"/>
                <a:sym typeface="Calibri"/>
              </a:rPr>
              <a:t>(</a:t>
            </a:r>
            <a:r>
              <a:rPr lang="en" sz="1200" dirty="0">
                <a:solidFill>
                  <a:schemeClr val="dk1"/>
                </a:solidFill>
                <a:highlight>
                  <a:srgbClr val="FF0000"/>
                </a:highlight>
                <a:latin typeface="Calibri"/>
                <a:ea typeface="Calibri"/>
                <a:cs typeface="Calibri"/>
                <a:sym typeface="Calibri"/>
              </a:rPr>
              <a:t>X </a:t>
            </a:r>
            <a:r>
              <a:rPr lang="en" sz="1200" dirty="0">
                <a:solidFill>
                  <a:schemeClr val="dk1"/>
                </a:solidFill>
                <a:highlight>
                  <a:srgbClr val="FFFF00"/>
                </a:highlight>
                <a:latin typeface="Calibri"/>
                <a:ea typeface="Calibri"/>
                <a:cs typeface="Calibri"/>
                <a:sym typeface="Calibri"/>
              </a:rPr>
              <a:t>DA: </a:t>
            </a:r>
            <a:r>
              <a:rPr lang="en-US" sz="1200" dirty="0">
                <a:solidFill>
                  <a:schemeClr val="dk1"/>
                </a:solidFill>
                <a:highlight>
                  <a:srgbClr val="FFFF00"/>
                </a:highlight>
                <a:latin typeface="Calibri"/>
                <a:ea typeface="Calibri"/>
                <a:cs typeface="Calibri"/>
                <a:sym typeface="Calibri"/>
              </a:rPr>
              <a:t>Denying the Antecedent. </a:t>
            </a:r>
            <a:r>
              <a:rPr lang="en-US" sz="1200" i="1" dirty="0">
                <a:solidFill>
                  <a:schemeClr val="dk1"/>
                </a:solidFill>
                <a:highlight>
                  <a:srgbClr val="FFFF00"/>
                </a:highlight>
                <a:latin typeface="Calibri"/>
                <a:ea typeface="Calibri"/>
                <a:cs typeface="Calibri"/>
                <a:sym typeface="Calibri"/>
              </a:rPr>
              <a:t>No cat -&gt; no pet doesn’t logically follow.</a:t>
            </a:r>
            <a:r>
              <a:rPr lang="en-US" sz="1200" dirty="0">
                <a:solidFill>
                  <a:schemeClr val="dk1"/>
                </a:solidFill>
                <a:highlight>
                  <a:srgbClr val="FFFF00"/>
                </a:highlight>
                <a:latin typeface="Calibri"/>
                <a:ea typeface="Calibri"/>
                <a:cs typeface="Calibri"/>
                <a:sym typeface="Calibri"/>
              </a:rPr>
              <a:t>)</a:t>
            </a:r>
            <a:br>
              <a:rPr lang="en" sz="1200" dirty="0">
                <a:solidFill>
                  <a:schemeClr val="dk1"/>
                </a:solidFill>
                <a:highlight>
                  <a:srgbClr val="FFFF00"/>
                </a:highlight>
                <a:latin typeface="Calibri"/>
                <a:ea typeface="Calibri"/>
                <a:cs typeface="Calibri"/>
                <a:sym typeface="Calibri"/>
              </a:rPr>
            </a:br>
            <a:r>
              <a:rPr lang="en" sz="1200" dirty="0">
                <a:solidFill>
                  <a:schemeClr val="dk1"/>
                </a:solidFill>
                <a:latin typeface="Calibri"/>
                <a:ea typeface="Calibri"/>
                <a:cs typeface="Calibri"/>
                <a:sym typeface="Calibri"/>
              </a:rPr>
              <a:t>Jane does not have a cat.</a:t>
            </a:r>
            <a:br>
              <a:rPr lang="en" sz="1200" dirty="0">
                <a:solidFill>
                  <a:schemeClr val="dk1"/>
                </a:solidFill>
                <a:latin typeface="Calibri"/>
                <a:ea typeface="Calibri"/>
                <a:cs typeface="Calibri"/>
                <a:sym typeface="Calibri"/>
              </a:rPr>
            </a:br>
            <a:r>
              <a:rPr lang="en" sz="1200" dirty="0">
                <a:solidFill>
                  <a:schemeClr val="dk1"/>
                </a:solidFill>
                <a:latin typeface="Calibri"/>
                <a:ea typeface="Calibri"/>
                <a:cs typeface="Calibri"/>
                <a:sym typeface="Calibri"/>
              </a:rPr>
              <a:t>Therefore, Jane does not have a pet.</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None/>
            </a:pPr>
            <a:endParaRPr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200"/>
              <a:buNone/>
            </a:pPr>
            <a:r>
              <a:rPr lang="en" sz="1200" dirty="0">
                <a:solidFill>
                  <a:schemeClr val="dk1"/>
                </a:solidFill>
                <a:latin typeface="Calibri"/>
                <a:ea typeface="Calibri"/>
                <a:cs typeface="Calibri"/>
                <a:sym typeface="Calibri"/>
              </a:rPr>
              <a:t>If utility is maximized subject to a budget constraint, then an individual is as happy as possible.</a:t>
            </a:r>
          </a:p>
          <a:p>
            <a:pPr marL="0" lvl="0" indent="0" algn="l" rtl="0">
              <a:lnSpc>
                <a:spcPct val="100000"/>
              </a:lnSpc>
              <a:spcBef>
                <a:spcPts val="0"/>
              </a:spcBef>
              <a:spcAft>
                <a:spcPts val="0"/>
              </a:spcAft>
              <a:buClr>
                <a:schemeClr val="dk1"/>
              </a:buClr>
              <a:buSzPts val="1200"/>
              <a:buNone/>
            </a:pPr>
            <a:r>
              <a:rPr lang="en" sz="1200" dirty="0">
                <a:solidFill>
                  <a:schemeClr val="dk1"/>
                </a:solidFill>
                <a:latin typeface="Calibri"/>
                <a:ea typeface="Calibri"/>
                <a:cs typeface="Calibri"/>
                <a:sym typeface="Calibri"/>
              </a:rPr>
              <a:t>An individual is as happy as possible.</a:t>
            </a:r>
            <a:endParaRPr sz="1200" dirty="0">
              <a:solidFill>
                <a:schemeClr val="dk1"/>
              </a:solidFill>
              <a:latin typeface="Calibri"/>
              <a:ea typeface="Calibri"/>
              <a:cs typeface="Calibri"/>
              <a:sym typeface="Calibri"/>
            </a:endParaRPr>
          </a:p>
          <a:p>
            <a:pPr marL="228600" indent="-228600">
              <a:lnSpc>
                <a:spcPct val="100000"/>
              </a:lnSpc>
              <a:buNone/>
            </a:pPr>
            <a:r>
              <a:rPr lang="en" sz="1200" dirty="0">
                <a:solidFill>
                  <a:schemeClr val="dk1"/>
                </a:solidFill>
                <a:latin typeface="Calibri"/>
                <a:ea typeface="Calibri"/>
                <a:cs typeface="Calibri"/>
                <a:sym typeface="Calibri"/>
              </a:rPr>
              <a:t>Therefore, utility must be maximized subject to a budget constraint. </a:t>
            </a:r>
            <a:r>
              <a:rPr lang="en-US" sz="1200" dirty="0">
                <a:solidFill>
                  <a:schemeClr val="dk1"/>
                </a:solidFill>
                <a:highlight>
                  <a:srgbClr val="FFFF00"/>
                </a:highlight>
                <a:latin typeface="Calibri"/>
                <a:ea typeface="Calibri"/>
                <a:cs typeface="Calibri"/>
                <a:sym typeface="Calibri"/>
              </a:rPr>
              <a:t>(</a:t>
            </a:r>
            <a:r>
              <a:rPr lang="en-US" sz="1200" dirty="0">
                <a:solidFill>
                  <a:schemeClr val="dk1"/>
                </a:solidFill>
                <a:highlight>
                  <a:srgbClr val="FF0000"/>
                </a:highlight>
                <a:latin typeface="Calibri"/>
                <a:ea typeface="Calibri"/>
                <a:cs typeface="Calibri"/>
                <a:sym typeface="Calibri"/>
              </a:rPr>
              <a:t>X </a:t>
            </a:r>
            <a:r>
              <a:rPr lang="en-US" sz="1200" dirty="0">
                <a:solidFill>
                  <a:schemeClr val="dk1"/>
                </a:solidFill>
                <a:highlight>
                  <a:srgbClr val="FFFF00"/>
                </a:highlight>
                <a:latin typeface="Calibri"/>
                <a:ea typeface="Calibri"/>
                <a:cs typeface="Calibri"/>
                <a:sym typeface="Calibri"/>
              </a:rPr>
              <a:t>AC: Affirming the Consequent. Invalid reasoning)</a:t>
            </a:r>
            <a:endParaRPr sz="1200" dirty="0">
              <a:solidFill>
                <a:schemeClr val="dk1"/>
              </a:solidFill>
              <a:highlight>
                <a:srgbClr val="FFFF00"/>
              </a:highlight>
              <a:latin typeface="Calibri"/>
              <a:ea typeface="Calibri"/>
              <a:cs typeface="Calibri"/>
              <a:sym typeface="Calibri"/>
            </a:endParaRPr>
          </a:p>
          <a:p>
            <a:pPr marL="228600" lvl="0" indent="-228600" algn="l" rtl="0">
              <a:lnSpc>
                <a:spcPct val="100000"/>
              </a:lnSpc>
              <a:spcBef>
                <a:spcPts val="0"/>
              </a:spcBef>
              <a:spcAft>
                <a:spcPts val="0"/>
              </a:spcAft>
              <a:buNone/>
            </a:pPr>
            <a:endParaRPr sz="1200" dirty="0">
              <a:solidFill>
                <a:schemeClr val="dk1"/>
              </a:solidFill>
              <a:latin typeface="Calibri"/>
              <a:ea typeface="Calibri"/>
              <a:cs typeface="Calibri"/>
              <a:sym typeface="Calibri"/>
            </a:endParaRPr>
          </a:p>
          <a:p>
            <a:pPr marL="0" lvl="0" indent="0">
              <a:lnSpc>
                <a:spcPct val="100000"/>
              </a:lnSpc>
              <a:buClr>
                <a:schemeClr val="dk1"/>
              </a:buClr>
              <a:buSzPts val="1200"/>
              <a:buNone/>
            </a:pPr>
            <a:r>
              <a:rPr lang="en" sz="1200" dirty="0">
                <a:solidFill>
                  <a:schemeClr val="dk1"/>
                </a:solidFill>
                <a:latin typeface="Calibri"/>
                <a:ea typeface="Calibri"/>
                <a:cs typeface="Calibri"/>
                <a:sym typeface="Calibri"/>
              </a:rPr>
              <a:t>If price equates supply and demand, the market is efficient.   </a:t>
            </a:r>
            <a:r>
              <a:rPr lang="en" sz="1200" dirty="0">
                <a:solidFill>
                  <a:schemeClr val="dk1"/>
                </a:solidFill>
                <a:highlight>
                  <a:srgbClr val="FFFF00"/>
                </a:highlight>
                <a:latin typeface="Calibri"/>
                <a:ea typeface="Calibri"/>
                <a:cs typeface="Calibri"/>
                <a:sym typeface="Calibri"/>
              </a:rPr>
              <a:t>(MT: </a:t>
            </a:r>
            <a:r>
              <a:rPr lang="en-US" sz="1200" dirty="0">
                <a:solidFill>
                  <a:schemeClr val="dk1"/>
                </a:solidFill>
                <a:highlight>
                  <a:srgbClr val="FFFF00"/>
                </a:highlight>
                <a:latin typeface="Calibri"/>
                <a:ea typeface="Calibri"/>
                <a:cs typeface="Calibri"/>
                <a:sym typeface="Calibri"/>
              </a:rPr>
              <a:t>Modus Tollens)</a:t>
            </a:r>
            <a:endParaRPr sz="1200" dirty="0">
              <a:solidFill>
                <a:schemeClr val="dk1"/>
              </a:solidFill>
              <a:highlight>
                <a:srgbClr val="FFFF00"/>
              </a:highlight>
              <a:latin typeface="Calibri"/>
              <a:ea typeface="Calibri"/>
              <a:cs typeface="Calibri"/>
              <a:sym typeface="Calibri"/>
            </a:endParaRPr>
          </a:p>
          <a:p>
            <a:pPr marL="228600" lvl="0" indent="-228600" algn="l" rtl="0">
              <a:lnSpc>
                <a:spcPct val="100000"/>
              </a:lnSpc>
              <a:spcBef>
                <a:spcPts val="0"/>
              </a:spcBef>
              <a:spcAft>
                <a:spcPts val="0"/>
              </a:spcAft>
              <a:buNone/>
            </a:pPr>
            <a:r>
              <a:rPr lang="en" sz="1200" dirty="0">
                <a:solidFill>
                  <a:schemeClr val="dk1"/>
                </a:solidFill>
                <a:latin typeface="Calibri"/>
                <a:ea typeface="Calibri"/>
                <a:cs typeface="Calibri"/>
                <a:sym typeface="Calibri"/>
              </a:rPr>
              <a:t>The market is not efficient.</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None/>
            </a:pPr>
            <a:r>
              <a:rPr lang="en" sz="1200" dirty="0">
                <a:solidFill>
                  <a:schemeClr val="dk1"/>
                </a:solidFill>
                <a:latin typeface="Calibri"/>
                <a:ea typeface="Calibri"/>
                <a:cs typeface="Calibri"/>
                <a:sym typeface="Calibri"/>
              </a:rPr>
              <a:t>Therefore, price does not equate supply and demand.</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None/>
            </a:pPr>
            <a:endParaRPr sz="12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200"/>
              <a:buNone/>
            </a:pPr>
            <a:r>
              <a:rPr lang="en" sz="1200" dirty="0">
                <a:solidFill>
                  <a:schemeClr val="dk1"/>
                </a:solidFill>
                <a:latin typeface="Calibri"/>
                <a:ea typeface="Calibri"/>
                <a:cs typeface="Calibri"/>
                <a:sym typeface="Calibri"/>
              </a:rPr>
              <a:t>If a market exists for a private good with complete information, the equilibrium is efficient.   </a:t>
            </a:r>
            <a:r>
              <a:rPr lang="en" sz="1200" dirty="0">
                <a:solidFill>
                  <a:schemeClr val="dk1"/>
                </a:solidFill>
                <a:highlight>
                  <a:srgbClr val="FFFF00"/>
                </a:highlight>
                <a:latin typeface="Calibri"/>
                <a:ea typeface="Calibri"/>
                <a:cs typeface="Calibri"/>
                <a:sym typeface="Calibri"/>
              </a:rPr>
              <a:t>(</a:t>
            </a:r>
            <a:r>
              <a:rPr lang="en" sz="1200" dirty="0">
                <a:solidFill>
                  <a:schemeClr val="dk1"/>
                </a:solidFill>
                <a:highlight>
                  <a:srgbClr val="FF0000"/>
                </a:highlight>
                <a:latin typeface="Calibri"/>
                <a:ea typeface="Calibri"/>
                <a:cs typeface="Calibri"/>
                <a:sym typeface="Calibri"/>
              </a:rPr>
              <a:t>X</a:t>
            </a:r>
            <a:r>
              <a:rPr lang="en" sz="1200" dirty="0">
                <a:solidFill>
                  <a:schemeClr val="dk1"/>
                </a:solidFill>
                <a:highlight>
                  <a:srgbClr val="FFFF00"/>
                </a:highlight>
                <a:latin typeface="Calibri"/>
                <a:ea typeface="Calibri"/>
                <a:cs typeface="Calibri"/>
                <a:sym typeface="Calibri"/>
              </a:rPr>
              <a:t> Invalid MP)</a:t>
            </a:r>
            <a:endParaRPr sz="1200" dirty="0">
              <a:solidFill>
                <a:schemeClr val="dk1"/>
              </a:solidFill>
              <a:highlight>
                <a:srgbClr val="FFFF00"/>
              </a:highlight>
              <a:latin typeface="Calibri"/>
              <a:ea typeface="Calibri"/>
              <a:cs typeface="Calibri"/>
              <a:sym typeface="Calibri"/>
            </a:endParaRPr>
          </a:p>
          <a:p>
            <a:pPr marL="228600" lvl="0" indent="-228600" algn="l" rtl="0">
              <a:lnSpc>
                <a:spcPct val="100000"/>
              </a:lnSpc>
              <a:spcBef>
                <a:spcPts val="0"/>
              </a:spcBef>
              <a:spcAft>
                <a:spcPts val="0"/>
              </a:spcAft>
              <a:buNone/>
            </a:pPr>
            <a:r>
              <a:rPr lang="en" sz="1200" dirty="0">
                <a:solidFill>
                  <a:schemeClr val="dk1"/>
                </a:solidFill>
                <a:latin typeface="Calibri"/>
                <a:ea typeface="Calibri"/>
                <a:cs typeface="Calibri"/>
                <a:sym typeface="Calibri"/>
              </a:rPr>
              <a:t>A market exists for a good with complete information.</a:t>
            </a:r>
            <a:endParaRPr sz="1200" dirty="0">
              <a:solidFill>
                <a:schemeClr val="dk1"/>
              </a:solidFill>
              <a:latin typeface="Calibri"/>
              <a:ea typeface="Calibri"/>
              <a:cs typeface="Calibri"/>
              <a:sym typeface="Calibri"/>
            </a:endParaRPr>
          </a:p>
          <a:p>
            <a:pPr marL="228600" lvl="0" indent="-228600" algn="l" rtl="0">
              <a:lnSpc>
                <a:spcPct val="100000"/>
              </a:lnSpc>
              <a:spcBef>
                <a:spcPts val="0"/>
              </a:spcBef>
              <a:spcAft>
                <a:spcPts val="0"/>
              </a:spcAft>
              <a:buNone/>
            </a:pPr>
            <a:r>
              <a:rPr lang="en" sz="1200" dirty="0">
                <a:solidFill>
                  <a:schemeClr val="dk1"/>
                </a:solidFill>
                <a:latin typeface="Calibri"/>
                <a:ea typeface="Calibri"/>
                <a:cs typeface="Calibri"/>
                <a:sym typeface="Calibri"/>
              </a:rPr>
              <a:t>Therefore, the equilibrium is efficient.</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Validity</a:t>
            </a:r>
            <a:endParaRPr/>
          </a:p>
        </p:txBody>
      </p:sp>
      <p:sp>
        <p:nvSpPr>
          <p:cNvPr id="156" name="Google Shape;156;p30"/>
          <p:cNvSpPr txBox="1">
            <a:spLocks noGrp="1"/>
          </p:cNvSpPr>
          <p:nvPr>
            <p:ph type="body" idx="1"/>
          </p:nvPr>
        </p:nvSpPr>
        <p:spPr>
          <a:xfrm>
            <a:off x="311700" y="1152475"/>
            <a:ext cx="8520600" cy="37113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400" dirty="0">
                <a:solidFill>
                  <a:schemeClr val="dk1"/>
                </a:solidFill>
              </a:rPr>
              <a:t>An argument is valid if it is impossible for premise to be true while conclusion is false (regardless of whether the premises are true)</a:t>
            </a:r>
            <a:endParaRPr sz="1400" dirty="0">
              <a:solidFill>
                <a:schemeClr val="dk1"/>
              </a:solidFill>
            </a:endParaRPr>
          </a:p>
          <a:p>
            <a:pPr marL="0" lvl="0" indent="0" algn="l" rtl="0">
              <a:lnSpc>
                <a:spcPct val="100000"/>
              </a:lnSpc>
              <a:spcBef>
                <a:spcPts val="0"/>
              </a:spcBef>
              <a:spcAft>
                <a:spcPts val="0"/>
              </a:spcAft>
              <a:buNone/>
            </a:pPr>
            <a:r>
              <a:rPr lang="en" sz="1400" dirty="0">
                <a:solidFill>
                  <a:schemeClr val="dk1"/>
                </a:solidFill>
              </a:rPr>
              <a:t>The argument is internally consistent</a:t>
            </a:r>
            <a:endParaRPr sz="1400" dirty="0">
              <a:solidFill>
                <a:schemeClr val="dk1"/>
              </a:solidFill>
            </a:endParaRPr>
          </a:p>
          <a:p>
            <a:pPr marL="0" lvl="0" indent="0" algn="l" rtl="0">
              <a:lnSpc>
                <a:spcPct val="100000"/>
              </a:lnSpc>
              <a:spcBef>
                <a:spcPts val="0"/>
              </a:spcBef>
              <a:spcAft>
                <a:spcPts val="0"/>
              </a:spcAft>
              <a:buNone/>
            </a:pPr>
            <a:r>
              <a:rPr lang="en" sz="1400" dirty="0">
                <a:solidFill>
                  <a:schemeClr val="dk1"/>
                </a:solidFill>
              </a:rPr>
              <a:t>An argument here is the set of statements</a:t>
            </a:r>
            <a:endParaRPr sz="1400" dirty="0">
              <a:solidFill>
                <a:schemeClr val="dk1"/>
              </a:solidFill>
            </a:endParaRPr>
          </a:p>
          <a:p>
            <a:pPr marL="0" lvl="0" indent="0" algn="l" rtl="0">
              <a:lnSpc>
                <a:spcPct val="100000"/>
              </a:lnSpc>
              <a:spcBef>
                <a:spcPts val="0"/>
              </a:spcBef>
              <a:spcAft>
                <a:spcPts val="0"/>
              </a:spcAft>
              <a:buNone/>
            </a:pPr>
            <a:endParaRPr sz="1400" dirty="0">
              <a:solidFill>
                <a:schemeClr val="dk1"/>
              </a:solidFill>
            </a:endParaRPr>
          </a:p>
          <a:p>
            <a:pPr marL="0" lvl="0" indent="0" algn="l" rtl="0">
              <a:lnSpc>
                <a:spcPct val="100000"/>
              </a:lnSpc>
              <a:spcBef>
                <a:spcPts val="0"/>
              </a:spcBef>
              <a:spcAft>
                <a:spcPts val="0"/>
              </a:spcAft>
              <a:buNone/>
            </a:pPr>
            <a:r>
              <a:rPr lang="en" sz="1400" dirty="0">
                <a:solidFill>
                  <a:schemeClr val="dk1"/>
                </a:solidFill>
              </a:rPr>
              <a:t>Valid</a:t>
            </a:r>
            <a:endParaRPr sz="1400" dirty="0">
              <a:solidFill>
                <a:schemeClr val="dk1"/>
              </a:solidFill>
            </a:endParaRPr>
          </a:p>
          <a:p>
            <a:pPr marL="228600" lvl="0" indent="0" algn="l" rtl="0">
              <a:spcBef>
                <a:spcPts val="0"/>
              </a:spcBef>
              <a:spcAft>
                <a:spcPts val="0"/>
              </a:spcAft>
              <a:buClr>
                <a:schemeClr val="dk1"/>
              </a:buClr>
              <a:buSzPts val="1100"/>
              <a:buFont typeface="Arial"/>
              <a:buNone/>
            </a:pPr>
            <a:r>
              <a:rPr lang="en" sz="1400" dirty="0">
                <a:solidFill>
                  <a:schemeClr val="dk1"/>
                </a:solidFill>
                <a:highlight>
                  <a:srgbClr val="FFFFFF"/>
                </a:highlight>
              </a:rPr>
              <a:t>All men are mortal.</a:t>
            </a:r>
            <a:endParaRPr sz="1400" dirty="0">
              <a:solidFill>
                <a:schemeClr val="dk1"/>
              </a:solidFill>
              <a:highlight>
                <a:srgbClr val="FFFFFF"/>
              </a:highlight>
            </a:endParaRPr>
          </a:p>
          <a:p>
            <a:pPr marL="228600" lvl="0" indent="0" algn="l" rtl="0">
              <a:spcBef>
                <a:spcPts val="100"/>
              </a:spcBef>
              <a:spcAft>
                <a:spcPts val="0"/>
              </a:spcAft>
              <a:buClr>
                <a:schemeClr val="dk1"/>
              </a:buClr>
              <a:buSzPts val="1100"/>
              <a:buFont typeface="Arial"/>
              <a:buNone/>
            </a:pPr>
            <a:r>
              <a:rPr lang="en" sz="1400" dirty="0">
                <a:solidFill>
                  <a:schemeClr val="dk1"/>
                </a:solidFill>
                <a:highlight>
                  <a:srgbClr val="FFFFFF"/>
                </a:highlight>
              </a:rPr>
              <a:t>Socrates is a man.</a:t>
            </a:r>
            <a:endParaRPr sz="1400" dirty="0">
              <a:solidFill>
                <a:schemeClr val="dk1"/>
              </a:solidFill>
              <a:highlight>
                <a:srgbClr val="FFFFFF"/>
              </a:highlight>
            </a:endParaRPr>
          </a:p>
          <a:p>
            <a:pPr marL="228600" lvl="0" indent="0" algn="l" rtl="0">
              <a:spcBef>
                <a:spcPts val="100"/>
              </a:spcBef>
              <a:spcAft>
                <a:spcPts val="0"/>
              </a:spcAft>
              <a:buClr>
                <a:schemeClr val="dk1"/>
              </a:buClr>
              <a:buSzPts val="1100"/>
              <a:buFont typeface="Arial"/>
              <a:buNone/>
            </a:pPr>
            <a:r>
              <a:rPr lang="en" sz="1400" dirty="0">
                <a:solidFill>
                  <a:schemeClr val="dk1"/>
                </a:solidFill>
                <a:highlight>
                  <a:srgbClr val="FFFFFF"/>
                </a:highlight>
              </a:rPr>
              <a:t>Therefore, Socrates is mortal.</a:t>
            </a:r>
            <a:endParaRPr sz="1400" dirty="0">
              <a:solidFill>
                <a:schemeClr val="dk1"/>
              </a:solidFill>
              <a:highlight>
                <a:srgbClr val="FFFFFF"/>
              </a:highlight>
            </a:endParaRPr>
          </a:p>
          <a:p>
            <a:pPr marL="0" lvl="0" indent="0" algn="l" rtl="0">
              <a:lnSpc>
                <a:spcPct val="100000"/>
              </a:lnSpc>
              <a:spcBef>
                <a:spcPts val="100"/>
              </a:spcBef>
              <a:spcAft>
                <a:spcPts val="0"/>
              </a:spcAft>
              <a:buNone/>
            </a:pPr>
            <a:endParaRPr sz="1400" dirty="0">
              <a:solidFill>
                <a:schemeClr val="dk1"/>
              </a:solidFill>
            </a:endParaRPr>
          </a:p>
          <a:p>
            <a:pPr marL="0" lvl="0" indent="0" algn="l" rtl="0">
              <a:spcBef>
                <a:spcPts val="0"/>
              </a:spcBef>
              <a:spcAft>
                <a:spcPts val="0"/>
              </a:spcAft>
              <a:buNone/>
            </a:pPr>
            <a:r>
              <a:rPr lang="en" sz="1400" dirty="0">
                <a:solidFill>
                  <a:schemeClr val="dk1"/>
                </a:solidFill>
              </a:rPr>
              <a:t>Invalid</a:t>
            </a:r>
            <a:endParaRPr sz="1400" dirty="0">
              <a:solidFill>
                <a:schemeClr val="dk1"/>
              </a:solidFill>
            </a:endParaRPr>
          </a:p>
          <a:p>
            <a:pPr marL="228600" lvl="0" indent="0" algn="l" rtl="0">
              <a:spcBef>
                <a:spcPts val="1600"/>
              </a:spcBef>
              <a:spcAft>
                <a:spcPts val="0"/>
              </a:spcAft>
              <a:buNone/>
            </a:pPr>
            <a:r>
              <a:rPr lang="en" sz="1400" dirty="0">
                <a:solidFill>
                  <a:schemeClr val="dk1"/>
                </a:solidFill>
                <a:highlight>
                  <a:srgbClr val="FFFFFF"/>
                </a:highlight>
              </a:rPr>
              <a:t>All men are immortal.</a:t>
            </a:r>
            <a:endParaRPr sz="1400" dirty="0">
              <a:solidFill>
                <a:schemeClr val="dk1"/>
              </a:solidFill>
              <a:highlight>
                <a:srgbClr val="FFFFFF"/>
              </a:highlight>
            </a:endParaRPr>
          </a:p>
          <a:p>
            <a:pPr marL="228600" lvl="0" indent="0" algn="l" rtl="0">
              <a:spcBef>
                <a:spcPts val="100"/>
              </a:spcBef>
              <a:spcAft>
                <a:spcPts val="0"/>
              </a:spcAft>
              <a:buClr>
                <a:schemeClr val="dk1"/>
              </a:buClr>
              <a:buSzPts val="1100"/>
              <a:buFont typeface="Arial"/>
              <a:buNone/>
            </a:pPr>
            <a:r>
              <a:rPr lang="en" sz="1400" dirty="0">
                <a:solidFill>
                  <a:schemeClr val="dk1"/>
                </a:solidFill>
                <a:highlight>
                  <a:srgbClr val="FFFFFF"/>
                </a:highlight>
              </a:rPr>
              <a:t>Socrates is a man.</a:t>
            </a:r>
            <a:endParaRPr sz="1400" dirty="0">
              <a:solidFill>
                <a:schemeClr val="dk1"/>
              </a:solidFill>
              <a:highlight>
                <a:srgbClr val="FFFFFF"/>
              </a:highlight>
            </a:endParaRPr>
          </a:p>
          <a:p>
            <a:pPr marL="228600" lvl="0" indent="0" algn="l" rtl="0">
              <a:spcBef>
                <a:spcPts val="100"/>
              </a:spcBef>
              <a:spcAft>
                <a:spcPts val="0"/>
              </a:spcAft>
              <a:buClr>
                <a:schemeClr val="dk1"/>
              </a:buClr>
              <a:buSzPts val="1100"/>
              <a:buFont typeface="Arial"/>
              <a:buNone/>
            </a:pPr>
            <a:r>
              <a:rPr lang="en" sz="1400" dirty="0">
                <a:solidFill>
                  <a:schemeClr val="dk1"/>
                </a:solidFill>
                <a:highlight>
                  <a:srgbClr val="FFFFFF"/>
                </a:highlight>
              </a:rPr>
              <a:t>Therefore, Socrates is mortal.</a:t>
            </a:r>
            <a:endParaRPr sz="1400" dirty="0">
              <a:solidFill>
                <a:schemeClr val="dk1"/>
              </a:solidFill>
              <a:highlight>
                <a:srgbClr val="FFFFFF"/>
              </a:highlight>
            </a:endParaRPr>
          </a:p>
          <a:p>
            <a:pPr marL="0" lvl="0" indent="0" algn="l" rtl="0">
              <a:spcBef>
                <a:spcPts val="100"/>
              </a:spcBef>
              <a:spcAft>
                <a:spcPts val="1600"/>
              </a:spcAft>
              <a:buNone/>
            </a:pPr>
            <a:endParaRPr sz="1400" dirty="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Soundness</a:t>
            </a:r>
            <a:endParaRPr/>
          </a:p>
        </p:txBody>
      </p:sp>
      <p:sp>
        <p:nvSpPr>
          <p:cNvPr id="162" name="Google Shape;162;p31"/>
          <p:cNvSpPr txBox="1">
            <a:spLocks noGrp="1"/>
          </p:cNvSpPr>
          <p:nvPr>
            <p:ph type="body" idx="1"/>
          </p:nvPr>
        </p:nvSpPr>
        <p:spPr>
          <a:xfrm>
            <a:off x="311700" y="1152475"/>
            <a:ext cx="8520600" cy="372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An argument is sound if it is </a:t>
            </a:r>
            <a:r>
              <a:rPr lang="en" u="sng" dirty="0"/>
              <a:t>valid </a:t>
            </a:r>
            <a:r>
              <a:rPr lang="en" dirty="0"/>
              <a:t>and the </a:t>
            </a:r>
            <a:r>
              <a:rPr lang="en" u="sng" dirty="0"/>
              <a:t>premises are true</a:t>
            </a:r>
            <a:endParaRPr dirty="0"/>
          </a:p>
          <a:p>
            <a:pPr marL="0" lvl="0" indent="0" algn="l" rtl="0">
              <a:spcBef>
                <a:spcPts val="1600"/>
              </a:spcBef>
              <a:spcAft>
                <a:spcPts val="0"/>
              </a:spcAft>
              <a:buNone/>
            </a:pPr>
            <a:r>
              <a:rPr lang="en" dirty="0"/>
              <a:t>Sound</a:t>
            </a:r>
            <a:endParaRPr dirty="0"/>
          </a:p>
          <a:p>
            <a:pPr marL="228600" lvl="0" indent="0" algn="l" rtl="0">
              <a:spcBef>
                <a:spcPts val="1600"/>
              </a:spcBef>
              <a:spcAft>
                <a:spcPts val="0"/>
              </a:spcAft>
              <a:buClr>
                <a:schemeClr val="dk1"/>
              </a:buClr>
              <a:buSzPts val="1100"/>
              <a:buFont typeface="Arial"/>
              <a:buNone/>
            </a:pPr>
            <a:r>
              <a:rPr lang="en" dirty="0">
                <a:solidFill>
                  <a:srgbClr val="202122"/>
                </a:solidFill>
                <a:highlight>
                  <a:srgbClr val="FFFFFF"/>
                </a:highlight>
              </a:rPr>
              <a:t>All men are mortal.</a:t>
            </a:r>
            <a:endParaRPr dirty="0">
              <a:solidFill>
                <a:srgbClr val="202122"/>
              </a:solidFill>
              <a:highlight>
                <a:srgbClr val="FFFFFF"/>
              </a:highlight>
            </a:endParaRPr>
          </a:p>
          <a:p>
            <a:pPr marL="228600" lvl="0" indent="0" algn="l" rtl="0">
              <a:spcBef>
                <a:spcPts val="100"/>
              </a:spcBef>
              <a:spcAft>
                <a:spcPts val="0"/>
              </a:spcAft>
              <a:buClr>
                <a:schemeClr val="dk1"/>
              </a:buClr>
              <a:buSzPts val="1100"/>
              <a:buFont typeface="Arial"/>
              <a:buNone/>
            </a:pPr>
            <a:r>
              <a:rPr lang="en" dirty="0">
                <a:solidFill>
                  <a:srgbClr val="202122"/>
                </a:solidFill>
                <a:highlight>
                  <a:srgbClr val="FFFFFF"/>
                </a:highlight>
              </a:rPr>
              <a:t>Socrates is a man.</a:t>
            </a:r>
            <a:endParaRPr dirty="0">
              <a:solidFill>
                <a:srgbClr val="202122"/>
              </a:solidFill>
              <a:highlight>
                <a:srgbClr val="FFFFFF"/>
              </a:highlight>
            </a:endParaRPr>
          </a:p>
          <a:p>
            <a:pPr marL="228600" lvl="0" indent="0" algn="l" rtl="0">
              <a:spcBef>
                <a:spcPts val="100"/>
              </a:spcBef>
              <a:spcAft>
                <a:spcPts val="0"/>
              </a:spcAft>
              <a:buClr>
                <a:schemeClr val="dk1"/>
              </a:buClr>
              <a:buSzPts val="1100"/>
              <a:buFont typeface="Arial"/>
              <a:buNone/>
            </a:pPr>
            <a:r>
              <a:rPr lang="en" dirty="0">
                <a:solidFill>
                  <a:srgbClr val="202122"/>
                </a:solidFill>
                <a:highlight>
                  <a:srgbClr val="FFFFFF"/>
                </a:highlight>
              </a:rPr>
              <a:t>Therefore, Socrates is mortal.</a:t>
            </a:r>
            <a:endParaRPr dirty="0">
              <a:solidFill>
                <a:srgbClr val="202122"/>
              </a:solidFill>
              <a:highlight>
                <a:srgbClr val="FFFFFF"/>
              </a:highlight>
            </a:endParaRPr>
          </a:p>
          <a:p>
            <a:pPr marL="0" lvl="0" indent="0" algn="l" rtl="0">
              <a:spcBef>
                <a:spcPts val="100"/>
              </a:spcBef>
              <a:spcAft>
                <a:spcPts val="0"/>
              </a:spcAft>
              <a:buNone/>
            </a:pPr>
            <a:r>
              <a:rPr lang="en" dirty="0"/>
              <a:t>Unsound</a:t>
            </a:r>
            <a:endParaRPr dirty="0"/>
          </a:p>
          <a:p>
            <a:pPr marL="228600" lvl="0" indent="0" algn="l" rtl="0">
              <a:spcBef>
                <a:spcPts val="1600"/>
              </a:spcBef>
              <a:spcAft>
                <a:spcPts val="0"/>
              </a:spcAft>
              <a:buClr>
                <a:schemeClr val="dk1"/>
              </a:buClr>
              <a:buSzPts val="1100"/>
              <a:buFont typeface="Arial"/>
              <a:buNone/>
            </a:pPr>
            <a:r>
              <a:rPr lang="en" dirty="0">
                <a:solidFill>
                  <a:srgbClr val="202122"/>
                </a:solidFill>
                <a:highlight>
                  <a:srgbClr val="FFFFFF"/>
                </a:highlight>
              </a:rPr>
              <a:t>All birds can fly.</a:t>
            </a:r>
            <a:endParaRPr dirty="0">
              <a:solidFill>
                <a:srgbClr val="202122"/>
              </a:solidFill>
              <a:highlight>
                <a:srgbClr val="FFFFFF"/>
              </a:highlight>
            </a:endParaRPr>
          </a:p>
          <a:p>
            <a:pPr marL="228600" lvl="0" indent="0" algn="l" rtl="0">
              <a:spcBef>
                <a:spcPts val="100"/>
              </a:spcBef>
              <a:spcAft>
                <a:spcPts val="0"/>
              </a:spcAft>
              <a:buClr>
                <a:schemeClr val="dk1"/>
              </a:buClr>
              <a:buSzPts val="1100"/>
              <a:buFont typeface="Arial"/>
              <a:buNone/>
            </a:pPr>
            <a:r>
              <a:rPr lang="en" dirty="0">
                <a:solidFill>
                  <a:srgbClr val="202122"/>
                </a:solidFill>
                <a:highlight>
                  <a:srgbClr val="FFFFFF"/>
                </a:highlight>
              </a:rPr>
              <a:t>Penguins are birds.</a:t>
            </a:r>
            <a:endParaRPr dirty="0">
              <a:solidFill>
                <a:srgbClr val="202122"/>
              </a:solidFill>
              <a:highlight>
                <a:srgbClr val="FFFFFF"/>
              </a:highlight>
            </a:endParaRPr>
          </a:p>
          <a:p>
            <a:pPr marL="228600" lvl="0" indent="0" algn="l" rtl="0">
              <a:spcBef>
                <a:spcPts val="100"/>
              </a:spcBef>
              <a:spcAft>
                <a:spcPts val="100"/>
              </a:spcAft>
              <a:buNone/>
            </a:pPr>
            <a:r>
              <a:rPr lang="en" dirty="0">
                <a:solidFill>
                  <a:srgbClr val="202122"/>
                </a:solidFill>
                <a:highlight>
                  <a:srgbClr val="FFFFFF"/>
                </a:highlight>
              </a:rPr>
              <a:t>Therefore, penguins can fly.</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Inductive and Deductive Reasoning</a:t>
            </a:r>
            <a:endParaRPr/>
          </a:p>
        </p:txBody>
      </p:sp>
      <p:sp>
        <p:nvSpPr>
          <p:cNvPr id="174" name="Google Shape;174;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23850" algn="l" rtl="0">
              <a:lnSpc>
                <a:spcPct val="100000"/>
              </a:lnSpc>
              <a:spcBef>
                <a:spcPts val="0"/>
              </a:spcBef>
              <a:spcAft>
                <a:spcPts val="0"/>
              </a:spcAft>
              <a:buClr>
                <a:schemeClr val="dk1"/>
              </a:buClr>
              <a:buSzPts val="1500"/>
              <a:buFont typeface="Noto Sans Symbols"/>
              <a:buChar char="●"/>
            </a:pPr>
            <a:r>
              <a:rPr lang="en" sz="1500">
                <a:solidFill>
                  <a:schemeClr val="dk1"/>
                </a:solidFill>
                <a:latin typeface="Calibri"/>
                <a:ea typeface="Calibri"/>
                <a:cs typeface="Calibri"/>
                <a:sym typeface="Calibri"/>
              </a:rPr>
              <a:t>Deductive reasoning: a series of assumptions and relationships (a general or universal statement and a specific or singular statement) lead to certain expected outcomes.  </a:t>
            </a:r>
            <a:endParaRPr sz="1500">
              <a:solidFill>
                <a:schemeClr val="dk1"/>
              </a:solidFill>
              <a:latin typeface="Calibri"/>
              <a:ea typeface="Calibri"/>
              <a:cs typeface="Calibri"/>
              <a:sym typeface="Calibri"/>
            </a:endParaRPr>
          </a:p>
          <a:p>
            <a:pPr marL="914400" lvl="1" indent="-323850" algn="l" rtl="0">
              <a:lnSpc>
                <a:spcPct val="100000"/>
              </a:lnSpc>
              <a:spcBef>
                <a:spcPts val="0"/>
              </a:spcBef>
              <a:spcAft>
                <a:spcPts val="0"/>
              </a:spcAft>
              <a:buClr>
                <a:schemeClr val="dk1"/>
              </a:buClr>
              <a:buSzPts val="1500"/>
              <a:buFont typeface="Courier New"/>
              <a:buChar char="o"/>
            </a:pPr>
            <a:r>
              <a:rPr lang="en" sz="1500">
                <a:solidFill>
                  <a:schemeClr val="dk1"/>
                </a:solidFill>
                <a:latin typeface="Calibri"/>
                <a:ea typeface="Calibri"/>
                <a:cs typeface="Calibri"/>
                <a:sym typeface="Calibri"/>
              </a:rPr>
              <a:t>Deductive reasoning, or deduction, starts out with a general statement, or hypothesis, and examines the possibilities to reach a specific, logical conclusion.  </a:t>
            </a:r>
            <a:endParaRPr sz="1500">
              <a:solidFill>
                <a:schemeClr val="dk1"/>
              </a:solidFill>
              <a:latin typeface="Calibri"/>
              <a:ea typeface="Calibri"/>
              <a:cs typeface="Calibri"/>
              <a:sym typeface="Calibri"/>
            </a:endParaRPr>
          </a:p>
          <a:p>
            <a:pPr marL="914400" lvl="1" indent="-323850" algn="l" rtl="0">
              <a:lnSpc>
                <a:spcPct val="100000"/>
              </a:lnSpc>
              <a:spcBef>
                <a:spcPts val="0"/>
              </a:spcBef>
              <a:spcAft>
                <a:spcPts val="0"/>
              </a:spcAft>
              <a:buClr>
                <a:schemeClr val="dk1"/>
              </a:buClr>
              <a:buSzPts val="1500"/>
              <a:buFont typeface="Courier New"/>
              <a:buChar char="o"/>
            </a:pPr>
            <a:r>
              <a:rPr lang="en" sz="1500">
                <a:solidFill>
                  <a:schemeClr val="dk1"/>
                </a:solidFill>
                <a:latin typeface="Calibri"/>
                <a:ea typeface="Calibri"/>
                <a:cs typeface="Calibri"/>
                <a:sym typeface="Calibri"/>
              </a:rPr>
              <a:t>Example: Equilibrium price is a deduced outcome of assumptions about market structure and motivation of producers and consumers.</a:t>
            </a:r>
            <a:endParaRPr sz="1500">
              <a:solidFill>
                <a:schemeClr val="dk1"/>
              </a:solidFill>
              <a:latin typeface="Calibri"/>
              <a:ea typeface="Calibri"/>
              <a:cs typeface="Calibri"/>
              <a:sym typeface="Calibri"/>
            </a:endParaRPr>
          </a:p>
          <a:p>
            <a:pPr marL="914400" lvl="1" indent="-323850" algn="l" rtl="0">
              <a:lnSpc>
                <a:spcPct val="100000"/>
              </a:lnSpc>
              <a:spcBef>
                <a:spcPts val="0"/>
              </a:spcBef>
              <a:spcAft>
                <a:spcPts val="0"/>
              </a:spcAft>
              <a:buClr>
                <a:schemeClr val="dk1"/>
              </a:buClr>
              <a:buSzPts val="1500"/>
              <a:buFont typeface="Courier New"/>
              <a:buChar char="o"/>
            </a:pPr>
            <a:r>
              <a:rPr lang="en" sz="1500">
                <a:solidFill>
                  <a:schemeClr val="dk1"/>
                </a:solidFill>
                <a:latin typeface="Calibri"/>
                <a:ea typeface="Calibri"/>
                <a:cs typeface="Calibri"/>
                <a:sym typeface="Calibri"/>
              </a:rPr>
              <a:t>Deductive reasoning relies on the validity of the argument.  </a:t>
            </a:r>
            <a:endParaRPr sz="1500">
              <a:solidFill>
                <a:schemeClr val="dk1"/>
              </a:solidFill>
              <a:latin typeface="Calibri"/>
              <a:ea typeface="Calibri"/>
              <a:cs typeface="Calibri"/>
              <a:sym typeface="Calibri"/>
            </a:endParaRPr>
          </a:p>
          <a:p>
            <a:pPr marL="914400" lvl="1" indent="-323850" algn="l" rtl="0">
              <a:lnSpc>
                <a:spcPct val="100000"/>
              </a:lnSpc>
              <a:spcBef>
                <a:spcPts val="0"/>
              </a:spcBef>
              <a:spcAft>
                <a:spcPts val="0"/>
              </a:spcAft>
              <a:buClr>
                <a:schemeClr val="dk1"/>
              </a:buClr>
              <a:buSzPts val="1500"/>
              <a:buFont typeface="Courier New"/>
              <a:buChar char="o"/>
            </a:pPr>
            <a:r>
              <a:rPr lang="en" sz="1500">
                <a:solidFill>
                  <a:schemeClr val="dk1"/>
                </a:solidFill>
                <a:highlight>
                  <a:srgbClr val="FFFF00"/>
                </a:highlight>
                <a:latin typeface="Calibri"/>
                <a:ea typeface="Calibri"/>
                <a:cs typeface="Calibri"/>
                <a:sym typeface="Calibri"/>
              </a:rPr>
              <a:t>Conclusions can be proven but the premises themselves are taken as given and may not be provable.</a:t>
            </a:r>
            <a:endParaRPr sz="1500">
              <a:solidFill>
                <a:schemeClr val="dk1"/>
              </a:solidFill>
              <a:highlight>
                <a:srgbClr val="FFFF00"/>
              </a:highlight>
              <a:latin typeface="Calibri"/>
              <a:ea typeface="Calibri"/>
              <a:cs typeface="Calibri"/>
              <a:sym typeface="Calibri"/>
            </a:endParaRPr>
          </a:p>
          <a:p>
            <a:pPr marL="457200" lvl="0" indent="-323850" algn="l" rtl="0">
              <a:lnSpc>
                <a:spcPct val="100000"/>
              </a:lnSpc>
              <a:spcBef>
                <a:spcPts val="0"/>
              </a:spcBef>
              <a:spcAft>
                <a:spcPts val="0"/>
              </a:spcAft>
              <a:buClr>
                <a:schemeClr val="dk1"/>
              </a:buClr>
              <a:buSzPts val="1500"/>
              <a:buFont typeface="Courier New"/>
              <a:buChar char="●"/>
            </a:pPr>
            <a:r>
              <a:rPr lang="en" sz="1500">
                <a:solidFill>
                  <a:schemeClr val="dk1"/>
                </a:solidFill>
                <a:latin typeface="Calibri"/>
                <a:ea typeface="Calibri"/>
                <a:cs typeface="Calibri"/>
                <a:sym typeface="Calibri"/>
              </a:rPr>
              <a:t>Inductive reasoning: extending a specific circumstance or outcome to a general conclusion.  </a:t>
            </a:r>
            <a:endParaRPr sz="1500">
              <a:solidFill>
                <a:schemeClr val="dk1"/>
              </a:solidFill>
              <a:latin typeface="Calibri"/>
              <a:ea typeface="Calibri"/>
              <a:cs typeface="Calibri"/>
              <a:sym typeface="Calibri"/>
            </a:endParaRPr>
          </a:p>
          <a:p>
            <a:pPr marL="914400" lvl="1" indent="-323850" algn="l" rtl="0">
              <a:lnSpc>
                <a:spcPct val="100000"/>
              </a:lnSpc>
              <a:spcBef>
                <a:spcPts val="0"/>
              </a:spcBef>
              <a:spcAft>
                <a:spcPts val="0"/>
              </a:spcAft>
              <a:buClr>
                <a:schemeClr val="dk1"/>
              </a:buClr>
              <a:buSzPts val="1500"/>
              <a:buFont typeface="Noto Sans Symbols"/>
              <a:buChar char="o"/>
            </a:pPr>
            <a:r>
              <a:rPr lang="en" sz="1500">
                <a:solidFill>
                  <a:schemeClr val="dk1"/>
                </a:solidFill>
                <a:latin typeface="Calibri"/>
                <a:ea typeface="Calibri"/>
                <a:cs typeface="Calibri"/>
                <a:sym typeface="Calibri"/>
              </a:rPr>
              <a:t>E.g., Statistical inference: taking a result based on a sample and extending it to the population. </a:t>
            </a:r>
            <a:endParaRPr sz="1500">
              <a:solidFill>
                <a:schemeClr val="dk1"/>
              </a:solidFill>
              <a:latin typeface="Calibri"/>
              <a:ea typeface="Calibri"/>
              <a:cs typeface="Calibri"/>
              <a:sym typeface="Calibri"/>
            </a:endParaRPr>
          </a:p>
          <a:p>
            <a:pPr marL="914400" lvl="1" indent="-323850" algn="l" rtl="0">
              <a:lnSpc>
                <a:spcPct val="100000"/>
              </a:lnSpc>
              <a:spcBef>
                <a:spcPts val="0"/>
              </a:spcBef>
              <a:spcAft>
                <a:spcPts val="0"/>
              </a:spcAft>
              <a:buClr>
                <a:schemeClr val="dk1"/>
              </a:buClr>
              <a:buSzPts val="1500"/>
              <a:buFont typeface="Noto Sans Symbols"/>
              <a:buChar char="o"/>
            </a:pPr>
            <a:r>
              <a:rPr lang="en" sz="1500">
                <a:solidFill>
                  <a:schemeClr val="dk1"/>
                </a:solidFill>
                <a:latin typeface="Calibri"/>
                <a:ea typeface="Calibri"/>
                <a:cs typeface="Calibri"/>
                <a:sym typeface="Calibri"/>
              </a:rPr>
              <a:t>"The coin I pulled from the bag is a penny. That coin is a penny. A third coin from the bag is a penny. Therefore, all the coins in the bag are pennies."  </a:t>
            </a:r>
            <a:endParaRPr sz="1500">
              <a:solidFill>
                <a:schemeClr val="dk1"/>
              </a:solidFill>
              <a:latin typeface="Calibri"/>
              <a:ea typeface="Calibri"/>
              <a:cs typeface="Calibri"/>
              <a:sym typeface="Calibri"/>
            </a:endParaRPr>
          </a:p>
          <a:p>
            <a:pPr marL="0" lvl="0" indent="0" algn="l" rtl="0">
              <a:spcBef>
                <a:spcPts val="0"/>
              </a:spcBef>
              <a:spcAft>
                <a:spcPts val="1600"/>
              </a:spcAft>
              <a:buNone/>
            </a:pPr>
            <a:endParaRPr sz="2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
                                            <p:txEl>
                                              <p:pRg st="0" end="0"/>
                                            </p:txEl>
                                          </p:spTgt>
                                        </p:tgtEl>
                                        <p:attrNameLst>
                                          <p:attrName>style.visibility</p:attrName>
                                        </p:attrNameLst>
                                      </p:cBhvr>
                                      <p:to>
                                        <p:strVal val="visible"/>
                                      </p:to>
                                    </p:set>
                                    <p:animEffect transition="in" filter="fade">
                                      <p:cBhvr>
                                        <p:cTn id="7" dur="1"/>
                                        <p:tgtEl>
                                          <p:spTgt spid="1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4">
                                            <p:txEl>
                                              <p:pRg st="1" end="1"/>
                                            </p:txEl>
                                          </p:spTgt>
                                        </p:tgtEl>
                                        <p:attrNameLst>
                                          <p:attrName>style.visibility</p:attrName>
                                        </p:attrNameLst>
                                      </p:cBhvr>
                                      <p:to>
                                        <p:strVal val="visible"/>
                                      </p:to>
                                    </p:set>
                                    <p:animEffect transition="in" filter="fade">
                                      <p:cBhvr>
                                        <p:cTn id="12" dur="1"/>
                                        <p:tgtEl>
                                          <p:spTgt spid="17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4">
                                            <p:txEl>
                                              <p:pRg st="2" end="2"/>
                                            </p:txEl>
                                          </p:spTgt>
                                        </p:tgtEl>
                                        <p:attrNameLst>
                                          <p:attrName>style.visibility</p:attrName>
                                        </p:attrNameLst>
                                      </p:cBhvr>
                                      <p:to>
                                        <p:strVal val="visible"/>
                                      </p:to>
                                    </p:set>
                                    <p:animEffect transition="in" filter="fade">
                                      <p:cBhvr>
                                        <p:cTn id="17" dur="1"/>
                                        <p:tgtEl>
                                          <p:spTgt spid="17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4">
                                            <p:txEl>
                                              <p:pRg st="3" end="3"/>
                                            </p:txEl>
                                          </p:spTgt>
                                        </p:tgtEl>
                                        <p:attrNameLst>
                                          <p:attrName>style.visibility</p:attrName>
                                        </p:attrNameLst>
                                      </p:cBhvr>
                                      <p:to>
                                        <p:strVal val="visible"/>
                                      </p:to>
                                    </p:set>
                                    <p:animEffect transition="in" filter="fade">
                                      <p:cBhvr>
                                        <p:cTn id="22" dur="1"/>
                                        <p:tgtEl>
                                          <p:spTgt spid="17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4">
                                            <p:txEl>
                                              <p:pRg st="4" end="4"/>
                                            </p:txEl>
                                          </p:spTgt>
                                        </p:tgtEl>
                                        <p:attrNameLst>
                                          <p:attrName>style.visibility</p:attrName>
                                        </p:attrNameLst>
                                      </p:cBhvr>
                                      <p:to>
                                        <p:strVal val="visible"/>
                                      </p:to>
                                    </p:set>
                                    <p:animEffect transition="in" filter="fade">
                                      <p:cBhvr>
                                        <p:cTn id="27" dur="1"/>
                                        <p:tgtEl>
                                          <p:spTgt spid="17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4">
                                            <p:txEl>
                                              <p:pRg st="5" end="5"/>
                                            </p:txEl>
                                          </p:spTgt>
                                        </p:tgtEl>
                                        <p:attrNameLst>
                                          <p:attrName>style.visibility</p:attrName>
                                        </p:attrNameLst>
                                      </p:cBhvr>
                                      <p:to>
                                        <p:strVal val="visible"/>
                                      </p:to>
                                    </p:set>
                                    <p:animEffect transition="in" filter="fade">
                                      <p:cBhvr>
                                        <p:cTn id="32" dur="1"/>
                                        <p:tgtEl>
                                          <p:spTgt spid="17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4">
                                            <p:txEl>
                                              <p:pRg st="6" end="6"/>
                                            </p:txEl>
                                          </p:spTgt>
                                        </p:tgtEl>
                                        <p:attrNameLst>
                                          <p:attrName>style.visibility</p:attrName>
                                        </p:attrNameLst>
                                      </p:cBhvr>
                                      <p:to>
                                        <p:strVal val="visible"/>
                                      </p:to>
                                    </p:set>
                                    <p:animEffect transition="in" filter="fade">
                                      <p:cBhvr>
                                        <p:cTn id="37" dur="1"/>
                                        <p:tgtEl>
                                          <p:spTgt spid="17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4">
                                            <p:txEl>
                                              <p:pRg st="7" end="7"/>
                                            </p:txEl>
                                          </p:spTgt>
                                        </p:tgtEl>
                                        <p:attrNameLst>
                                          <p:attrName>style.visibility</p:attrName>
                                        </p:attrNameLst>
                                      </p:cBhvr>
                                      <p:to>
                                        <p:strVal val="visible"/>
                                      </p:to>
                                    </p:set>
                                    <p:animEffect transition="in" filter="fade">
                                      <p:cBhvr>
                                        <p:cTn id="42" dur="1"/>
                                        <p:tgtEl>
                                          <p:spTgt spid="17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74">
                                            <p:txEl>
                                              <p:pRg st="8" end="8"/>
                                            </p:txEl>
                                          </p:spTgt>
                                        </p:tgtEl>
                                        <p:attrNameLst>
                                          <p:attrName>style.visibility</p:attrName>
                                        </p:attrNameLst>
                                      </p:cBhvr>
                                      <p:to>
                                        <p:strVal val="visible"/>
                                      </p:to>
                                    </p:set>
                                    <p:animEffect transition="in" filter="fade">
                                      <p:cBhvr>
                                        <p:cTn id="47" dur="1"/>
                                        <p:tgtEl>
                                          <p:spTgt spid="17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800">
                <a:solidFill>
                  <a:schemeClr val="dk2"/>
                </a:solidFill>
              </a:rPr>
              <a:t>What type of reasoning is used?</a:t>
            </a:r>
            <a:endParaRPr/>
          </a:p>
        </p:txBody>
      </p:sp>
      <p:sp>
        <p:nvSpPr>
          <p:cNvPr id="180" name="Google Shape;180;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en"/>
              <a:t>No mayten tree is deciduous, and all nondeciduous trees are evergreens. It follows that all mayten trees are evergreens.</a:t>
            </a:r>
            <a:endParaRPr/>
          </a:p>
          <a:p>
            <a:pPr marL="457200" lvl="0" indent="-342900" algn="l" rtl="0">
              <a:spcBef>
                <a:spcPts val="0"/>
              </a:spcBef>
              <a:spcAft>
                <a:spcPts val="0"/>
              </a:spcAft>
              <a:buSzPts val="1800"/>
              <a:buAutoNum type="arabicPeriod"/>
            </a:pPr>
            <a:r>
              <a:rPr lang="en"/>
              <a:t>Mike must belong to the Bartenders and Beverage Union Local 165, since almost every Las Vegas bartender does.</a:t>
            </a:r>
            <a:endParaRPr/>
          </a:p>
          <a:p>
            <a:pPr marL="457200" lvl="0" indent="-342900" algn="l" rtl="0">
              <a:spcBef>
                <a:spcPts val="0"/>
              </a:spcBef>
              <a:spcAft>
                <a:spcPts val="0"/>
              </a:spcAft>
              <a:buSzPts val="1800"/>
              <a:buAutoNum type="arabicPeriod"/>
            </a:pPr>
            <a:r>
              <a:rPr lang="en"/>
              <a:t>Either Colonel Mustard or Reverend Green killed Professor Plum. But whoever ran off with Mrs. White did not kill the professor. Since Reverend Green ran off with Mrs. White, Colonel Mustard killed Professor Plum.</a:t>
            </a:r>
            <a:endParaRPr/>
          </a:p>
          <a:p>
            <a:pPr marL="457200" lvl="0" indent="-342900" algn="l" rtl="0">
              <a:spcBef>
                <a:spcPts val="0"/>
              </a:spcBef>
              <a:spcAft>
                <a:spcPts val="0"/>
              </a:spcAft>
              <a:buSzPts val="1800"/>
              <a:buAutoNum type="arabicPeriod"/>
            </a:pPr>
            <a:r>
              <a:rPr lang="en"/>
              <a:t>Since some grapes are purple, and all grapes are fruit, some fruit is purple.</a:t>
            </a:r>
            <a:endParaRPr sz="2100"/>
          </a:p>
          <a:p>
            <a:pPr marL="0" lvl="0" indent="0" algn="l" rtl="0">
              <a:spcBef>
                <a:spcPts val="1600"/>
              </a:spcBef>
              <a:spcAft>
                <a:spcPts val="1600"/>
              </a:spcAft>
              <a:buNone/>
            </a:pPr>
            <a:endParaRPr sz="2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800">
                <a:solidFill>
                  <a:schemeClr val="dk2"/>
                </a:solidFill>
              </a:rPr>
              <a:t>What type of reasoning is used?</a:t>
            </a:r>
            <a:endParaRPr/>
          </a:p>
        </p:txBody>
      </p:sp>
      <p:sp>
        <p:nvSpPr>
          <p:cNvPr id="186" name="Google Shape;186;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t>No mayten tree is deciduous, and all nondeciduous trees are evergreens. It follows that all mayten trees are evergreens. D</a:t>
            </a:r>
            <a:endParaRPr sz="1500"/>
          </a:p>
          <a:p>
            <a:pPr marL="0" lvl="0" indent="0" algn="l" rtl="0">
              <a:spcBef>
                <a:spcPts val="1600"/>
              </a:spcBef>
              <a:spcAft>
                <a:spcPts val="0"/>
              </a:spcAft>
              <a:buNone/>
            </a:pPr>
            <a:r>
              <a:rPr lang="en" sz="1500"/>
              <a:t>Mike must belong to the Bartenders and Beverage Union Local 165, since almost every Las Vegas bartender does. I</a:t>
            </a:r>
            <a:endParaRPr sz="1500"/>
          </a:p>
          <a:p>
            <a:pPr marL="0" lvl="0" indent="0" algn="l" rtl="0">
              <a:spcBef>
                <a:spcPts val="1600"/>
              </a:spcBef>
              <a:spcAft>
                <a:spcPts val="0"/>
              </a:spcAft>
              <a:buNone/>
            </a:pPr>
            <a:r>
              <a:rPr lang="en" sz="1500"/>
              <a:t>Either Colonel Mustard or Reverend Green killed Professor Plum. But whoever ran off with Mrs. White did not kill the professor. Since Reverend Green ran off with Mrs. White, Colonel Mustard killed Professor Plum. D</a:t>
            </a:r>
            <a:endParaRPr sz="1500"/>
          </a:p>
          <a:p>
            <a:pPr marL="0" lvl="0" indent="0" algn="l" rtl="0">
              <a:spcBef>
                <a:spcPts val="1600"/>
              </a:spcBef>
              <a:spcAft>
                <a:spcPts val="0"/>
              </a:spcAft>
              <a:buNone/>
            </a:pPr>
            <a:r>
              <a:rPr lang="en" sz="1500"/>
              <a:t>Since some grapes are purple, and all grapes are fruit, some fruit is purple. I</a:t>
            </a:r>
            <a:endParaRPr/>
          </a:p>
          <a:p>
            <a:pPr marL="0" lvl="0" indent="0" algn="l" rtl="0">
              <a:spcBef>
                <a:spcPts val="1600"/>
              </a:spcBef>
              <a:spcAft>
                <a:spcPts val="160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Anyone want to share their examples of MP and MT from their research experience?</a:t>
            </a:r>
            <a:endParaRPr/>
          </a:p>
          <a:p>
            <a:pPr marL="0" lvl="0" indent="0" algn="l" rtl="0">
              <a:spcBef>
                <a:spcPts val="1600"/>
              </a:spcBef>
              <a:spcAft>
                <a:spcPts val="1600"/>
              </a:spcAft>
              <a:buNone/>
            </a:pPr>
            <a:r>
              <a:rPr lang="en"/>
              <a:t>Did talking through it today help you understand or think of different ideas?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Popper continued</a:t>
            </a:r>
            <a:endParaRPr/>
          </a:p>
        </p:txBody>
      </p:sp>
      <p:sp>
        <p:nvSpPr>
          <p:cNvPr id="198" name="Google Shape;198;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Ingredients of a theory</a:t>
            </a:r>
            <a:endParaRPr dirty="0"/>
          </a:p>
          <a:p>
            <a:pPr marL="0" lvl="0" indent="0" algn="l" rtl="0">
              <a:spcBef>
                <a:spcPts val="1600"/>
              </a:spcBef>
              <a:spcAft>
                <a:spcPts val="0"/>
              </a:spcAft>
              <a:buNone/>
            </a:pPr>
            <a:r>
              <a:rPr lang="en" dirty="0"/>
              <a:t>4 Criteria to judge scientific theories</a:t>
            </a:r>
            <a:endParaRPr dirty="0"/>
          </a:p>
          <a:p>
            <a:pPr marL="457200" lvl="0" indent="-342900" algn="l" rtl="0">
              <a:spcBef>
                <a:spcPts val="1600"/>
              </a:spcBef>
              <a:spcAft>
                <a:spcPts val="0"/>
              </a:spcAft>
              <a:buSzPts val="1800"/>
              <a:buChar char="●"/>
            </a:pPr>
            <a:r>
              <a:rPr lang="en" dirty="0"/>
              <a:t>Internally valid</a:t>
            </a:r>
            <a:endParaRPr dirty="0"/>
          </a:p>
          <a:p>
            <a:pPr marL="457200" lvl="0" indent="-342900" algn="l" rtl="0">
              <a:spcBef>
                <a:spcPts val="0"/>
              </a:spcBef>
              <a:spcAft>
                <a:spcPts val="0"/>
              </a:spcAft>
              <a:buSzPts val="1800"/>
              <a:buChar char="●"/>
            </a:pPr>
            <a:r>
              <a:rPr lang="en" dirty="0"/>
              <a:t>Testable</a:t>
            </a:r>
            <a:endParaRPr dirty="0"/>
          </a:p>
          <a:p>
            <a:pPr marL="457200" lvl="0" indent="-342900" algn="l" rtl="0">
              <a:spcBef>
                <a:spcPts val="0"/>
              </a:spcBef>
              <a:spcAft>
                <a:spcPts val="0"/>
              </a:spcAft>
              <a:buSzPts val="1800"/>
              <a:buChar char="●"/>
            </a:pPr>
            <a:r>
              <a:rPr lang="en" dirty="0"/>
              <a:t>Popper’s chopper (falsifiable)</a:t>
            </a:r>
            <a:endParaRPr dirty="0"/>
          </a:p>
          <a:p>
            <a:pPr marL="457200" lvl="0" indent="-342900" algn="l" rtl="0">
              <a:spcBef>
                <a:spcPts val="0"/>
              </a:spcBef>
              <a:spcAft>
                <a:spcPts val="0"/>
              </a:spcAft>
              <a:buSzPts val="1800"/>
              <a:buChar char="●"/>
            </a:pPr>
            <a:r>
              <a:rPr lang="en" dirty="0"/>
              <a:t>Withstand repeated empirical testing</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9"/>
          <p:cNvSpPr txBox="1">
            <a:spLocks noGrp="1"/>
          </p:cNvSpPr>
          <p:nvPr>
            <p:ph type="title"/>
          </p:nvPr>
        </p:nvSpPr>
        <p:spPr>
          <a:xfrm>
            <a:off x="311700" y="112050"/>
            <a:ext cx="8520600" cy="90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Employment falls because of an increase in the min wage</a:t>
            </a:r>
            <a:endParaRPr/>
          </a:p>
        </p:txBody>
      </p:sp>
      <p:sp>
        <p:nvSpPr>
          <p:cNvPr id="213" name="Google Shape;213;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People are rational</a:t>
            </a:r>
            <a:endParaRPr/>
          </a:p>
          <a:p>
            <a:pPr marL="0" lvl="0" indent="0" algn="l" rtl="0">
              <a:spcBef>
                <a:spcPts val="1600"/>
              </a:spcBef>
              <a:spcAft>
                <a:spcPts val="0"/>
              </a:spcAft>
              <a:buNone/>
            </a:pPr>
            <a:r>
              <a:rPr lang="en"/>
              <a:t>People have complete information</a:t>
            </a:r>
            <a:endParaRPr/>
          </a:p>
          <a:p>
            <a:pPr marL="0" lvl="0" indent="0" algn="l" rtl="0">
              <a:spcBef>
                <a:spcPts val="1600"/>
              </a:spcBef>
              <a:spcAft>
                <a:spcPts val="0"/>
              </a:spcAft>
              <a:buNone/>
            </a:pPr>
            <a:r>
              <a:rPr lang="en"/>
              <a:t>People want to earn more money in order to satisfy other wants</a:t>
            </a:r>
            <a:endParaRPr/>
          </a:p>
          <a:p>
            <a:pPr marL="0" lvl="0" indent="0" algn="l" rtl="0">
              <a:spcBef>
                <a:spcPts val="1600"/>
              </a:spcBef>
              <a:spcAft>
                <a:spcPts val="0"/>
              </a:spcAft>
              <a:buNone/>
            </a:pPr>
            <a:r>
              <a:rPr lang="en"/>
              <a:t>Firms want to hire at lowest wage rate</a:t>
            </a:r>
            <a:endParaRPr/>
          </a:p>
          <a:p>
            <a:pPr marL="0" lvl="0" indent="0" algn="l" rtl="0">
              <a:spcBef>
                <a:spcPts val="1600"/>
              </a:spcBef>
              <a:spcAft>
                <a:spcPts val="0"/>
              </a:spcAft>
              <a:buClr>
                <a:schemeClr val="dk1"/>
              </a:buClr>
              <a:buSzPts val="1100"/>
              <a:buFont typeface="Arial"/>
              <a:buNone/>
            </a:pPr>
            <a:r>
              <a:rPr lang="en"/>
              <a:t>A wage above the equilibrium creates a labor shortage</a:t>
            </a:r>
            <a:endParaRPr/>
          </a:p>
          <a:p>
            <a:pPr marL="0" lvl="0" indent="0" algn="l" rtl="0">
              <a:spcBef>
                <a:spcPts val="1600"/>
              </a:spcBef>
              <a:spcAft>
                <a:spcPts val="0"/>
              </a:spcAft>
              <a:buClr>
                <a:schemeClr val="dk1"/>
              </a:buClr>
              <a:buSzPts val="1100"/>
              <a:buFont typeface="Arial"/>
              <a:buNone/>
            </a:pPr>
            <a:r>
              <a:rPr lang="en"/>
              <a:t>Min wage blocks the system from tending toward equilibrium</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Internal Validity</a:t>
            </a:r>
            <a:endParaRPr/>
          </a:p>
        </p:txBody>
      </p:sp>
      <p:sp>
        <p:nvSpPr>
          <p:cNvPr id="219" name="Google Shape;219;p4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Theory consists of a set of foundational axioms (independent, free of contradiction) from which statements or logical conclusions may be deduced (hypotheses and predictions).</a:t>
            </a:r>
            <a:endParaRPr/>
          </a:p>
          <a:p>
            <a:pPr marL="0" lvl="0" indent="0" algn="l" rtl="0">
              <a:spcBef>
                <a:spcPts val="1600"/>
              </a:spcBef>
              <a:spcAft>
                <a:spcPts val="0"/>
              </a:spcAft>
              <a:buClr>
                <a:schemeClr val="dk1"/>
              </a:buClr>
              <a:buSzPts val="1100"/>
              <a:buFont typeface="Arial"/>
              <a:buNone/>
            </a:pPr>
            <a:r>
              <a:rPr lang="en"/>
              <a:t>Our theory of the consumer is axiomatic.  The statements provide the foundation for theory of demand.  They are logically consistent and other statements can be deduced i.e., demand is downward sloping.</a:t>
            </a:r>
            <a:endParaRPr/>
          </a:p>
          <a:p>
            <a:pPr marL="0" lvl="0" indent="0" algn="l" rtl="0">
              <a:spcBef>
                <a:spcPts val="1600"/>
              </a:spcBef>
              <a:spcAft>
                <a:spcPts val="0"/>
              </a:spcAft>
              <a:buNone/>
            </a:pPr>
            <a:r>
              <a:rPr lang="en"/>
              <a:t>Examples: completeness (able to compare all bundles), transitivity, complete information, utility and profit maximization</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Min wage: Validity?</a:t>
            </a:r>
            <a:endParaRPr/>
          </a:p>
        </p:txBody>
      </p:sp>
      <p:sp>
        <p:nvSpPr>
          <p:cNvPr id="225" name="Google Shape;225;p41"/>
          <p:cNvSpPr txBox="1">
            <a:spLocks noGrp="1"/>
          </p:cNvSpPr>
          <p:nvPr>
            <p:ph type="body" idx="1"/>
          </p:nvPr>
        </p:nvSpPr>
        <p:spPr>
          <a:xfrm>
            <a:off x="311700" y="1152475"/>
            <a:ext cx="39228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Consumer theory - labor supply</a:t>
            </a:r>
            <a:endParaRPr/>
          </a:p>
          <a:p>
            <a:pPr marL="0" lvl="0" indent="0" algn="l" rtl="0">
              <a:spcBef>
                <a:spcPts val="1600"/>
              </a:spcBef>
              <a:spcAft>
                <a:spcPts val="1600"/>
              </a:spcAft>
              <a:buNone/>
            </a:pPr>
            <a:r>
              <a:rPr lang="en"/>
              <a:t>Production theory - labor demand</a:t>
            </a:r>
            <a:endParaRPr/>
          </a:p>
        </p:txBody>
      </p:sp>
      <p:pic>
        <p:nvPicPr>
          <p:cNvPr id="226" name="Google Shape;226;p41"/>
          <p:cNvPicPr preferRelativeResize="0"/>
          <p:nvPr/>
        </p:nvPicPr>
        <p:blipFill>
          <a:blip r:embed="rId3">
            <a:alphaModFix/>
          </a:blip>
          <a:stretch>
            <a:fillRect/>
          </a:stretch>
        </p:blipFill>
        <p:spPr>
          <a:xfrm>
            <a:off x="4330873" y="1313675"/>
            <a:ext cx="4636424" cy="32552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Testable</a:t>
            </a:r>
            <a:endParaRPr/>
          </a:p>
        </p:txBody>
      </p:sp>
      <p:sp>
        <p:nvSpPr>
          <p:cNvPr id="232" name="Google Shape;232;p4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“Secondly, there is the investigation of the logical form of the theory, with the objective of determining whether it has the character of an empirical or scientific theory, or whether it is, for example, tautological”</a:t>
            </a:r>
            <a:endParaRPr/>
          </a:p>
          <a:p>
            <a:pPr marL="0" lvl="0" indent="0" algn="l" rtl="0">
              <a:spcBef>
                <a:spcPts val="1600"/>
              </a:spcBef>
              <a:spcAft>
                <a:spcPts val="0"/>
              </a:spcAft>
              <a:buClr>
                <a:schemeClr val="dk1"/>
              </a:buClr>
              <a:buSzPts val="1100"/>
              <a:buFont typeface="Arial"/>
              <a:buNone/>
            </a:pPr>
            <a:r>
              <a:rPr lang="en"/>
              <a:t>3 requirements:</a:t>
            </a:r>
            <a:endParaRPr/>
          </a:p>
          <a:p>
            <a:pPr marL="457200" lvl="0" indent="-342900" algn="l" rtl="0">
              <a:spcBef>
                <a:spcPts val="1600"/>
              </a:spcBef>
              <a:spcAft>
                <a:spcPts val="0"/>
              </a:spcAft>
              <a:buSzPts val="1800"/>
              <a:buChar char="●"/>
            </a:pPr>
            <a:r>
              <a:rPr lang="en"/>
              <a:t>It must be a possible world</a:t>
            </a:r>
            <a:endParaRPr/>
          </a:p>
          <a:p>
            <a:pPr marL="457200" lvl="0" indent="-342900" algn="l" rtl="0">
              <a:spcBef>
                <a:spcPts val="0"/>
              </a:spcBef>
              <a:spcAft>
                <a:spcPts val="0"/>
              </a:spcAft>
              <a:buSzPts val="1800"/>
              <a:buChar char="●"/>
            </a:pPr>
            <a:r>
              <a:rPr lang="en"/>
              <a:t>Demarcation, measurable, able to experience.  Not metaphysical.</a:t>
            </a:r>
            <a:endParaRPr/>
          </a:p>
          <a:p>
            <a:pPr marL="457200" lvl="0" indent="-342900" algn="l" rtl="0">
              <a:spcBef>
                <a:spcPts val="0"/>
              </a:spcBef>
              <a:spcAft>
                <a:spcPts val="0"/>
              </a:spcAft>
              <a:buSzPts val="1800"/>
              <a:buChar char="●"/>
            </a:pPr>
            <a:r>
              <a:rPr lang="en"/>
              <a:t>Must be distinguishable as our world that we live in.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2">
                                            <p:txEl>
                                              <p:pRg st="0" end="0"/>
                                            </p:txEl>
                                          </p:spTgt>
                                        </p:tgtEl>
                                        <p:attrNameLst>
                                          <p:attrName>style.visibility</p:attrName>
                                        </p:attrNameLst>
                                      </p:cBhvr>
                                      <p:to>
                                        <p:strVal val="visible"/>
                                      </p:to>
                                    </p:set>
                                    <p:animEffect transition="in" filter="fade">
                                      <p:cBhvr>
                                        <p:cTn id="7" dur="1"/>
                                        <p:tgtEl>
                                          <p:spTgt spid="2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2">
                                            <p:txEl>
                                              <p:pRg st="1" end="1"/>
                                            </p:txEl>
                                          </p:spTgt>
                                        </p:tgtEl>
                                        <p:attrNameLst>
                                          <p:attrName>style.visibility</p:attrName>
                                        </p:attrNameLst>
                                      </p:cBhvr>
                                      <p:to>
                                        <p:strVal val="visible"/>
                                      </p:to>
                                    </p:set>
                                    <p:animEffect transition="in" filter="fade">
                                      <p:cBhvr>
                                        <p:cTn id="12" dur="1"/>
                                        <p:tgtEl>
                                          <p:spTgt spid="23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2">
                                            <p:txEl>
                                              <p:pRg st="2" end="2"/>
                                            </p:txEl>
                                          </p:spTgt>
                                        </p:tgtEl>
                                        <p:attrNameLst>
                                          <p:attrName>style.visibility</p:attrName>
                                        </p:attrNameLst>
                                      </p:cBhvr>
                                      <p:to>
                                        <p:strVal val="visible"/>
                                      </p:to>
                                    </p:set>
                                    <p:animEffect transition="in" filter="fade">
                                      <p:cBhvr>
                                        <p:cTn id="17" dur="1"/>
                                        <p:tgtEl>
                                          <p:spTgt spid="23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2">
                                            <p:txEl>
                                              <p:pRg st="3" end="3"/>
                                            </p:txEl>
                                          </p:spTgt>
                                        </p:tgtEl>
                                        <p:attrNameLst>
                                          <p:attrName>style.visibility</p:attrName>
                                        </p:attrNameLst>
                                      </p:cBhvr>
                                      <p:to>
                                        <p:strVal val="visible"/>
                                      </p:to>
                                    </p:set>
                                    <p:animEffect transition="in" filter="fade">
                                      <p:cBhvr>
                                        <p:cTn id="22" dur="1"/>
                                        <p:tgtEl>
                                          <p:spTgt spid="23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2">
                                            <p:txEl>
                                              <p:pRg st="4" end="4"/>
                                            </p:txEl>
                                          </p:spTgt>
                                        </p:tgtEl>
                                        <p:attrNameLst>
                                          <p:attrName>style.visibility</p:attrName>
                                        </p:attrNameLst>
                                      </p:cBhvr>
                                      <p:to>
                                        <p:strVal val="visible"/>
                                      </p:to>
                                    </p:set>
                                    <p:animEffect transition="in" filter="fade">
                                      <p:cBhvr>
                                        <p:cTn id="27" dur="1"/>
                                        <p:tgtEl>
                                          <p:spTgt spid="23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Min wage: testable?</a:t>
            </a:r>
            <a:endParaRPr/>
          </a:p>
        </p:txBody>
      </p:sp>
      <p:sp>
        <p:nvSpPr>
          <p:cNvPr id="238" name="Google Shape;238;p4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We can observe wages and employment as well as the implementation of policy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Popper’s chopper (Occam’s razor)</a:t>
            </a:r>
            <a:endParaRPr dirty="0"/>
          </a:p>
        </p:txBody>
      </p:sp>
      <p:sp>
        <p:nvSpPr>
          <p:cNvPr id="244" name="Google Shape;244;p4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theory that provides a more simple explanation (with fewer assumptions) is better</a:t>
            </a:r>
            <a:endParaRPr/>
          </a:p>
          <a:p>
            <a:pPr marL="0" lvl="0" indent="0" algn="l" rtl="0">
              <a:spcBef>
                <a:spcPts val="1600"/>
              </a:spcBef>
              <a:spcAft>
                <a:spcPts val="0"/>
              </a:spcAft>
              <a:buNone/>
            </a:pPr>
            <a:r>
              <a:rPr lang="en"/>
              <a:t>Why is popper so concerned with this?  </a:t>
            </a:r>
            <a:endParaRPr/>
          </a:p>
          <a:p>
            <a:pPr marL="457200" lvl="0" indent="-342900" algn="l" rtl="0">
              <a:spcBef>
                <a:spcPts val="1600"/>
              </a:spcBef>
              <a:spcAft>
                <a:spcPts val="0"/>
              </a:spcAft>
              <a:buSzPts val="1800"/>
              <a:buChar char="●"/>
            </a:pPr>
            <a:r>
              <a:rPr lang="en"/>
              <a:t>Because the simple theory is easier to falsify.  </a:t>
            </a:r>
            <a:endParaRPr/>
          </a:p>
          <a:p>
            <a:pPr marL="457200" lvl="0" indent="-342900" algn="l" rtl="0">
              <a:spcBef>
                <a:spcPts val="0"/>
              </a:spcBef>
              <a:spcAft>
                <a:spcPts val="0"/>
              </a:spcAft>
              <a:buSzPts val="1800"/>
              <a:buChar char="●"/>
            </a:pPr>
            <a:r>
              <a:rPr lang="en"/>
              <a:t>The experiment necessary to falsify requires fewer assumptions to be met.</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4">
                                            <p:txEl>
                                              <p:pRg st="0" end="0"/>
                                            </p:txEl>
                                          </p:spTgt>
                                        </p:tgtEl>
                                        <p:attrNameLst>
                                          <p:attrName>style.visibility</p:attrName>
                                        </p:attrNameLst>
                                      </p:cBhvr>
                                      <p:to>
                                        <p:strVal val="visible"/>
                                      </p:to>
                                    </p:set>
                                    <p:animEffect transition="in" filter="fade">
                                      <p:cBhvr>
                                        <p:cTn id="7" dur="1"/>
                                        <p:tgtEl>
                                          <p:spTgt spid="2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4">
                                            <p:txEl>
                                              <p:pRg st="1" end="1"/>
                                            </p:txEl>
                                          </p:spTgt>
                                        </p:tgtEl>
                                        <p:attrNameLst>
                                          <p:attrName>style.visibility</p:attrName>
                                        </p:attrNameLst>
                                      </p:cBhvr>
                                      <p:to>
                                        <p:strVal val="visible"/>
                                      </p:to>
                                    </p:set>
                                    <p:animEffect transition="in" filter="fade">
                                      <p:cBhvr>
                                        <p:cTn id="12" dur="1"/>
                                        <p:tgtEl>
                                          <p:spTgt spid="2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4">
                                            <p:txEl>
                                              <p:pRg st="2" end="2"/>
                                            </p:txEl>
                                          </p:spTgt>
                                        </p:tgtEl>
                                        <p:attrNameLst>
                                          <p:attrName>style.visibility</p:attrName>
                                        </p:attrNameLst>
                                      </p:cBhvr>
                                      <p:to>
                                        <p:strVal val="visible"/>
                                      </p:to>
                                    </p:set>
                                    <p:animEffect transition="in" filter="fade">
                                      <p:cBhvr>
                                        <p:cTn id="17" dur="1"/>
                                        <p:tgtEl>
                                          <p:spTgt spid="24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4">
                                            <p:txEl>
                                              <p:pRg st="3" end="3"/>
                                            </p:txEl>
                                          </p:spTgt>
                                        </p:tgtEl>
                                        <p:attrNameLst>
                                          <p:attrName>style.visibility</p:attrName>
                                        </p:attrNameLst>
                                      </p:cBhvr>
                                      <p:to>
                                        <p:strVal val="visible"/>
                                      </p:to>
                                    </p:set>
                                    <p:animEffect transition="in" filter="fade">
                                      <p:cBhvr>
                                        <p:cTn id="22" dur="1"/>
                                        <p:tgtEl>
                                          <p:spTgt spid="24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4">
                                            <p:txEl>
                                              <p:pRg st="4" end="4"/>
                                            </p:txEl>
                                          </p:spTgt>
                                        </p:tgtEl>
                                        <p:attrNameLst>
                                          <p:attrName>style.visibility</p:attrName>
                                        </p:attrNameLst>
                                      </p:cBhvr>
                                      <p:to>
                                        <p:strVal val="visible"/>
                                      </p:to>
                                    </p:set>
                                    <p:animEffect transition="in" filter="fade">
                                      <p:cBhvr>
                                        <p:cTn id="27" dur="1"/>
                                        <p:tgtEl>
                                          <p:spTgt spid="24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4">
                                            <p:txEl>
                                              <p:pRg st="5" end="5"/>
                                            </p:txEl>
                                          </p:spTgt>
                                        </p:tgtEl>
                                        <p:attrNameLst>
                                          <p:attrName>style.visibility</p:attrName>
                                        </p:attrNameLst>
                                      </p:cBhvr>
                                      <p:to>
                                        <p:strVal val="visible"/>
                                      </p:to>
                                    </p:set>
                                    <p:animEffect transition="in" filter="fade">
                                      <p:cBhvr>
                                        <p:cTn id="32" dur="1"/>
                                        <p:tgtEl>
                                          <p:spTgt spid="24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Min wage: simple?</a:t>
            </a:r>
            <a:endParaRPr/>
          </a:p>
        </p:txBody>
      </p:sp>
      <p:sp>
        <p:nvSpPr>
          <p:cNvPr id="250" name="Google Shape;250;p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Are there alternative explanations (theories) of how the min wage would impact employment?</a:t>
            </a:r>
            <a:endParaRPr/>
          </a:p>
          <a:p>
            <a:pPr marL="0" lvl="0" indent="0" algn="l" rtl="0">
              <a:spcBef>
                <a:spcPts val="1600"/>
              </a:spcBef>
              <a:spcAft>
                <a:spcPts val="1600"/>
              </a:spcAft>
              <a:buNone/>
            </a:pPr>
            <a:r>
              <a:rPr lang="en"/>
              <a:t>If so, do they provide a simpler explanation of the effect?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Withstand repeated empirical test</a:t>
            </a:r>
            <a:endParaRPr/>
          </a:p>
        </p:txBody>
      </p:sp>
      <p:sp>
        <p:nvSpPr>
          <p:cNvPr id="256" name="Google Shape;256;p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The theory must survive repeated tests based on data collected from the world we experience.</a:t>
            </a:r>
            <a:endParaRPr/>
          </a:p>
          <a:p>
            <a:pPr marL="0" lvl="0" indent="0" algn="l" rtl="0">
              <a:spcBef>
                <a:spcPts val="1600"/>
              </a:spcBef>
              <a:spcAft>
                <a:spcPts val="0"/>
              </a:spcAft>
              <a:buClr>
                <a:schemeClr val="dk1"/>
              </a:buClr>
              <a:buSzPts val="1100"/>
              <a:buFont typeface="Arial"/>
              <a:buNone/>
            </a:pPr>
            <a:r>
              <a:rPr lang="en"/>
              <a:t>We must subject the minimum wage hypothesis to repeated empirical scrutiny.</a:t>
            </a:r>
            <a:endParaRPr/>
          </a:p>
          <a:p>
            <a:pPr marL="0" lvl="0" indent="0" algn="l" rtl="0">
              <a:spcBef>
                <a:spcPts val="1600"/>
              </a:spcBef>
              <a:spcAft>
                <a:spcPts val="1600"/>
              </a:spcAft>
              <a:buNone/>
            </a:pPr>
            <a:r>
              <a:rPr lang="en"/>
              <a:t>This can be particularly challenging in a discipline focused on human behavior where human behavior is often mediated through culture that may change over time.  In other words, the world we experience may itself be changing requiring us to modify theory over time.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Min wage: withstand repeated testing?</a:t>
            </a:r>
            <a:endParaRPr/>
          </a:p>
        </p:txBody>
      </p:sp>
      <p:sp>
        <p:nvSpPr>
          <p:cNvPr id="262" name="Google Shape;262;p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Min wage has seen a renewed attention.  </a:t>
            </a:r>
            <a:endParaRPr/>
          </a:p>
          <a:p>
            <a:pPr marL="0" lvl="0" indent="0" algn="l" rtl="0">
              <a:spcBef>
                <a:spcPts val="1600"/>
              </a:spcBef>
              <a:spcAft>
                <a:spcPts val="0"/>
              </a:spcAft>
              <a:buNone/>
            </a:pPr>
            <a:r>
              <a:rPr lang="en"/>
              <a:t>More empirical research finds little or no effect now.</a:t>
            </a:r>
            <a:endParaRPr/>
          </a:p>
          <a:p>
            <a:pPr marL="0" lvl="0" indent="0" algn="l" rtl="0">
              <a:spcBef>
                <a:spcPts val="1600"/>
              </a:spcBef>
              <a:spcAft>
                <a:spcPts val="1600"/>
              </a:spcAft>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Min wage example</a:t>
            </a:r>
            <a:endParaRPr/>
          </a:p>
        </p:txBody>
      </p:sp>
      <p:sp>
        <p:nvSpPr>
          <p:cNvPr id="268" name="Google Shape;268;p4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Hypothesis: Assume simple (101) labor model, then minimum wage reduces employment relative to no policy case.</a:t>
            </a:r>
            <a:endParaRPr dirty="0"/>
          </a:p>
          <a:p>
            <a:pPr marL="0" lvl="0" indent="0" algn="l" rtl="0">
              <a:spcBef>
                <a:spcPts val="1600"/>
              </a:spcBef>
              <a:spcAft>
                <a:spcPts val="0"/>
              </a:spcAft>
              <a:buNone/>
            </a:pPr>
            <a:r>
              <a:rPr lang="en" dirty="0"/>
              <a:t>Prediction: If hypothesis is true, employment in Seattle should fall when minimum wage increased to $15/hr.</a:t>
            </a:r>
            <a:endParaRPr dirty="0"/>
          </a:p>
          <a:p>
            <a:pPr marL="0" lvl="0" indent="0" algn="l" rtl="0">
              <a:spcBef>
                <a:spcPts val="1600"/>
              </a:spcBef>
              <a:spcAft>
                <a:spcPts val="0"/>
              </a:spcAft>
              <a:buNone/>
            </a:pPr>
            <a:r>
              <a:rPr lang="en" dirty="0"/>
              <a:t>Test: We can empirically evaluate whether employment falls in response to minimum wage increase.  </a:t>
            </a:r>
            <a:endParaRPr dirty="0"/>
          </a:p>
          <a:p>
            <a:pPr marL="0" lvl="0" indent="0" algn="l" rtl="0">
              <a:spcBef>
                <a:spcPts val="1600"/>
              </a:spcBef>
              <a:spcAft>
                <a:spcPts val="1600"/>
              </a:spcAft>
              <a:buNone/>
            </a:pPr>
            <a:r>
              <a:rPr lang="en" dirty="0"/>
              <a:t>Use modus tollens: employment does not decline; therefore, hypothesis is not true.  Hypothesis is not true; therefore, axioms are not true.</a:t>
            </a:r>
            <a:endParaRPr dirty="0"/>
          </a:p>
        </p:txBody>
      </p:sp>
      <p:sp>
        <p:nvSpPr>
          <p:cNvPr id="269" name="Google Shape;269;p48">
            <a:hlinkClick r:id="rId3"/>
          </p:cNvPr>
          <p:cNvSpPr txBox="1"/>
          <p:nvPr/>
        </p:nvSpPr>
        <p:spPr>
          <a:xfrm>
            <a:off x="103000" y="4568875"/>
            <a:ext cx="88122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dirty="0">
                <a:solidFill>
                  <a:schemeClr val="hlink"/>
                </a:solidFill>
                <a:hlinkClick r:id="rId3"/>
              </a:rPr>
              <a:t>https://www.cato.org/policy-analysis/making-sense-minimum-wage-roadmap-navigating-recent-research#research-on-the-long-history-of-u-s-minimum-wage-changes</a:t>
            </a:r>
            <a:r>
              <a:rPr lang="en" dirty="0"/>
              <a:t> </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Concluding thoughts</a:t>
            </a:r>
            <a:endParaRPr/>
          </a:p>
        </p:txBody>
      </p:sp>
      <p:sp>
        <p:nvSpPr>
          <p:cNvPr id="275" name="Google Shape;275;p49"/>
          <p:cNvSpPr txBox="1">
            <a:spLocks noGrp="1"/>
          </p:cNvSpPr>
          <p:nvPr>
            <p:ph type="body" idx="1"/>
          </p:nvPr>
        </p:nvSpPr>
        <p:spPr>
          <a:xfrm>
            <a:off x="311700" y="1017725"/>
            <a:ext cx="8520600" cy="412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Popper claims we must describe the rules of the method of science. What he means is a description of the context in which "science" occurs. </a:t>
            </a:r>
            <a:endParaRPr dirty="0"/>
          </a:p>
          <a:p>
            <a:pPr marL="457200" lvl="0" indent="-342900" algn="l" rtl="0">
              <a:spcBef>
                <a:spcPts val="1600"/>
              </a:spcBef>
              <a:spcAft>
                <a:spcPts val="0"/>
              </a:spcAft>
              <a:buSzPts val="1800"/>
              <a:buChar char="●"/>
            </a:pPr>
            <a:r>
              <a:rPr lang="en" dirty="0"/>
              <a:t>Science is without end</a:t>
            </a:r>
            <a:endParaRPr dirty="0"/>
          </a:p>
          <a:p>
            <a:pPr marL="457200" lvl="0" indent="-342900" algn="l" rtl="0">
              <a:spcBef>
                <a:spcPts val="0"/>
              </a:spcBef>
              <a:spcAft>
                <a:spcPts val="0"/>
              </a:spcAft>
              <a:buSzPts val="1800"/>
              <a:buChar char="●"/>
            </a:pPr>
            <a:r>
              <a:rPr lang="en" dirty="0"/>
              <a:t>The stock of knowledge evolves over time</a:t>
            </a:r>
            <a:endParaRPr dirty="0"/>
          </a:p>
          <a:p>
            <a:pPr marL="0" lvl="0" indent="0" algn="l" rtl="0">
              <a:spcBef>
                <a:spcPts val="1600"/>
              </a:spcBef>
              <a:spcAft>
                <a:spcPts val="0"/>
              </a:spcAft>
              <a:buClr>
                <a:schemeClr val="dk1"/>
              </a:buClr>
              <a:buSzPts val="1100"/>
              <a:buFont typeface="Arial"/>
              <a:buNone/>
            </a:pPr>
            <a:r>
              <a:rPr lang="en" dirty="0"/>
              <a:t>This systematic approach to science has two important implications:</a:t>
            </a:r>
            <a:endParaRPr dirty="0"/>
          </a:p>
          <a:p>
            <a:pPr marL="457200" lvl="0" indent="-342900" algn="l" rtl="0">
              <a:spcBef>
                <a:spcPts val="1600"/>
              </a:spcBef>
              <a:spcAft>
                <a:spcPts val="0"/>
              </a:spcAft>
              <a:buSzPts val="1800"/>
              <a:buChar char="●"/>
            </a:pPr>
            <a:r>
              <a:rPr lang="en" dirty="0"/>
              <a:t>No theory can be conclusively proven.</a:t>
            </a:r>
            <a:endParaRPr dirty="0"/>
          </a:p>
          <a:p>
            <a:pPr marL="457200" lvl="0" indent="-342900" algn="l" rtl="0">
              <a:spcBef>
                <a:spcPts val="0"/>
              </a:spcBef>
              <a:spcAft>
                <a:spcPts val="0"/>
              </a:spcAft>
              <a:buSzPts val="1800"/>
              <a:buChar char="●"/>
            </a:pPr>
            <a:r>
              <a:rPr lang="en" dirty="0"/>
              <a:t>No theory can conclusively be disproven.</a:t>
            </a:r>
            <a:endParaRPr dirty="0"/>
          </a:p>
          <a:p>
            <a:pPr marL="114300" lvl="0" indent="0" algn="l" rtl="0">
              <a:spcBef>
                <a:spcPts val="0"/>
              </a:spcBef>
              <a:spcAft>
                <a:spcPts val="0"/>
              </a:spcAft>
              <a:buSzPts val="1800"/>
              <a:buNone/>
            </a:pPr>
            <a:r>
              <a:rPr lang="en" dirty="0"/>
              <a:t>Modus ponens relies on the validity of the premise which cannot be proven or disproven.  </a:t>
            </a:r>
            <a:endParaRPr dirty="0"/>
          </a:p>
          <a:p>
            <a:pPr marL="114300" lvl="0" indent="0" algn="l" rtl="0">
              <a:spcBef>
                <a:spcPts val="0"/>
              </a:spcBef>
              <a:spcAft>
                <a:spcPts val="0"/>
              </a:spcAft>
              <a:buSzPts val="1800"/>
              <a:buNone/>
            </a:pPr>
            <a:r>
              <a:rPr lang="en" dirty="0"/>
              <a:t>Modus tollens does not test the theory directly – you cannot conclusively rule out other explanations.</a:t>
            </a:r>
            <a:endParaRPr dirty="0"/>
          </a:p>
          <a:p>
            <a:pPr marL="0" lvl="0" indent="0" algn="l" rtl="0">
              <a:spcBef>
                <a:spcPts val="1600"/>
              </a:spcBef>
              <a:spcAft>
                <a:spcPts val="0"/>
              </a:spcAft>
              <a:buClr>
                <a:schemeClr val="dk1"/>
              </a:buClr>
              <a:buSzPts val="1100"/>
              <a:buFont typeface="Arial"/>
              <a:buNone/>
            </a:pPr>
            <a:endParaRPr dirty="0"/>
          </a:p>
          <a:p>
            <a:pPr marL="0" lvl="0" indent="0" algn="l" rtl="0">
              <a:spcBef>
                <a:spcPts val="1600"/>
              </a:spcBef>
              <a:spcAft>
                <a:spcPts val="1600"/>
              </a:spcAft>
              <a:buNone/>
            </a:pP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777DF-9786-5EDA-B1CB-88E29F72A070}"/>
              </a:ext>
            </a:extLst>
          </p:cNvPr>
          <p:cNvSpPr>
            <a:spLocks noGrp="1"/>
          </p:cNvSpPr>
          <p:nvPr>
            <p:ph type="title"/>
          </p:nvPr>
        </p:nvSpPr>
        <p:spPr/>
        <p:txBody>
          <a:bodyPr/>
          <a:lstStyle/>
          <a:p>
            <a:r>
              <a:rPr lang="en-US" dirty="0"/>
              <a:t>Popper’s critics</a:t>
            </a:r>
          </a:p>
        </p:txBody>
      </p:sp>
      <p:sp>
        <p:nvSpPr>
          <p:cNvPr id="3" name="Text Placeholder 2">
            <a:extLst>
              <a:ext uri="{FF2B5EF4-FFF2-40B4-BE49-F238E27FC236}">
                <a16:creationId xmlns:a16="http://schemas.microsoft.com/office/drawing/2014/main" id="{011628F5-7E14-17D7-EBBD-0C94278041D4}"/>
              </a:ext>
            </a:extLst>
          </p:cNvPr>
          <p:cNvSpPr>
            <a:spLocks noGrp="1"/>
          </p:cNvSpPr>
          <p:nvPr>
            <p:ph type="body" idx="1"/>
          </p:nvPr>
        </p:nvSpPr>
        <p:spPr/>
        <p:txBody>
          <a:bodyPr/>
          <a:lstStyle/>
          <a:p>
            <a:pPr>
              <a:spcAft>
                <a:spcPts val="1200"/>
              </a:spcAft>
            </a:pPr>
            <a:r>
              <a:rPr lang="en-US" dirty="0"/>
              <a:t>Falsification criteria is too strict. Evolutionary bio cannot be falsified</a:t>
            </a:r>
          </a:p>
          <a:p>
            <a:pPr>
              <a:spcAft>
                <a:spcPts val="1200"/>
              </a:spcAft>
            </a:pPr>
            <a:r>
              <a:rPr lang="en-US" dirty="0"/>
              <a:t>Deduction and testing is too idealized. Science uses induction, abduction, analogy, intuition.</a:t>
            </a:r>
          </a:p>
          <a:p>
            <a:pPr>
              <a:spcAft>
                <a:spcPts val="1200"/>
              </a:spcAft>
            </a:pPr>
            <a:r>
              <a:rPr lang="en-US" dirty="0"/>
              <a:t>Popper’s view of science is too simplistic and does not account for historical, social, and cultural factors that influence science</a:t>
            </a:r>
          </a:p>
          <a:p>
            <a:pPr marL="114300" indent="0">
              <a:buNone/>
            </a:pPr>
            <a:endParaRPr lang="en-US" dirty="0"/>
          </a:p>
        </p:txBody>
      </p:sp>
    </p:spTree>
    <p:extLst>
      <p:ext uri="{BB962C8B-B14F-4D97-AF65-F5344CB8AC3E}">
        <p14:creationId xmlns:p14="http://schemas.microsoft.com/office/powerpoint/2010/main" val="32940434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5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McCloskey - How Economists Persuade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a:t>
            </a:r>
            <a:endParaRPr/>
          </a:p>
        </p:txBody>
      </p:sp>
      <p:sp>
        <p:nvSpPr>
          <p:cNvPr id="286" name="Google Shape;286;p5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Communication matters</a:t>
            </a:r>
            <a:endParaRPr/>
          </a:p>
          <a:p>
            <a:pPr marL="0" lvl="0" indent="0" algn="l" rtl="0">
              <a:spcBef>
                <a:spcPts val="1600"/>
              </a:spcBef>
              <a:spcAft>
                <a:spcPts val="0"/>
              </a:spcAft>
              <a:buNone/>
            </a:pPr>
            <a:r>
              <a:rPr lang="en"/>
              <a:t>Science is conducted in a social context - audience matters</a:t>
            </a:r>
            <a:endParaRPr/>
          </a:p>
          <a:p>
            <a:pPr marL="0" lvl="0" indent="0" algn="l" rtl="0">
              <a:spcBef>
                <a:spcPts val="1600"/>
              </a:spcBef>
              <a:spcAft>
                <a:spcPts val="0"/>
              </a:spcAft>
              <a:buNone/>
            </a:pPr>
            <a:r>
              <a:rPr lang="en"/>
              <a:t>Metaphor</a:t>
            </a:r>
            <a:endParaRPr/>
          </a:p>
          <a:p>
            <a:pPr marL="0" lvl="0" indent="0" algn="l" rtl="0">
              <a:spcBef>
                <a:spcPts val="1600"/>
              </a:spcBef>
              <a:spcAft>
                <a:spcPts val="0"/>
              </a:spcAft>
              <a:buNone/>
            </a:pPr>
            <a:r>
              <a:rPr lang="en"/>
              <a:t>Narrative Form</a:t>
            </a:r>
            <a:endParaRPr/>
          </a:p>
          <a:p>
            <a:pPr marL="0" lvl="0" indent="0" algn="l" rtl="0">
              <a:spcBef>
                <a:spcPts val="1600"/>
              </a:spcBef>
              <a:spcAft>
                <a:spcPts val="0"/>
              </a:spcAft>
              <a:buNone/>
            </a:pPr>
            <a:r>
              <a:rPr lang="en"/>
              <a:t>Communication in economics</a:t>
            </a:r>
            <a:endParaRPr/>
          </a:p>
          <a:p>
            <a:pPr marL="0" lvl="0" indent="0" algn="l" rtl="0">
              <a:spcBef>
                <a:spcPts val="1600"/>
              </a:spcBef>
              <a:spcAft>
                <a:spcPts val="1600"/>
              </a:spcAft>
              <a:buNone/>
            </a:pP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Science in a social context</a:t>
            </a:r>
            <a:endParaRPr/>
          </a:p>
        </p:txBody>
      </p:sp>
      <p:sp>
        <p:nvSpPr>
          <p:cNvPr id="292" name="Google Shape;292;p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“Science, is human persuasion, not mechanical demonstration”</a:t>
            </a:r>
            <a:endParaRPr/>
          </a:p>
          <a:p>
            <a:pPr marL="0" lvl="0" indent="0" algn="l" rtl="0">
              <a:spcBef>
                <a:spcPts val="1600"/>
              </a:spcBef>
              <a:spcAft>
                <a:spcPts val="0"/>
              </a:spcAft>
              <a:buNone/>
            </a:pPr>
            <a:r>
              <a:rPr lang="en"/>
              <a:t>We are communicating our research with others and we should be cognizant that we are persuading them.</a:t>
            </a:r>
            <a:endParaRPr/>
          </a:p>
          <a:p>
            <a:pPr marL="0" lvl="0" indent="0" algn="l" rtl="0">
              <a:spcBef>
                <a:spcPts val="1600"/>
              </a:spcBef>
              <a:spcAft>
                <a:spcPts val="0"/>
              </a:spcAft>
              <a:buClr>
                <a:schemeClr val="dk1"/>
              </a:buClr>
              <a:buSzPts val="1100"/>
              <a:buFont typeface="Arial"/>
              <a:buNone/>
            </a:pPr>
            <a:r>
              <a:rPr lang="en"/>
              <a:t>Audience matters… Reagan tax rate and revenue example.</a:t>
            </a:r>
            <a:endParaRPr/>
          </a:p>
          <a:p>
            <a:pPr marL="0" lvl="0" indent="0" algn="l" rtl="0">
              <a:spcBef>
                <a:spcPts val="1600"/>
              </a:spcBef>
              <a:spcAft>
                <a:spcPts val="1600"/>
              </a:spcAft>
              <a:buNone/>
            </a:pPr>
            <a:r>
              <a:rPr lang="en"/>
              <a:t>Rhetoric is important.  What is rhetoric?</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Metaphor</a:t>
            </a:r>
            <a:endParaRPr/>
          </a:p>
        </p:txBody>
      </p:sp>
      <p:sp>
        <p:nvSpPr>
          <p:cNvPr id="298" name="Google Shape;298;p5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Claims an economic model is a metaphor.  What does McCloskey means?</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Any examples?</a:t>
            </a:r>
            <a:endParaRPr dirty="0"/>
          </a:p>
          <a:p>
            <a:pPr marL="0" lvl="0" indent="0" algn="l" rtl="0">
              <a:spcBef>
                <a:spcPts val="1600"/>
              </a:spcBef>
              <a:spcAft>
                <a:spcPts val="0"/>
              </a:spcAft>
              <a:buNone/>
            </a:pPr>
            <a:r>
              <a:rPr lang="en" dirty="0"/>
              <a:t>One chooses a metaphor to steer other’s minds toward a specific element or prediction and probably away from others.  You strategically choose a metaphor to persuade.  </a:t>
            </a:r>
            <a:endParaRPr dirty="0"/>
          </a:p>
          <a:p>
            <a:pPr marL="0" lvl="0" indent="0" algn="l" rtl="0">
              <a:spcBef>
                <a:spcPts val="1600"/>
              </a:spcBef>
              <a:spcAft>
                <a:spcPts val="0"/>
              </a:spcAft>
              <a:buNone/>
            </a:pPr>
            <a:r>
              <a:rPr lang="en" dirty="0"/>
              <a:t>What metaphor is </a:t>
            </a:r>
            <a:r>
              <a:rPr lang="en" dirty="0" err="1"/>
              <a:t>Akerloff</a:t>
            </a:r>
            <a:r>
              <a:rPr lang="en" dirty="0"/>
              <a:t> (1970) associated with?</a:t>
            </a:r>
            <a:endParaRPr dirty="0"/>
          </a:p>
          <a:p>
            <a:pPr marL="0" lvl="0" indent="0" algn="l" rtl="0">
              <a:spcBef>
                <a:spcPts val="1600"/>
              </a:spcBef>
              <a:spcAft>
                <a:spcPts val="0"/>
              </a:spcAft>
              <a:buNone/>
            </a:pPr>
            <a:endParaRPr dirty="0"/>
          </a:p>
          <a:p>
            <a:pPr marL="0" lvl="0" indent="0" algn="l" rtl="0">
              <a:spcBef>
                <a:spcPts val="1600"/>
              </a:spcBef>
              <a:spcAft>
                <a:spcPts val="1600"/>
              </a:spcAft>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8">
                                            <p:txEl>
                                              <p:pRg st="0" end="0"/>
                                            </p:txEl>
                                          </p:spTgt>
                                        </p:tgtEl>
                                        <p:attrNameLst>
                                          <p:attrName>style.visibility</p:attrName>
                                        </p:attrNameLst>
                                      </p:cBhvr>
                                      <p:to>
                                        <p:strVal val="visible"/>
                                      </p:to>
                                    </p:set>
                                    <p:animEffect transition="in" filter="fade">
                                      <p:cBhvr>
                                        <p:cTn id="7" dur="1"/>
                                        <p:tgtEl>
                                          <p:spTgt spid="2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8">
                                            <p:txEl>
                                              <p:pRg st="2" end="2"/>
                                            </p:txEl>
                                          </p:spTgt>
                                        </p:tgtEl>
                                        <p:attrNameLst>
                                          <p:attrName>style.visibility</p:attrName>
                                        </p:attrNameLst>
                                      </p:cBhvr>
                                      <p:to>
                                        <p:strVal val="visible"/>
                                      </p:to>
                                    </p:set>
                                    <p:animEffect transition="in" filter="fade">
                                      <p:cBhvr>
                                        <p:cTn id="12" dur="1"/>
                                        <p:tgtEl>
                                          <p:spTgt spid="29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8">
                                            <p:txEl>
                                              <p:pRg st="3" end="3"/>
                                            </p:txEl>
                                          </p:spTgt>
                                        </p:tgtEl>
                                        <p:attrNameLst>
                                          <p:attrName>style.visibility</p:attrName>
                                        </p:attrNameLst>
                                      </p:cBhvr>
                                      <p:to>
                                        <p:strVal val="visible"/>
                                      </p:to>
                                    </p:set>
                                    <p:animEffect transition="in" filter="fade">
                                      <p:cBhvr>
                                        <p:cTn id="17" dur="1"/>
                                        <p:tgtEl>
                                          <p:spTgt spid="29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8">
                                            <p:txEl>
                                              <p:pRg st="4" end="4"/>
                                            </p:txEl>
                                          </p:spTgt>
                                        </p:tgtEl>
                                        <p:attrNameLst>
                                          <p:attrName>style.visibility</p:attrName>
                                        </p:attrNameLst>
                                      </p:cBhvr>
                                      <p:to>
                                        <p:strVal val="visible"/>
                                      </p:to>
                                    </p:set>
                                    <p:animEffect transition="in" filter="fade">
                                      <p:cBhvr>
                                        <p:cTn id="22" dur="1"/>
                                        <p:tgtEl>
                                          <p:spTgt spid="29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Blub blub effect and non-econ audience</a:t>
            </a:r>
            <a:endParaRPr/>
          </a:p>
        </p:txBody>
      </p:sp>
      <p:sp>
        <p:nvSpPr>
          <p:cNvPr id="304" name="Google Shape;304;p5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Academic econ journal articles encourage vocabulary that is increasingly hard for non-economists to understand.</a:t>
            </a:r>
            <a:endParaRPr/>
          </a:p>
          <a:p>
            <a:pPr marL="0" lvl="0" indent="0" algn="l" rtl="0">
              <a:spcBef>
                <a:spcPts val="1600"/>
              </a:spcBef>
              <a:spcAft>
                <a:spcPts val="0"/>
              </a:spcAft>
              <a:buNone/>
            </a:pPr>
            <a:r>
              <a:rPr lang="en"/>
              <a:t>Nicholas quote</a:t>
            </a:r>
            <a:endParaRPr/>
          </a:p>
          <a:p>
            <a:pPr marL="0" lvl="0" indent="0" algn="l" rtl="0">
              <a:spcBef>
                <a:spcPts val="1600"/>
              </a:spcBef>
              <a:spcAft>
                <a:spcPts val="0"/>
              </a:spcAft>
              <a:buNone/>
            </a:pPr>
            <a:r>
              <a:rPr lang="en"/>
              <a:t>Uses this quote to “undermine the neoclassical measure of productivity change”</a:t>
            </a:r>
            <a:endParaRPr/>
          </a:p>
          <a:p>
            <a:pPr marL="0" lvl="0" indent="0" algn="l" rtl="0">
              <a:spcBef>
                <a:spcPts val="1600"/>
              </a:spcBef>
              <a:spcAft>
                <a:spcPts val="1600"/>
              </a:spcAft>
              <a:buNone/>
            </a:pPr>
            <a:r>
              <a:rPr lang="en"/>
              <a:t>Is economics better off writing to itself or making its ideas available to others?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4">
                                            <p:txEl>
                                              <p:pRg st="0" end="0"/>
                                            </p:txEl>
                                          </p:spTgt>
                                        </p:tgtEl>
                                        <p:attrNameLst>
                                          <p:attrName>style.visibility</p:attrName>
                                        </p:attrNameLst>
                                      </p:cBhvr>
                                      <p:to>
                                        <p:strVal val="visible"/>
                                      </p:to>
                                    </p:set>
                                    <p:animEffect transition="in" filter="fade">
                                      <p:cBhvr>
                                        <p:cTn id="7" dur="1"/>
                                        <p:tgtEl>
                                          <p:spTgt spid="30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4">
                                            <p:txEl>
                                              <p:pRg st="1" end="1"/>
                                            </p:txEl>
                                          </p:spTgt>
                                        </p:tgtEl>
                                        <p:attrNameLst>
                                          <p:attrName>style.visibility</p:attrName>
                                        </p:attrNameLst>
                                      </p:cBhvr>
                                      <p:to>
                                        <p:strVal val="visible"/>
                                      </p:to>
                                    </p:set>
                                    <p:animEffect transition="in" filter="fade">
                                      <p:cBhvr>
                                        <p:cTn id="12" dur="1"/>
                                        <p:tgtEl>
                                          <p:spTgt spid="30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4">
                                            <p:txEl>
                                              <p:pRg st="2" end="2"/>
                                            </p:txEl>
                                          </p:spTgt>
                                        </p:tgtEl>
                                        <p:attrNameLst>
                                          <p:attrName>style.visibility</p:attrName>
                                        </p:attrNameLst>
                                      </p:cBhvr>
                                      <p:to>
                                        <p:strVal val="visible"/>
                                      </p:to>
                                    </p:set>
                                    <p:animEffect transition="in" filter="fade">
                                      <p:cBhvr>
                                        <p:cTn id="17" dur="1"/>
                                        <p:tgtEl>
                                          <p:spTgt spid="30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4">
                                            <p:txEl>
                                              <p:pRg st="3" end="3"/>
                                            </p:txEl>
                                          </p:spTgt>
                                        </p:tgtEl>
                                        <p:attrNameLst>
                                          <p:attrName>style.visibility</p:attrName>
                                        </p:attrNameLst>
                                      </p:cBhvr>
                                      <p:to>
                                        <p:strVal val="visible"/>
                                      </p:to>
                                    </p:set>
                                    <p:animEffect transition="in" filter="fade">
                                      <p:cBhvr>
                                        <p:cTn id="22" dur="1"/>
                                        <p:tgtEl>
                                          <p:spTgt spid="30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5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Narrative Form</a:t>
            </a:r>
            <a:endParaRPr/>
          </a:p>
        </p:txBody>
      </p:sp>
      <p:sp>
        <p:nvSpPr>
          <p:cNvPr id="310" name="Google Shape;310;p5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Science has a tradition of third person narrative form.  </a:t>
            </a:r>
            <a:r>
              <a:rPr lang="en" b="1"/>
              <a:t>Why?</a:t>
            </a:r>
            <a:endParaRPr b="1"/>
          </a:p>
          <a:p>
            <a:pPr marL="0" lvl="0" indent="0" algn="l" rtl="0">
              <a:spcBef>
                <a:spcPts val="1600"/>
              </a:spcBef>
              <a:spcAft>
                <a:spcPts val="0"/>
              </a:spcAft>
              <a:buNone/>
            </a:pPr>
            <a:r>
              <a:rPr lang="en"/>
              <a:t>Third person narrative conveys an objectivity.  I am not arguing this point; it is evident from the data/statistical results.</a:t>
            </a:r>
            <a:endParaRPr/>
          </a:p>
          <a:p>
            <a:pPr marL="0" lvl="0" indent="0" algn="l" rtl="0">
              <a:spcBef>
                <a:spcPts val="1600"/>
              </a:spcBef>
              <a:spcAft>
                <a:spcPts val="0"/>
              </a:spcAft>
              <a:buNone/>
            </a:pPr>
            <a:r>
              <a:rPr lang="en"/>
              <a:t>First person narrative is direct, is usually easier to understand, and can usually be written with fewer words.  Scientific writing is moving toward first person narrative.</a:t>
            </a:r>
            <a:endParaRPr/>
          </a:p>
          <a:p>
            <a:pPr marL="0" lvl="0" indent="0" algn="l" rtl="0">
              <a:spcBef>
                <a:spcPts val="1600"/>
              </a:spcBef>
              <a:spcAft>
                <a:spcPts val="160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0">
                                            <p:txEl>
                                              <p:pRg st="0" end="0"/>
                                            </p:txEl>
                                          </p:spTgt>
                                        </p:tgtEl>
                                        <p:attrNameLst>
                                          <p:attrName>style.visibility</p:attrName>
                                        </p:attrNameLst>
                                      </p:cBhvr>
                                      <p:to>
                                        <p:strVal val="visible"/>
                                      </p:to>
                                    </p:set>
                                    <p:animEffect transition="in" filter="fade">
                                      <p:cBhvr>
                                        <p:cTn id="7" dur="1"/>
                                        <p:tgtEl>
                                          <p:spTgt spid="3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0">
                                            <p:txEl>
                                              <p:pRg st="1" end="1"/>
                                            </p:txEl>
                                          </p:spTgt>
                                        </p:tgtEl>
                                        <p:attrNameLst>
                                          <p:attrName>style.visibility</p:attrName>
                                        </p:attrNameLst>
                                      </p:cBhvr>
                                      <p:to>
                                        <p:strVal val="visible"/>
                                      </p:to>
                                    </p:set>
                                    <p:animEffect transition="in" filter="fade">
                                      <p:cBhvr>
                                        <p:cTn id="12" dur="1"/>
                                        <p:tgtEl>
                                          <p:spTgt spid="3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0">
                                            <p:txEl>
                                              <p:pRg st="2" end="2"/>
                                            </p:txEl>
                                          </p:spTgt>
                                        </p:tgtEl>
                                        <p:attrNameLst>
                                          <p:attrName>style.visibility</p:attrName>
                                        </p:attrNameLst>
                                      </p:cBhvr>
                                      <p:to>
                                        <p:strVal val="visible"/>
                                      </p:to>
                                    </p:set>
                                    <p:animEffect transition="in" filter="fade">
                                      <p:cBhvr>
                                        <p:cTn id="17" dur="1"/>
                                        <p:tgtEl>
                                          <p:spTgt spid="3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0">
                                            <p:txEl>
                                              <p:pRg st="3" end="3"/>
                                            </p:txEl>
                                          </p:spTgt>
                                        </p:tgtEl>
                                        <p:attrNameLst>
                                          <p:attrName>style.visibility</p:attrName>
                                        </p:attrNameLst>
                                      </p:cBhvr>
                                      <p:to>
                                        <p:strVal val="visible"/>
                                      </p:to>
                                    </p:set>
                                    <p:animEffect transition="in" filter="fade">
                                      <p:cBhvr>
                                        <p:cTn id="22" dur="1"/>
                                        <p:tgtEl>
                                          <p:spTgt spid="3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5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McCloskey vs P-values</a:t>
            </a:r>
            <a:endParaRPr/>
          </a:p>
        </p:txBody>
      </p:sp>
      <p:sp>
        <p:nvSpPr>
          <p:cNvPr id="316" name="Google Shape;316;p5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What is McCloskey’s argument?</a:t>
            </a:r>
            <a:endParaRPr dirty="0"/>
          </a:p>
          <a:p>
            <a:pPr marL="0" lvl="0" indent="0" algn="l" rtl="0">
              <a:spcBef>
                <a:spcPts val="1600"/>
              </a:spcBef>
              <a:spcAft>
                <a:spcPts val="0"/>
              </a:spcAft>
              <a:buNone/>
            </a:pPr>
            <a:r>
              <a:rPr lang="en" dirty="0"/>
              <a:t>Blind faith in statistical significance is not alone helpful</a:t>
            </a:r>
            <a:endParaRPr dirty="0"/>
          </a:p>
          <a:p>
            <a:pPr marL="0" lvl="0" indent="0" algn="l" rtl="0">
              <a:spcBef>
                <a:spcPts val="1600"/>
              </a:spcBef>
              <a:spcAft>
                <a:spcPts val="0"/>
              </a:spcAft>
              <a:buNone/>
            </a:pPr>
            <a:r>
              <a:rPr lang="en" dirty="0"/>
              <a:t>Is the finding of economic significance?</a:t>
            </a:r>
            <a:endParaRPr dirty="0"/>
          </a:p>
          <a:p>
            <a:pPr marL="0" lvl="0" indent="0" algn="l" rtl="0">
              <a:spcBef>
                <a:spcPts val="1600"/>
              </a:spcBef>
              <a:spcAft>
                <a:spcPts val="0"/>
              </a:spcAft>
              <a:buNone/>
            </a:pPr>
            <a:r>
              <a:rPr lang="en" dirty="0"/>
              <a:t>What are the consequences of the error?</a:t>
            </a:r>
          </a:p>
          <a:p>
            <a:pPr marL="0" indent="0">
              <a:spcBef>
                <a:spcPts val="1600"/>
              </a:spcBef>
              <a:buNone/>
            </a:pPr>
            <a:r>
              <a:rPr lang="en-US" dirty="0"/>
              <a:t>Type 1 (mistakenly reject true null) vs. Type 2 error (fail to reject </a:t>
            </a:r>
            <a:r>
              <a:rPr lang="en-US"/>
              <a:t>false null)</a:t>
            </a:r>
            <a:endParaRPr dirty="0"/>
          </a:p>
          <a:p>
            <a:pPr marL="0" lvl="0" indent="0" algn="l" rtl="0">
              <a:spcBef>
                <a:spcPts val="1600"/>
              </a:spcBef>
              <a:spcAft>
                <a:spcPts val="0"/>
              </a:spcAft>
              <a:buNone/>
            </a:pPr>
            <a:r>
              <a:rPr lang="en" dirty="0"/>
              <a:t>Is it better to convict an innocent person (t1) or acquit a guilty person (t2)?</a:t>
            </a:r>
            <a:endParaRPr dirty="0"/>
          </a:p>
          <a:p>
            <a:pPr marL="0" lvl="0" indent="0" algn="l" rtl="0">
              <a:spcBef>
                <a:spcPts val="1600"/>
              </a:spcBef>
              <a:spcAft>
                <a:spcPts val="1600"/>
              </a:spcAft>
              <a:buNone/>
            </a:pPr>
            <a:r>
              <a:rPr lang="en" dirty="0"/>
              <a:t>How we trade off types of error is worthy of attention.</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6">
                                            <p:txEl>
                                              <p:pRg st="0" end="0"/>
                                            </p:txEl>
                                          </p:spTgt>
                                        </p:tgtEl>
                                        <p:attrNameLst>
                                          <p:attrName>style.visibility</p:attrName>
                                        </p:attrNameLst>
                                      </p:cBhvr>
                                      <p:to>
                                        <p:strVal val="visible"/>
                                      </p:to>
                                    </p:set>
                                    <p:animEffect transition="in" filter="fade">
                                      <p:cBhvr>
                                        <p:cTn id="7" dur="1"/>
                                        <p:tgtEl>
                                          <p:spTgt spid="3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6">
                                            <p:txEl>
                                              <p:pRg st="1" end="1"/>
                                            </p:txEl>
                                          </p:spTgt>
                                        </p:tgtEl>
                                        <p:attrNameLst>
                                          <p:attrName>style.visibility</p:attrName>
                                        </p:attrNameLst>
                                      </p:cBhvr>
                                      <p:to>
                                        <p:strVal val="visible"/>
                                      </p:to>
                                    </p:set>
                                    <p:animEffect transition="in" filter="fade">
                                      <p:cBhvr>
                                        <p:cTn id="12" dur="1"/>
                                        <p:tgtEl>
                                          <p:spTgt spid="3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6">
                                            <p:txEl>
                                              <p:pRg st="2" end="2"/>
                                            </p:txEl>
                                          </p:spTgt>
                                        </p:tgtEl>
                                        <p:attrNameLst>
                                          <p:attrName>style.visibility</p:attrName>
                                        </p:attrNameLst>
                                      </p:cBhvr>
                                      <p:to>
                                        <p:strVal val="visible"/>
                                      </p:to>
                                    </p:set>
                                    <p:animEffect transition="in" filter="fade">
                                      <p:cBhvr>
                                        <p:cTn id="17" dur="1"/>
                                        <p:tgtEl>
                                          <p:spTgt spid="3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6">
                                            <p:txEl>
                                              <p:pRg st="3" end="3"/>
                                            </p:txEl>
                                          </p:spTgt>
                                        </p:tgtEl>
                                        <p:attrNameLst>
                                          <p:attrName>style.visibility</p:attrName>
                                        </p:attrNameLst>
                                      </p:cBhvr>
                                      <p:to>
                                        <p:strVal val="visible"/>
                                      </p:to>
                                    </p:set>
                                    <p:animEffect transition="in" filter="fade">
                                      <p:cBhvr>
                                        <p:cTn id="22" dur="1"/>
                                        <p:tgtEl>
                                          <p:spTgt spid="31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6">
                                            <p:txEl>
                                              <p:pRg st="4" end="4"/>
                                            </p:txEl>
                                          </p:spTgt>
                                        </p:tgtEl>
                                        <p:attrNameLst>
                                          <p:attrName>style.visibility</p:attrName>
                                        </p:attrNameLst>
                                      </p:cBhvr>
                                      <p:to>
                                        <p:strVal val="visible"/>
                                      </p:to>
                                    </p:set>
                                    <p:animEffect transition="in" filter="fade">
                                      <p:cBhvr>
                                        <p:cTn id="27" dur="1"/>
                                        <p:tgtEl>
                                          <p:spTgt spid="31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6">
                                            <p:txEl>
                                              <p:pRg st="5" end="5"/>
                                            </p:txEl>
                                          </p:spTgt>
                                        </p:tgtEl>
                                        <p:attrNameLst>
                                          <p:attrName>style.visibility</p:attrName>
                                        </p:attrNameLst>
                                      </p:cBhvr>
                                      <p:to>
                                        <p:strVal val="visible"/>
                                      </p:to>
                                    </p:set>
                                    <p:animEffect transition="in" filter="fade">
                                      <p:cBhvr>
                                        <p:cTn id="32" dur="1"/>
                                        <p:tgtEl>
                                          <p:spTgt spid="31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16">
                                            <p:txEl>
                                              <p:pRg st="6" end="6"/>
                                            </p:txEl>
                                          </p:spTgt>
                                        </p:tgtEl>
                                        <p:attrNameLst>
                                          <p:attrName>style.visibility</p:attrName>
                                        </p:attrNameLst>
                                      </p:cBhvr>
                                      <p:to>
                                        <p:strVal val="visible"/>
                                      </p:to>
                                    </p:set>
                                    <p:animEffect transition="in" filter="fade">
                                      <p:cBhvr>
                                        <p:cTn id="37" dur="1"/>
                                        <p:tgtEl>
                                          <p:spTgt spid="31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Shape 320"/>
        <p:cNvGrpSpPr/>
        <p:nvPr/>
      </p:nvGrpSpPr>
      <p:grpSpPr>
        <a:xfrm>
          <a:off x="0" y="0"/>
          <a:ext cx="0" cy="0"/>
          <a:chOff x="0" y="0"/>
          <a:chExt cx="0" cy="0"/>
        </a:xfrm>
      </p:grpSpPr>
      <p:pic>
        <p:nvPicPr>
          <p:cNvPr id="321" name="Google Shape;321;p57"/>
          <p:cNvPicPr preferRelativeResize="0"/>
          <p:nvPr/>
        </p:nvPicPr>
        <p:blipFill>
          <a:blip r:embed="rId3">
            <a:alphaModFix/>
          </a:blip>
          <a:stretch>
            <a:fillRect/>
          </a:stretch>
        </p:blipFill>
        <p:spPr>
          <a:xfrm>
            <a:off x="2129881" y="0"/>
            <a:ext cx="6867538" cy="51435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5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Language and communication in economics</a:t>
            </a:r>
            <a:endParaRPr/>
          </a:p>
        </p:txBody>
      </p:sp>
      <p:sp>
        <p:nvSpPr>
          <p:cNvPr id="327" name="Google Shape;327;p5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role does language play in econ?</a:t>
            </a:r>
            <a:endParaRPr/>
          </a:p>
          <a:p>
            <a:pPr marL="457200" lvl="0" indent="-342900" algn="l" rtl="0">
              <a:spcBef>
                <a:spcPts val="1600"/>
              </a:spcBef>
              <a:spcAft>
                <a:spcPts val="0"/>
              </a:spcAft>
              <a:buSzPts val="1800"/>
              <a:buChar char="●"/>
            </a:pPr>
            <a:r>
              <a:rPr lang="en"/>
              <a:t>Information</a:t>
            </a:r>
            <a:endParaRPr/>
          </a:p>
          <a:p>
            <a:pPr marL="457200" lvl="0" indent="-342900" algn="l" rtl="0">
              <a:spcBef>
                <a:spcPts val="0"/>
              </a:spcBef>
              <a:spcAft>
                <a:spcPts val="0"/>
              </a:spcAft>
              <a:buSzPts val="1800"/>
              <a:buChar char="●"/>
            </a:pPr>
            <a:r>
              <a:rPr lang="en"/>
              <a:t>Direction</a:t>
            </a:r>
            <a:endParaRPr/>
          </a:p>
          <a:p>
            <a:pPr marL="457200" lvl="0" indent="-342900" algn="l" rtl="0">
              <a:spcBef>
                <a:spcPts val="0"/>
              </a:spcBef>
              <a:spcAft>
                <a:spcPts val="0"/>
              </a:spcAft>
              <a:buSzPts val="1800"/>
              <a:buChar char="●"/>
            </a:pPr>
            <a:r>
              <a:rPr lang="en"/>
              <a:t>Persuasion </a:t>
            </a:r>
            <a:endParaRPr/>
          </a:p>
          <a:p>
            <a:pPr marL="0" lvl="0" indent="0" algn="l" rtl="0">
              <a:spcBef>
                <a:spcPts val="1600"/>
              </a:spcBef>
              <a:spcAft>
                <a:spcPts val="0"/>
              </a:spcAft>
              <a:buNone/>
            </a:pPr>
            <a:r>
              <a:rPr lang="en"/>
              <a:t>Many jobs depend on ones ability to persuade</a:t>
            </a:r>
            <a:endParaRPr/>
          </a:p>
          <a:p>
            <a:pPr marL="457200" lvl="0" indent="-342900" algn="l" rtl="0">
              <a:spcBef>
                <a:spcPts val="1600"/>
              </a:spcBef>
              <a:spcAft>
                <a:spcPts val="0"/>
              </a:spcAft>
              <a:buSzPts val="1800"/>
              <a:buChar char="●"/>
            </a:pPr>
            <a:r>
              <a:rPr lang="en"/>
              <a:t>Sales</a:t>
            </a:r>
            <a:endParaRPr/>
          </a:p>
          <a:p>
            <a:pPr marL="457200" lvl="0" indent="-342900" algn="l" rtl="0">
              <a:spcBef>
                <a:spcPts val="0"/>
              </a:spcBef>
              <a:spcAft>
                <a:spcPts val="0"/>
              </a:spcAft>
              <a:buSzPts val="1800"/>
              <a:buChar char="●"/>
            </a:pPr>
            <a:r>
              <a:rPr lang="en"/>
              <a:t>Understanding bureaucracy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5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How economists persuade</a:t>
            </a:r>
            <a:endParaRPr/>
          </a:p>
        </p:txBody>
      </p:sp>
      <p:sp>
        <p:nvSpPr>
          <p:cNvPr id="333" name="Google Shape;333;p5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Economics should recognize the importance of talk and persuasion</a:t>
            </a:r>
            <a:endParaRPr/>
          </a:p>
          <a:p>
            <a:pPr marL="0" lvl="0" indent="0" algn="l" rtl="0">
              <a:spcBef>
                <a:spcPts val="1600"/>
              </a:spcBef>
              <a:spcAft>
                <a:spcPts val="0"/>
              </a:spcAft>
              <a:buNone/>
            </a:pPr>
            <a:r>
              <a:rPr lang="en"/>
              <a:t>It plays an important role in the decisions of the agents we study</a:t>
            </a:r>
            <a:endParaRPr/>
          </a:p>
          <a:p>
            <a:pPr marL="0" lvl="0" indent="0" algn="l" rtl="0">
              <a:spcBef>
                <a:spcPts val="1600"/>
              </a:spcBef>
              <a:spcAft>
                <a:spcPts val="1600"/>
              </a:spcAft>
              <a:buNone/>
            </a:pPr>
            <a:r>
              <a:rPr lang="en"/>
              <a:t>Econ has evolved to communicate via math and empirical evidence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6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Ethridge Chapter 3</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6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a:t>
            </a:r>
            <a:endParaRPr/>
          </a:p>
        </p:txBody>
      </p:sp>
      <p:sp>
        <p:nvSpPr>
          <p:cNvPr id="344" name="Google Shape;344;p6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Types of knowledge </a:t>
            </a:r>
            <a:endParaRPr/>
          </a:p>
          <a:p>
            <a:pPr marL="0" lvl="0" indent="0" algn="l" rtl="0">
              <a:spcBef>
                <a:spcPts val="1600"/>
              </a:spcBef>
              <a:spcAft>
                <a:spcPts val="0"/>
              </a:spcAft>
              <a:buClr>
                <a:schemeClr val="dk1"/>
              </a:buClr>
              <a:buSzPts val="1100"/>
              <a:buFont typeface="Arial"/>
              <a:buNone/>
            </a:pPr>
            <a:r>
              <a:rPr lang="en"/>
              <a:t>Logic and reasoning</a:t>
            </a:r>
            <a:endParaRPr/>
          </a:p>
          <a:p>
            <a:pPr marL="0" lvl="0" indent="0" algn="l" rtl="0">
              <a:spcBef>
                <a:spcPts val="1600"/>
              </a:spcBef>
              <a:spcAft>
                <a:spcPts val="0"/>
              </a:spcAft>
              <a:buClr>
                <a:schemeClr val="dk1"/>
              </a:buClr>
              <a:buSzPts val="1100"/>
              <a:buFont typeface="Arial"/>
              <a:buNone/>
            </a:pPr>
            <a:r>
              <a:rPr lang="en"/>
              <a:t>Tests for reliability</a:t>
            </a:r>
            <a:endParaRPr/>
          </a:p>
          <a:p>
            <a:pPr marL="0" lvl="0" indent="0" algn="l" rtl="0">
              <a:spcBef>
                <a:spcPts val="1600"/>
              </a:spcBef>
              <a:spcAft>
                <a:spcPts val="1600"/>
              </a:spcAft>
              <a:buNone/>
            </a:pPr>
            <a:r>
              <a:rPr lang="en"/>
              <a:t>Scientific prediction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6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Science as systematic inquiry</a:t>
            </a:r>
            <a:endParaRPr/>
          </a:p>
        </p:txBody>
      </p:sp>
      <p:sp>
        <p:nvSpPr>
          <p:cNvPr id="350" name="Google Shape;350;p6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organized accumulation of systematic reliable knowledge for the purpose of intelligent explanation or prediction</a:t>
            </a:r>
            <a:endParaRPr dirty="0"/>
          </a:p>
          <a:p>
            <a:pPr marL="0" lvl="0" indent="0" algn="l" rtl="0">
              <a:spcBef>
                <a:spcPts val="1600"/>
              </a:spcBef>
              <a:spcAft>
                <a:spcPts val="0"/>
              </a:spcAft>
              <a:buNone/>
            </a:pPr>
            <a:r>
              <a:rPr lang="en" dirty="0"/>
              <a:t>How does Ethridge describe explanation and prediction as intertwined terms?</a:t>
            </a:r>
            <a:endParaRPr dirty="0"/>
          </a:p>
          <a:p>
            <a:pPr marL="0" lvl="0" indent="0" algn="l" rtl="0">
              <a:spcBef>
                <a:spcPts val="1600"/>
              </a:spcBef>
              <a:spcAft>
                <a:spcPts val="0"/>
              </a:spcAft>
              <a:buClr>
                <a:schemeClr val="dk1"/>
              </a:buClr>
              <a:buSzPts val="1100"/>
              <a:buFont typeface="Arial"/>
              <a:buNone/>
            </a:pPr>
            <a:r>
              <a:rPr lang="en" dirty="0"/>
              <a:t>Science does not consist of facts or truths. Everything is questionable and is colored by our beliefs and social contexts.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0">
                                            <p:txEl>
                                              <p:pRg st="0" end="0"/>
                                            </p:txEl>
                                          </p:spTgt>
                                        </p:tgtEl>
                                        <p:attrNameLst>
                                          <p:attrName>style.visibility</p:attrName>
                                        </p:attrNameLst>
                                      </p:cBhvr>
                                      <p:to>
                                        <p:strVal val="visible"/>
                                      </p:to>
                                    </p:set>
                                    <p:animEffect transition="in" filter="fade">
                                      <p:cBhvr>
                                        <p:cTn id="7" dur="1"/>
                                        <p:tgtEl>
                                          <p:spTgt spid="3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0">
                                            <p:txEl>
                                              <p:pRg st="1" end="1"/>
                                            </p:txEl>
                                          </p:spTgt>
                                        </p:tgtEl>
                                        <p:attrNameLst>
                                          <p:attrName>style.visibility</p:attrName>
                                        </p:attrNameLst>
                                      </p:cBhvr>
                                      <p:to>
                                        <p:strVal val="visible"/>
                                      </p:to>
                                    </p:set>
                                    <p:animEffect transition="in" filter="fade">
                                      <p:cBhvr>
                                        <p:cTn id="12" dur="1"/>
                                        <p:tgtEl>
                                          <p:spTgt spid="3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0">
                                            <p:txEl>
                                              <p:pRg st="2" end="2"/>
                                            </p:txEl>
                                          </p:spTgt>
                                        </p:tgtEl>
                                        <p:attrNameLst>
                                          <p:attrName>style.visibility</p:attrName>
                                        </p:attrNameLst>
                                      </p:cBhvr>
                                      <p:to>
                                        <p:strVal val="visible"/>
                                      </p:to>
                                    </p:set>
                                    <p:animEffect transition="in" filter="fade">
                                      <p:cBhvr>
                                        <p:cTn id="17" dur="1"/>
                                        <p:tgtEl>
                                          <p:spTgt spid="35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Shape 372"/>
        <p:cNvGrpSpPr/>
        <p:nvPr/>
      </p:nvGrpSpPr>
      <p:grpSpPr>
        <a:xfrm>
          <a:off x="0" y="0"/>
          <a:ext cx="0" cy="0"/>
          <a:chOff x="0" y="0"/>
          <a:chExt cx="0" cy="0"/>
        </a:xfrm>
      </p:grpSpPr>
      <p:sp>
        <p:nvSpPr>
          <p:cNvPr id="373" name="Google Shape;373;p6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Logic and Reasoning</a:t>
            </a:r>
            <a:endParaRPr/>
          </a:p>
        </p:txBody>
      </p:sp>
      <p:sp>
        <p:nvSpPr>
          <p:cNvPr id="374" name="Google Shape;374;p66"/>
          <p:cNvSpPr txBox="1">
            <a:spLocks noGrp="1"/>
          </p:cNvSpPr>
          <p:nvPr>
            <p:ph type="body" idx="1"/>
          </p:nvPr>
        </p:nvSpPr>
        <p:spPr>
          <a:xfrm>
            <a:off x="311700" y="1152475"/>
            <a:ext cx="8520600" cy="388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Expanding on previous discussion</a:t>
            </a:r>
            <a:endParaRPr/>
          </a:p>
          <a:p>
            <a:pPr marL="0" lvl="0" indent="0" algn="l" rtl="0">
              <a:spcBef>
                <a:spcPts val="1600"/>
              </a:spcBef>
              <a:spcAft>
                <a:spcPts val="0"/>
              </a:spcAft>
              <a:buNone/>
            </a:pPr>
            <a:r>
              <a:rPr lang="en"/>
              <a:t>Intuition, measurement, and reasoning digression</a:t>
            </a:r>
            <a:endParaRPr/>
          </a:p>
          <a:p>
            <a:pPr marL="0" lvl="0" indent="0" algn="l" rtl="0">
              <a:spcBef>
                <a:spcPts val="1600"/>
              </a:spcBef>
              <a:spcAft>
                <a:spcPts val="0"/>
              </a:spcAft>
              <a:buNone/>
            </a:pPr>
            <a:r>
              <a:rPr lang="en"/>
              <a:t>Intuition is a mix of your familiarity with theory and anecdotal evidence that you gain by observing the world around you.  You will build this intuition throughout your grad program.</a:t>
            </a:r>
            <a:endParaRPr/>
          </a:p>
          <a:p>
            <a:pPr marL="0" lvl="0" indent="0" algn="l" rtl="0">
              <a:spcBef>
                <a:spcPts val="1600"/>
              </a:spcBef>
              <a:spcAft>
                <a:spcPts val="0"/>
              </a:spcAft>
              <a:buClr>
                <a:schemeClr val="dk1"/>
              </a:buClr>
              <a:buSzPts val="1100"/>
              <a:buFont typeface="Arial"/>
              <a:buNone/>
            </a:pPr>
            <a:r>
              <a:rPr lang="en"/>
              <a:t>Necessary vs sufficient conditions:</a:t>
            </a:r>
            <a:endParaRPr/>
          </a:p>
          <a:p>
            <a:pPr marL="457200" lvl="0" indent="-342900" algn="l" rtl="0">
              <a:spcBef>
                <a:spcPts val="1600"/>
              </a:spcBef>
              <a:spcAft>
                <a:spcPts val="0"/>
              </a:spcAft>
              <a:buSzPts val="1800"/>
              <a:buChar char="●"/>
            </a:pPr>
            <a:r>
              <a:rPr lang="en"/>
              <a:t>A condition, X, is necessary if it must hold if Y is to be true but doesn’t guarantee that Y is true.</a:t>
            </a:r>
            <a:endParaRPr/>
          </a:p>
          <a:p>
            <a:pPr marL="457200" lvl="0" indent="-342900" algn="l" rtl="0">
              <a:spcBef>
                <a:spcPts val="0"/>
              </a:spcBef>
              <a:spcAft>
                <a:spcPts val="0"/>
              </a:spcAft>
              <a:buSzPts val="1800"/>
              <a:buChar char="●"/>
            </a:pPr>
            <a:r>
              <a:rPr lang="en"/>
              <a:t>A condition Z is sufficient if when Z is true, then Y must be true.</a:t>
            </a:r>
            <a:endParaRPr/>
          </a:p>
          <a:p>
            <a:pPr marL="0" lvl="0" indent="0" algn="l" rtl="0">
              <a:spcBef>
                <a:spcPts val="1600"/>
              </a:spcBef>
              <a:spcAft>
                <a:spcPts val="1600"/>
              </a:spcAft>
              <a:buNone/>
            </a:pP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6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Logic and reasoning - reliability of knowledge</a:t>
            </a:r>
            <a:endParaRPr/>
          </a:p>
        </p:txBody>
      </p:sp>
      <p:sp>
        <p:nvSpPr>
          <p:cNvPr id="380" name="Google Shape;380;p6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The way by which we arrive at conclusions given some argument and/or data/evidence.</a:t>
            </a:r>
            <a:endParaRPr/>
          </a:p>
          <a:p>
            <a:pPr marL="0" lvl="0" indent="0" algn="l" rtl="0">
              <a:spcBef>
                <a:spcPts val="1600"/>
              </a:spcBef>
              <a:spcAft>
                <a:spcPts val="0"/>
              </a:spcAft>
              <a:buClr>
                <a:schemeClr val="dk1"/>
              </a:buClr>
              <a:buSzPts val="1100"/>
              <a:buFont typeface="Arial"/>
              <a:buNone/>
            </a:pPr>
            <a:r>
              <a:rPr lang="en"/>
              <a:t>Reliable knowledge can be </a:t>
            </a:r>
            <a:endParaRPr/>
          </a:p>
          <a:p>
            <a:pPr marL="457200" lvl="0" indent="-342900" algn="l" rtl="0">
              <a:spcBef>
                <a:spcPts val="1600"/>
              </a:spcBef>
              <a:spcAft>
                <a:spcPts val="0"/>
              </a:spcAft>
              <a:buSzPts val="1800"/>
              <a:buAutoNum type="arabicPeriod"/>
            </a:pPr>
            <a:r>
              <a:rPr lang="en"/>
              <a:t>Supported by evidence</a:t>
            </a:r>
            <a:endParaRPr/>
          </a:p>
          <a:p>
            <a:pPr marL="457200" lvl="0" indent="-342900" algn="l" rtl="0">
              <a:spcBef>
                <a:spcPts val="0"/>
              </a:spcBef>
              <a:spcAft>
                <a:spcPts val="0"/>
              </a:spcAft>
              <a:buSzPts val="1800"/>
              <a:buAutoNum type="arabicPeriod"/>
            </a:pPr>
            <a:r>
              <a:rPr lang="en"/>
              <a:t>Methods of generating evidence can be demonstrated/reproduced</a:t>
            </a:r>
            <a:endParaRPr/>
          </a:p>
          <a:p>
            <a:pPr marL="0" lvl="0" indent="0" algn="l" rtl="0">
              <a:spcBef>
                <a:spcPts val="1600"/>
              </a:spcBef>
              <a:spcAft>
                <a:spcPts val="0"/>
              </a:spcAft>
              <a:buClr>
                <a:schemeClr val="dk1"/>
              </a:buClr>
              <a:buSzPts val="1100"/>
              <a:buFont typeface="Arial"/>
              <a:buNone/>
            </a:pPr>
            <a:r>
              <a:rPr lang="en"/>
              <a:t>Inductive vs deductive reasoning?</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7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Tests for reliability</a:t>
            </a:r>
            <a:endParaRPr/>
          </a:p>
        </p:txBody>
      </p:sp>
      <p:sp>
        <p:nvSpPr>
          <p:cNvPr id="399" name="Google Shape;399;p70"/>
          <p:cNvSpPr txBox="1">
            <a:spLocks noGrp="1"/>
          </p:cNvSpPr>
          <p:nvPr>
            <p:ph type="body" idx="1"/>
          </p:nvPr>
        </p:nvSpPr>
        <p:spPr>
          <a:xfrm>
            <a:off x="311700" y="1017725"/>
            <a:ext cx="8520600" cy="355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dirty="0"/>
              <a:t>Coherence</a:t>
            </a:r>
            <a:r>
              <a:rPr lang="en" dirty="0"/>
              <a:t>: examining the argument to see if it is free of logical errors/fallacies.  Do the conclusions follow from the assumptions and relationships?  </a:t>
            </a:r>
            <a:endParaRPr dirty="0"/>
          </a:p>
          <a:p>
            <a:pPr marL="0" lvl="0" indent="0" algn="l" rtl="0">
              <a:spcBef>
                <a:spcPts val="1600"/>
              </a:spcBef>
              <a:spcAft>
                <a:spcPts val="0"/>
              </a:spcAft>
              <a:buClr>
                <a:schemeClr val="dk1"/>
              </a:buClr>
              <a:buSzPts val="1100"/>
              <a:buFont typeface="Arial"/>
              <a:buNone/>
            </a:pPr>
            <a:r>
              <a:rPr lang="en" b="1"/>
              <a:t>Correspondence*</a:t>
            </a:r>
            <a:r>
              <a:rPr lang="en"/>
              <a:t>: </a:t>
            </a:r>
            <a:r>
              <a:rPr lang="en" dirty="0"/>
              <a:t>Comparing an outcome or statement to what is already known. If you estimated an upward sloping demand curve for a normal good, that wouldn’t correspond to a large body of evidence about human response to incentives. When applied to theory, are conclusions supported by evidence?</a:t>
            </a:r>
            <a:endParaRPr dirty="0"/>
          </a:p>
          <a:p>
            <a:pPr marL="0" lvl="0" indent="0" algn="l" rtl="0">
              <a:spcBef>
                <a:spcPts val="1600"/>
              </a:spcBef>
              <a:spcAft>
                <a:spcPts val="0"/>
              </a:spcAft>
              <a:buClr>
                <a:schemeClr val="dk1"/>
              </a:buClr>
              <a:buSzPts val="1100"/>
              <a:buFont typeface="Arial"/>
              <a:buNone/>
            </a:pPr>
            <a:r>
              <a:rPr lang="en" b="1" dirty="0"/>
              <a:t>Clarity</a:t>
            </a:r>
            <a:r>
              <a:rPr lang="en" dirty="0"/>
              <a:t>: does the argument/paper lack ambiguity and vagueness?  Are all variables defined?  Are the empirical methods clearly explained such that they can be replicated? If a result has multiple interpretations, it fails clarity.</a:t>
            </a:r>
            <a:endParaRPr dirty="0"/>
          </a:p>
          <a:p>
            <a:pPr marL="0" lvl="0" indent="0" algn="l" rtl="0">
              <a:spcBef>
                <a:spcPts val="1600"/>
              </a:spcBef>
              <a:spcAft>
                <a:spcPts val="1600"/>
              </a:spcAft>
              <a:buNone/>
            </a:pPr>
            <a:r>
              <a:rPr lang="en" dirty="0"/>
              <a:t>Passing these tests is necessary but not sufficient for new knowledge to be created.  </a:t>
            </a:r>
            <a:endParaRP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7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Objectivity</a:t>
            </a:r>
            <a:endParaRPr/>
          </a:p>
        </p:txBody>
      </p:sp>
      <p:sp>
        <p:nvSpPr>
          <p:cNvPr id="405" name="Google Shape;405;p71"/>
          <p:cNvSpPr txBox="1">
            <a:spLocks noGrp="1"/>
          </p:cNvSpPr>
          <p:nvPr>
            <p:ph type="body" idx="1"/>
          </p:nvPr>
        </p:nvSpPr>
        <p:spPr>
          <a:xfrm>
            <a:off x="311700" y="1152475"/>
            <a:ext cx="8520600" cy="387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What does Ethridge say about objectivity in economic research? </a:t>
            </a:r>
            <a:endParaRPr/>
          </a:p>
          <a:p>
            <a:pPr marL="0" lvl="0" indent="0" algn="l" rtl="0">
              <a:spcBef>
                <a:spcPts val="1600"/>
              </a:spcBef>
              <a:spcAft>
                <a:spcPts val="0"/>
              </a:spcAft>
              <a:buClr>
                <a:schemeClr val="dk1"/>
              </a:buClr>
              <a:buSzPts val="1100"/>
              <a:buFont typeface="Arial"/>
              <a:buNone/>
            </a:pPr>
            <a:r>
              <a:rPr lang="en"/>
              <a:t>We should strive to remain objective and not color our research with personal beliefs. </a:t>
            </a:r>
            <a:endParaRPr/>
          </a:p>
          <a:p>
            <a:pPr marL="0" lvl="0" indent="0" algn="l" rtl="0">
              <a:spcBef>
                <a:spcPts val="1600"/>
              </a:spcBef>
              <a:spcAft>
                <a:spcPts val="0"/>
              </a:spcAft>
              <a:buClr>
                <a:schemeClr val="dk1"/>
              </a:buClr>
              <a:buSzPts val="1100"/>
              <a:buFont typeface="Arial"/>
              <a:buNone/>
            </a:pPr>
            <a:r>
              <a:rPr lang="en"/>
              <a:t>Try to create models or pose hypotheses based on logic and then test or demonstrate with measurable positive knowledge.</a:t>
            </a:r>
            <a:endParaRPr/>
          </a:p>
          <a:p>
            <a:pPr marL="0" lvl="0" indent="0" algn="l" rtl="0">
              <a:spcBef>
                <a:spcPts val="1600"/>
              </a:spcBef>
              <a:spcAft>
                <a:spcPts val="0"/>
              </a:spcAft>
              <a:buClr>
                <a:schemeClr val="dk1"/>
              </a:buClr>
              <a:buSzPts val="1100"/>
              <a:buFont typeface="Arial"/>
              <a:buNone/>
            </a:pPr>
            <a:r>
              <a:rPr lang="en"/>
              <a:t>This ties back to McCloskey’s point and highlights that we should be suspicious of subjectivity creeping in (whether known by the author or not).</a:t>
            </a:r>
            <a:endParaRPr/>
          </a:p>
          <a:p>
            <a:pPr marL="0" lvl="0" indent="0" algn="l" rtl="0">
              <a:spcBef>
                <a:spcPts val="1600"/>
              </a:spcBef>
              <a:spcAft>
                <a:spcPts val="1600"/>
              </a:spcAft>
              <a:buNone/>
            </a:pPr>
            <a:r>
              <a:rPr lang="en"/>
              <a:t>Complete objectivity is not possible.  By choosing what to research, we are being subjective. Try to remain open to different outcomes. </a:t>
            </a:r>
            <a:r>
              <a:rPr lang="en" u="sng">
                <a:solidFill>
                  <a:schemeClr val="hlink"/>
                </a:solidFill>
                <a:hlinkClick r:id="rId3"/>
              </a:rPr>
              <a:t>Related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5">
                                            <p:txEl>
                                              <p:pRg st="0" end="0"/>
                                            </p:txEl>
                                          </p:spTgt>
                                        </p:tgtEl>
                                        <p:attrNameLst>
                                          <p:attrName>style.visibility</p:attrName>
                                        </p:attrNameLst>
                                      </p:cBhvr>
                                      <p:to>
                                        <p:strVal val="visible"/>
                                      </p:to>
                                    </p:set>
                                    <p:animEffect transition="in" filter="fade">
                                      <p:cBhvr>
                                        <p:cTn id="7" dur="1"/>
                                        <p:tgtEl>
                                          <p:spTgt spid="40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5">
                                            <p:txEl>
                                              <p:pRg st="1" end="1"/>
                                            </p:txEl>
                                          </p:spTgt>
                                        </p:tgtEl>
                                        <p:attrNameLst>
                                          <p:attrName>style.visibility</p:attrName>
                                        </p:attrNameLst>
                                      </p:cBhvr>
                                      <p:to>
                                        <p:strVal val="visible"/>
                                      </p:to>
                                    </p:set>
                                    <p:animEffect transition="in" filter="fade">
                                      <p:cBhvr>
                                        <p:cTn id="12" dur="1"/>
                                        <p:tgtEl>
                                          <p:spTgt spid="40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05">
                                            <p:txEl>
                                              <p:pRg st="2" end="2"/>
                                            </p:txEl>
                                          </p:spTgt>
                                        </p:tgtEl>
                                        <p:attrNameLst>
                                          <p:attrName>style.visibility</p:attrName>
                                        </p:attrNameLst>
                                      </p:cBhvr>
                                      <p:to>
                                        <p:strVal val="visible"/>
                                      </p:to>
                                    </p:set>
                                    <p:animEffect transition="in" filter="fade">
                                      <p:cBhvr>
                                        <p:cTn id="17" dur="1"/>
                                        <p:tgtEl>
                                          <p:spTgt spid="40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05">
                                            <p:txEl>
                                              <p:pRg st="3" end="3"/>
                                            </p:txEl>
                                          </p:spTgt>
                                        </p:tgtEl>
                                        <p:attrNameLst>
                                          <p:attrName>style.visibility</p:attrName>
                                        </p:attrNameLst>
                                      </p:cBhvr>
                                      <p:to>
                                        <p:strVal val="visible"/>
                                      </p:to>
                                    </p:set>
                                    <p:animEffect transition="in" filter="fade">
                                      <p:cBhvr>
                                        <p:cTn id="22" dur="1"/>
                                        <p:tgtEl>
                                          <p:spTgt spid="40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05">
                                            <p:txEl>
                                              <p:pRg st="4" end="4"/>
                                            </p:txEl>
                                          </p:spTgt>
                                        </p:tgtEl>
                                        <p:attrNameLst>
                                          <p:attrName>style.visibility</p:attrName>
                                        </p:attrNameLst>
                                      </p:cBhvr>
                                      <p:to>
                                        <p:strVal val="visible"/>
                                      </p:to>
                                    </p:set>
                                    <p:animEffect transition="in" filter="fade">
                                      <p:cBhvr>
                                        <p:cTn id="27" dur="1"/>
                                        <p:tgtEl>
                                          <p:spTgt spid="40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7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Scientific Prediction: Fact, Theory, and Hypothesis</a:t>
            </a:r>
            <a:endParaRPr/>
          </a:p>
        </p:txBody>
      </p:sp>
      <p:sp>
        <p:nvSpPr>
          <p:cNvPr id="411" name="Google Shape;411;p7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Fact is a measurable and verifiable bit of information (public knowledge)</a:t>
            </a:r>
            <a:endParaRPr/>
          </a:p>
          <a:p>
            <a:pPr marL="0" lvl="0" indent="0" algn="l" rtl="0">
              <a:spcBef>
                <a:spcPts val="1600"/>
              </a:spcBef>
              <a:spcAft>
                <a:spcPts val="0"/>
              </a:spcAft>
              <a:buClr>
                <a:schemeClr val="dk1"/>
              </a:buClr>
              <a:buSzPts val="1100"/>
              <a:buFont typeface="Arial"/>
              <a:buNone/>
            </a:pPr>
            <a:r>
              <a:rPr lang="en"/>
              <a:t>Theory consists of logical relationships (possibly complex) between assumptions and deductive logic.  Theories are abstractions of reality.</a:t>
            </a:r>
            <a:endParaRPr/>
          </a:p>
          <a:p>
            <a:pPr marL="0" lvl="0" indent="0" algn="l" rtl="0">
              <a:spcBef>
                <a:spcPts val="1600"/>
              </a:spcBef>
              <a:spcAft>
                <a:spcPts val="1600"/>
              </a:spcAft>
              <a:buNone/>
            </a:pPr>
            <a:r>
              <a:rPr lang="en"/>
              <a:t>Hypothesis is a tentative assertion about a relationship that has yet to be tested.  A hypothesis needs to be testable.</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73"/>
          <p:cNvSpPr txBox="1">
            <a:spLocks noGrp="1"/>
          </p:cNvSpPr>
          <p:nvPr>
            <p:ph type="title"/>
          </p:nvPr>
        </p:nvSpPr>
        <p:spPr>
          <a:xfrm>
            <a:off x="265750" y="1808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Functions of theory in econ research</a:t>
            </a:r>
            <a:endParaRPr/>
          </a:p>
        </p:txBody>
      </p:sp>
      <p:sp>
        <p:nvSpPr>
          <p:cNvPr id="417" name="Google Shape;417;p73"/>
          <p:cNvSpPr txBox="1">
            <a:spLocks noGrp="1"/>
          </p:cNvSpPr>
          <p:nvPr>
            <p:ph type="body" idx="1"/>
          </p:nvPr>
        </p:nvSpPr>
        <p:spPr>
          <a:xfrm>
            <a:off x="311700" y="838575"/>
            <a:ext cx="8520600" cy="4170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t>Orientation</a:t>
            </a:r>
            <a:r>
              <a:rPr lang="en"/>
              <a:t>: a framework for delineating a problem</a:t>
            </a:r>
            <a:endParaRPr/>
          </a:p>
          <a:p>
            <a:pPr marL="0" lvl="0" indent="0" algn="l" rtl="0">
              <a:spcBef>
                <a:spcPts val="1600"/>
              </a:spcBef>
              <a:spcAft>
                <a:spcPts val="0"/>
              </a:spcAft>
              <a:buClr>
                <a:schemeClr val="dk1"/>
              </a:buClr>
              <a:buSzPts val="1100"/>
              <a:buFont typeface="Arial"/>
              <a:buNone/>
            </a:pPr>
            <a:r>
              <a:rPr lang="en" b="1"/>
              <a:t>Classification/precision of thought</a:t>
            </a:r>
            <a:r>
              <a:rPr lang="en"/>
              <a:t>: provides a precise means of efficient communication.  Relationships with specific defined meanings.  Ex.  What do I mean when I say production function or total factor productivity</a:t>
            </a:r>
            <a:endParaRPr/>
          </a:p>
          <a:p>
            <a:pPr marL="0" lvl="0" indent="0" algn="l" rtl="0">
              <a:spcBef>
                <a:spcPts val="1600"/>
              </a:spcBef>
              <a:spcAft>
                <a:spcPts val="0"/>
              </a:spcAft>
              <a:buClr>
                <a:schemeClr val="dk1"/>
              </a:buClr>
              <a:buSzPts val="1100"/>
              <a:buFont typeface="Arial"/>
              <a:buNone/>
            </a:pPr>
            <a:r>
              <a:rPr lang="en" b="1"/>
              <a:t>Conceptualization</a:t>
            </a:r>
            <a:r>
              <a:rPr lang="en"/>
              <a:t>: means to visualize how something works; a way to reason through different modes of behavior</a:t>
            </a:r>
            <a:endParaRPr/>
          </a:p>
          <a:p>
            <a:pPr marL="0" lvl="0" indent="0" algn="l" rtl="0">
              <a:spcBef>
                <a:spcPts val="1600"/>
              </a:spcBef>
              <a:spcAft>
                <a:spcPts val="0"/>
              </a:spcAft>
              <a:buClr>
                <a:schemeClr val="dk1"/>
              </a:buClr>
              <a:buSzPts val="1100"/>
              <a:buFont typeface="Arial"/>
              <a:buNone/>
            </a:pPr>
            <a:r>
              <a:rPr lang="en" b="1"/>
              <a:t>Summarization</a:t>
            </a:r>
            <a:r>
              <a:rPr lang="en"/>
              <a:t>: generalizations of empirical facts (stylized fact - labor share of output 75%) and relationships (demand is downward sloping)</a:t>
            </a:r>
            <a:endParaRPr/>
          </a:p>
          <a:p>
            <a:pPr marL="0" lvl="0" indent="0" algn="l" rtl="0">
              <a:spcBef>
                <a:spcPts val="1600"/>
              </a:spcBef>
              <a:spcAft>
                <a:spcPts val="0"/>
              </a:spcAft>
              <a:buClr>
                <a:schemeClr val="dk1"/>
              </a:buClr>
              <a:buSzPts val="1100"/>
              <a:buFont typeface="Arial"/>
              <a:buNone/>
            </a:pPr>
            <a:r>
              <a:rPr lang="en" b="1"/>
              <a:t>Prediction</a:t>
            </a:r>
            <a:r>
              <a:rPr lang="en"/>
              <a:t> of facts or creation of hypotheses</a:t>
            </a:r>
            <a:endParaRPr/>
          </a:p>
          <a:p>
            <a:pPr marL="0" lvl="0" indent="0" algn="l" rtl="0">
              <a:spcBef>
                <a:spcPts val="1600"/>
              </a:spcBef>
              <a:spcAft>
                <a:spcPts val="1600"/>
              </a:spcAft>
              <a:buNone/>
            </a:pPr>
            <a:r>
              <a:rPr lang="en" b="1"/>
              <a:t>Identification</a:t>
            </a:r>
            <a:r>
              <a:rPr lang="en"/>
              <a:t> of gaps in our knowledge</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7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Summary</a:t>
            </a:r>
            <a:endParaRPr/>
          </a:p>
        </p:txBody>
      </p:sp>
      <p:sp>
        <p:nvSpPr>
          <p:cNvPr id="423" name="Google Shape;423;p7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Knowledge types: positive, normative, prescriptive</a:t>
            </a:r>
            <a:endParaRPr/>
          </a:p>
          <a:p>
            <a:pPr marL="0" lvl="0" indent="0" algn="l" rtl="0">
              <a:spcBef>
                <a:spcPts val="1600"/>
              </a:spcBef>
              <a:spcAft>
                <a:spcPts val="0"/>
              </a:spcAft>
              <a:buNone/>
            </a:pPr>
            <a:r>
              <a:rPr lang="en"/>
              <a:t>Logical and reasoning: fallacies </a:t>
            </a:r>
            <a:endParaRPr/>
          </a:p>
          <a:p>
            <a:pPr marL="0" lvl="0" indent="0" algn="l" rtl="0">
              <a:spcBef>
                <a:spcPts val="1600"/>
              </a:spcBef>
              <a:spcAft>
                <a:spcPts val="0"/>
              </a:spcAft>
              <a:buNone/>
            </a:pPr>
            <a:r>
              <a:rPr lang="en"/>
              <a:t>Test for reliability: coherence, correspondence, clarity</a:t>
            </a:r>
            <a:endParaRPr/>
          </a:p>
          <a:p>
            <a:pPr marL="0" lvl="0" indent="0" algn="l" rtl="0">
              <a:spcBef>
                <a:spcPts val="1600"/>
              </a:spcBef>
              <a:spcAft>
                <a:spcPts val="0"/>
              </a:spcAft>
              <a:buNone/>
            </a:pPr>
            <a:r>
              <a:rPr lang="en"/>
              <a:t>Objectivity</a:t>
            </a:r>
            <a:endParaRPr/>
          </a:p>
          <a:p>
            <a:pPr marL="0" lvl="0" indent="0" algn="l" rtl="0">
              <a:spcBef>
                <a:spcPts val="1600"/>
              </a:spcBef>
              <a:spcAft>
                <a:spcPts val="1600"/>
              </a:spcAft>
              <a:buNone/>
            </a:pPr>
            <a:r>
              <a:rPr lang="en"/>
              <a:t>Facts, theory, and hypothesis</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8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Machlup - Why Economists Disagree</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8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a:t>
            </a:r>
            <a:endParaRPr/>
          </a:p>
        </p:txBody>
      </p:sp>
      <p:sp>
        <p:nvSpPr>
          <p:cNvPr id="510" name="Google Shape;510;p8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this article about?</a:t>
            </a:r>
            <a:endParaRPr/>
          </a:p>
          <a:p>
            <a:pPr marL="0" lvl="0" indent="0" algn="l" rtl="0">
              <a:spcBef>
                <a:spcPts val="1600"/>
              </a:spcBef>
              <a:spcAft>
                <a:spcPts val="0"/>
              </a:spcAft>
              <a:buNone/>
            </a:pPr>
            <a:r>
              <a:rPr lang="en"/>
              <a:t>What are Machlup’s main arguments?</a:t>
            </a:r>
            <a:endParaRPr/>
          </a:p>
          <a:p>
            <a:pPr marL="0" lvl="0" indent="0" algn="l" rtl="0">
              <a:spcBef>
                <a:spcPts val="1600"/>
              </a:spcBef>
              <a:spcAft>
                <a:spcPts val="1600"/>
              </a:spcAft>
              <a:buNone/>
            </a:pPr>
            <a:r>
              <a:rPr lang="en"/>
              <a:t>Any particular parts that you liked or didn’t like?</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9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4 reasons for disagreement</a:t>
            </a:r>
            <a:endParaRPr/>
          </a:p>
        </p:txBody>
      </p:sp>
      <p:sp>
        <p:nvSpPr>
          <p:cNvPr id="516" name="Google Shape;516;p9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Different word meanings</a:t>
            </a:r>
            <a:endParaRPr/>
          </a:p>
          <a:p>
            <a:pPr marL="0" lvl="0" indent="0" algn="l" rtl="0">
              <a:spcBef>
                <a:spcPts val="1600"/>
              </a:spcBef>
              <a:spcAft>
                <a:spcPts val="0"/>
              </a:spcAft>
              <a:buNone/>
            </a:pPr>
            <a:r>
              <a:rPr lang="en"/>
              <a:t>Different logical reasoning</a:t>
            </a:r>
            <a:endParaRPr/>
          </a:p>
          <a:p>
            <a:pPr marL="0" lvl="0" indent="0" algn="l" rtl="0">
              <a:spcBef>
                <a:spcPts val="1600"/>
              </a:spcBef>
              <a:spcAft>
                <a:spcPts val="0"/>
              </a:spcAft>
              <a:buNone/>
            </a:pPr>
            <a:r>
              <a:rPr lang="en"/>
              <a:t>Different factual assumptions</a:t>
            </a:r>
            <a:endParaRPr/>
          </a:p>
          <a:p>
            <a:pPr marL="0" lvl="0" indent="0" algn="l" rtl="0">
              <a:spcBef>
                <a:spcPts val="1600"/>
              </a:spcBef>
              <a:spcAft>
                <a:spcPts val="0"/>
              </a:spcAft>
              <a:buNone/>
            </a:pPr>
            <a:r>
              <a:rPr lang="en"/>
              <a:t>Different value judgements</a:t>
            </a:r>
            <a:endParaRPr/>
          </a:p>
          <a:p>
            <a:pPr marL="0" lvl="0" indent="0" algn="l" rtl="0">
              <a:spcBef>
                <a:spcPts val="1600"/>
              </a:spcBef>
              <a:spcAft>
                <a:spcPts val="0"/>
              </a:spcAft>
              <a:buNone/>
            </a:pPr>
            <a:endParaRPr/>
          </a:p>
          <a:p>
            <a:pPr marL="0" lvl="0" indent="0" algn="l" rtl="0">
              <a:spcBef>
                <a:spcPts val="1600"/>
              </a:spcBef>
              <a:spcAft>
                <a:spcPts val="1600"/>
              </a:spcAft>
              <a:buNone/>
            </a:pPr>
            <a:r>
              <a:rPr lang="en"/>
              <a:t>Merely identifying the differences can help focus the debate</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9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Different word meanings</a:t>
            </a:r>
            <a:endParaRPr/>
          </a:p>
        </p:txBody>
      </p:sp>
      <p:sp>
        <p:nvSpPr>
          <p:cNvPr id="522" name="Google Shape;522;p9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Semantic cartel - groups of researchers that agree on the meanings of terms</a:t>
            </a:r>
            <a:endParaRPr/>
          </a:p>
          <a:p>
            <a:pPr marL="0" lvl="0" indent="0" algn="l" rtl="0">
              <a:spcBef>
                <a:spcPts val="1600"/>
              </a:spcBef>
              <a:spcAft>
                <a:spcPts val="0"/>
              </a:spcAft>
              <a:buNone/>
            </a:pPr>
            <a:r>
              <a:rPr lang="en"/>
              <a:t>Devaluation example: ↑ price gold, ↑ foreign currencies, ↑ in both</a:t>
            </a:r>
            <a:endParaRPr/>
          </a:p>
          <a:p>
            <a:pPr marL="0" lvl="0" indent="0" algn="l" rtl="0">
              <a:spcBef>
                <a:spcPts val="1600"/>
              </a:spcBef>
              <a:spcAft>
                <a:spcPts val="1600"/>
              </a:spcAft>
              <a:buNone/>
            </a:pPr>
            <a:r>
              <a:rPr lang="en"/>
              <a:t>Can you think of other examples?</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9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Different logical reasoning</a:t>
            </a:r>
            <a:endParaRPr/>
          </a:p>
        </p:txBody>
      </p:sp>
      <p:sp>
        <p:nvSpPr>
          <p:cNvPr id="528" name="Google Shape;528;p9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Not that the rules of logic differ but that there are logical fallacies buried deep within theory.  We went over simple examples, but DSGE models are complex.</a:t>
            </a:r>
            <a:endParaRPr/>
          </a:p>
          <a:p>
            <a:pPr marL="0" lvl="0" indent="0" algn="l" rtl="0">
              <a:spcBef>
                <a:spcPts val="1600"/>
              </a:spcBef>
              <a:spcAft>
                <a:spcPts val="1600"/>
              </a:spcAft>
              <a:buNone/>
            </a:pPr>
            <a:r>
              <a:rPr lang="en"/>
              <a:t>Debate often motivates thorough investigation</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9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Different factual assumptions</a:t>
            </a:r>
            <a:endParaRPr/>
          </a:p>
        </p:txBody>
      </p:sp>
      <p:sp>
        <p:nvSpPr>
          <p:cNvPr id="534" name="Google Shape;534;p9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Common source of disagreement - implicit assumptions about aspects of reality</a:t>
            </a:r>
            <a:endParaRPr/>
          </a:p>
          <a:p>
            <a:pPr marL="0" lvl="0" indent="0" algn="l" rtl="0">
              <a:spcBef>
                <a:spcPts val="1600"/>
              </a:spcBef>
              <a:spcAft>
                <a:spcPts val="0"/>
              </a:spcAft>
              <a:buNone/>
            </a:pPr>
            <a:r>
              <a:rPr lang="en"/>
              <a:t>Have you identified assumptions based on incorrect facts?</a:t>
            </a:r>
            <a:endParaRPr/>
          </a:p>
          <a:p>
            <a:pPr marL="0" lvl="0" indent="0" algn="l" rtl="0">
              <a:spcBef>
                <a:spcPts val="1600"/>
              </a:spcBef>
              <a:spcAft>
                <a:spcPts val="0"/>
              </a:spcAft>
              <a:buNone/>
            </a:pPr>
            <a:r>
              <a:rPr lang="en"/>
              <a:t>Assumptions about behavior during the pandemic</a:t>
            </a:r>
            <a:endParaRPr/>
          </a:p>
          <a:p>
            <a:pPr marL="457200" lvl="0" indent="-342900" algn="l" rtl="0">
              <a:spcBef>
                <a:spcPts val="1600"/>
              </a:spcBef>
              <a:spcAft>
                <a:spcPts val="0"/>
              </a:spcAft>
              <a:buSzPts val="1800"/>
              <a:buChar char="●"/>
            </a:pPr>
            <a:r>
              <a:rPr lang="en"/>
              <a:t>About a decade of theory about how people will respond to disease risk during a pandemic.  Some limited evidence from past outbreaks.</a:t>
            </a:r>
            <a:endParaRPr/>
          </a:p>
          <a:p>
            <a:pPr marL="457200" lvl="0" indent="-342900" algn="l" rtl="0">
              <a:spcBef>
                <a:spcPts val="0"/>
              </a:spcBef>
              <a:spcAft>
                <a:spcPts val="0"/>
              </a:spcAft>
              <a:buSzPts val="1800"/>
              <a:buChar char="●"/>
            </a:pPr>
            <a:r>
              <a:rPr lang="en"/>
              <a:t>Behavior evolved in very unexpected ways and along unexpected dimensions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9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Different value judgements</a:t>
            </a:r>
            <a:endParaRPr/>
          </a:p>
        </p:txBody>
      </p:sp>
      <p:sp>
        <p:nvSpPr>
          <p:cNvPr id="540" name="Google Shape;540;p9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Lack of consistency in value judgements</a:t>
            </a:r>
            <a:endParaRPr/>
          </a:p>
          <a:p>
            <a:pPr marL="0" lvl="0" indent="0" algn="l" rtl="0">
              <a:spcBef>
                <a:spcPts val="1600"/>
              </a:spcBef>
              <a:spcAft>
                <a:spcPts val="0"/>
              </a:spcAft>
              <a:buNone/>
            </a:pPr>
            <a:r>
              <a:rPr lang="en"/>
              <a:t>You may favor increases in the minimum wage because it can improve income of vulnerable groups even if it does not improve overall welfare.</a:t>
            </a:r>
            <a:endParaRPr/>
          </a:p>
          <a:p>
            <a:pPr marL="0" lvl="0" indent="0" algn="l" rtl="0">
              <a:spcBef>
                <a:spcPts val="1600"/>
              </a:spcBef>
              <a:spcAft>
                <a:spcPts val="0"/>
              </a:spcAft>
              <a:buNone/>
            </a:pPr>
            <a:r>
              <a:rPr lang="en"/>
              <a:t>Being able to disentangle normative and positive elements of the disagreement.</a:t>
            </a:r>
            <a:endParaRPr/>
          </a:p>
          <a:p>
            <a:pPr marL="0" lvl="0" indent="0" algn="l" rtl="0">
              <a:spcBef>
                <a:spcPts val="1600"/>
              </a:spcBef>
              <a:spcAft>
                <a:spcPts val="0"/>
              </a:spcAft>
              <a:buNone/>
            </a:pPr>
            <a:r>
              <a:rPr lang="en"/>
              <a:t>Example of recommendations about monetary policy by foreign entity.  May be resistant even if it was the same conclusion they would come to on their own</a:t>
            </a:r>
            <a:endParaRPr/>
          </a:p>
          <a:p>
            <a:pPr marL="0" lvl="0" indent="0" algn="l" rtl="0">
              <a:spcBef>
                <a:spcPts val="1600"/>
              </a:spcBef>
              <a:spcAft>
                <a:spcPts val="1600"/>
              </a:spcAft>
              <a:buNone/>
            </a:pP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9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Comparison to natural sciences</a:t>
            </a:r>
            <a:endParaRPr/>
          </a:p>
        </p:txBody>
      </p:sp>
      <p:sp>
        <p:nvSpPr>
          <p:cNvPr id="546" name="Google Shape;546;p9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Machlup contrasts economists and natural scientists by arguing that natural scientists aren’t called to offer opinions on policy. Climate change debates may have changed that.</a:t>
            </a:r>
            <a:endParaRPr/>
          </a:p>
          <a:p>
            <a:pPr marL="0" lvl="0" indent="0" algn="l" rtl="0">
              <a:spcBef>
                <a:spcPts val="1600"/>
              </a:spcBef>
              <a:spcAft>
                <a:spcPts val="0"/>
              </a:spcAft>
              <a:buNone/>
            </a:pPr>
            <a:r>
              <a:rPr lang="en"/>
              <a:t>The pandemic is such a clear example of academic debate playing out in public.  Masks, lockdowns, school closures, vaccination</a:t>
            </a:r>
            <a:endParaRPr/>
          </a:p>
          <a:p>
            <a:pPr marL="457200" lvl="0" indent="-342900" algn="l" rtl="0">
              <a:spcBef>
                <a:spcPts val="1600"/>
              </a:spcBef>
              <a:spcAft>
                <a:spcPts val="0"/>
              </a:spcAft>
              <a:buSzPts val="1800"/>
              <a:buChar char="●"/>
            </a:pPr>
            <a:r>
              <a:rPr lang="en"/>
              <a:t>People from different disciplines have different value judgements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9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Larue - a defense of reasonable pluralism</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9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a:t>
            </a:r>
            <a:endParaRPr/>
          </a:p>
        </p:txBody>
      </p:sp>
      <p:sp>
        <p:nvSpPr>
          <p:cNvPr id="557" name="Google Shape;557;p9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this article about?</a:t>
            </a:r>
            <a:endParaRPr/>
          </a:p>
          <a:p>
            <a:pPr marL="0" lvl="0" indent="0" algn="l" rtl="0">
              <a:spcBef>
                <a:spcPts val="1600"/>
              </a:spcBef>
              <a:spcAft>
                <a:spcPts val="0"/>
              </a:spcAft>
              <a:buNone/>
            </a:pPr>
            <a:r>
              <a:rPr lang="en"/>
              <a:t>What are Larue’s main arguments?</a:t>
            </a:r>
            <a:endParaRPr/>
          </a:p>
          <a:p>
            <a:pPr marL="0" lvl="0" indent="0" algn="l" rtl="0">
              <a:spcBef>
                <a:spcPts val="1600"/>
              </a:spcBef>
              <a:spcAft>
                <a:spcPts val="1600"/>
              </a:spcAft>
              <a:buNone/>
            </a:pPr>
            <a:r>
              <a:rPr lang="en"/>
              <a:t>Any particular parts that you liked or didn’t like?</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B2F39-4494-D273-0D8C-7AF007345FE6}"/>
              </a:ext>
            </a:extLst>
          </p:cNvPr>
          <p:cNvSpPr>
            <a:spLocks noGrp="1"/>
          </p:cNvSpPr>
          <p:nvPr>
            <p:ph type="title"/>
          </p:nvPr>
        </p:nvSpPr>
        <p:spPr/>
        <p:txBody>
          <a:bodyPr/>
          <a:lstStyle/>
          <a:p>
            <a:r>
              <a:rPr lang="en-US" dirty="0"/>
              <a:t>What is pluralism in econ?</a:t>
            </a:r>
          </a:p>
        </p:txBody>
      </p:sp>
      <p:sp>
        <p:nvSpPr>
          <p:cNvPr id="3" name="Text Placeholder 2">
            <a:extLst>
              <a:ext uri="{FF2B5EF4-FFF2-40B4-BE49-F238E27FC236}">
                <a16:creationId xmlns:a16="http://schemas.microsoft.com/office/drawing/2014/main" id="{1E840E7E-10AD-D94C-60A6-E7355726B3DE}"/>
              </a:ext>
            </a:extLst>
          </p:cNvPr>
          <p:cNvSpPr>
            <a:spLocks noGrp="1"/>
          </p:cNvSpPr>
          <p:nvPr>
            <p:ph type="body" idx="1"/>
          </p:nvPr>
        </p:nvSpPr>
        <p:spPr/>
        <p:txBody>
          <a:bodyPr/>
          <a:lstStyle/>
          <a:p>
            <a:pPr marL="114300" indent="0">
              <a:buNone/>
            </a:pPr>
            <a:r>
              <a:rPr lang="en-US" dirty="0"/>
              <a:t>More than one set of theories and methods</a:t>
            </a:r>
          </a:p>
          <a:p>
            <a:pPr marL="114300" indent="0">
              <a:buNone/>
            </a:pPr>
            <a:endParaRPr lang="en-US" dirty="0"/>
          </a:p>
          <a:p>
            <a:pPr marL="114300" indent="0">
              <a:buNone/>
            </a:pPr>
            <a:r>
              <a:rPr lang="en-US" dirty="0"/>
              <a:t>Theories: Well-structured and consistent explanatory claims informed by a diversity of core assumptions</a:t>
            </a:r>
          </a:p>
        </p:txBody>
      </p:sp>
    </p:spTree>
    <p:extLst>
      <p:ext uri="{BB962C8B-B14F-4D97-AF65-F5344CB8AC3E}">
        <p14:creationId xmlns:p14="http://schemas.microsoft.com/office/powerpoint/2010/main" val="35919634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9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Efficiency of pluralism</a:t>
            </a:r>
            <a:endParaRPr/>
          </a:p>
        </p:txBody>
      </p:sp>
      <p:sp>
        <p:nvSpPr>
          <p:cNvPr id="563" name="Google Shape;563;p9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Plurality of theories may lead to wasted time and energies</a:t>
            </a:r>
            <a:endParaRPr/>
          </a:p>
          <a:p>
            <a:pPr marL="0" lvl="0" indent="0" algn="l" rtl="0">
              <a:spcBef>
                <a:spcPts val="1600"/>
              </a:spcBef>
              <a:spcAft>
                <a:spcPts val="0"/>
              </a:spcAft>
              <a:buNone/>
            </a:pPr>
            <a:r>
              <a:rPr lang="en"/>
              <a:t>Yet, neoclassical economists embrace this in the service of lower prices and innovation</a:t>
            </a:r>
            <a:endParaRPr/>
          </a:p>
          <a:p>
            <a:pPr marL="0" lvl="0" indent="0" algn="l" rtl="0">
              <a:spcBef>
                <a:spcPts val="1600"/>
              </a:spcBef>
              <a:spcAft>
                <a:spcPts val="1600"/>
              </a:spcAft>
              <a:buNone/>
            </a:pP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9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Complexity and cognitive ability</a:t>
            </a:r>
            <a:endParaRPr dirty="0"/>
          </a:p>
        </p:txBody>
      </p:sp>
      <p:sp>
        <p:nvSpPr>
          <p:cNvPr id="569" name="Google Shape;569;p9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World is too complex to have one theory</a:t>
            </a:r>
            <a:endParaRPr dirty="0"/>
          </a:p>
          <a:p>
            <a:pPr marL="0" lvl="0" indent="0" algn="l" rtl="0">
              <a:spcBef>
                <a:spcPts val="1600"/>
              </a:spcBef>
              <a:spcAft>
                <a:spcPts val="1600"/>
              </a:spcAft>
              <a:buNone/>
            </a:pPr>
            <a:r>
              <a:rPr lang="en" dirty="0"/>
              <a:t>Limited cognitive ability to understand all economic reality with one complete theory</a:t>
            </a:r>
          </a:p>
          <a:p>
            <a:pPr marL="0" lvl="0" indent="0" algn="l" rtl="0">
              <a:spcBef>
                <a:spcPts val="1600"/>
              </a:spcBef>
              <a:spcAft>
                <a:spcPts val="1600"/>
              </a:spcAft>
              <a:buNone/>
            </a:pPr>
            <a:r>
              <a:rPr lang="en" dirty="0"/>
              <a:t>Why does Larue disagree with these arguments?</a:t>
            </a:r>
          </a:p>
          <a:p>
            <a:pPr marL="0" lvl="0" indent="0" algn="l" rtl="0">
              <a:spcBef>
                <a:spcPts val="1600"/>
              </a:spcBef>
              <a:spcAft>
                <a:spcPts val="1600"/>
              </a:spcAft>
              <a:buNone/>
            </a:pPr>
            <a:endParaRPr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10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Benefits of competing theory</a:t>
            </a:r>
            <a:endParaRPr/>
          </a:p>
        </p:txBody>
      </p:sp>
      <p:sp>
        <p:nvSpPr>
          <p:cNvPr id="575" name="Google Shape;575;p10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 the peculiar evil of silencing the expression of an opinion is that it is robbing the human race, posterity as well as the existing generation – those who dissent from the opinion, still more than those who hold it. If the opinion is right, they are deprived of the opportunity of exchanging error for truth; if wrong, they lose, what is almost as great a benefit, the clearer perception and livelier impression of truth produced by its collision with error.” Mill</a:t>
            </a:r>
            <a:endParaRPr/>
          </a:p>
          <a:p>
            <a:pPr marL="0" lvl="0" indent="0" algn="l" rtl="0">
              <a:spcBef>
                <a:spcPts val="1600"/>
              </a:spcBef>
              <a:spcAft>
                <a:spcPts val="1600"/>
              </a:spcAft>
              <a:buNone/>
            </a:pPr>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10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Defense of pluralism</a:t>
            </a:r>
            <a:endParaRPr/>
          </a:p>
        </p:txBody>
      </p:sp>
      <p:sp>
        <p:nvSpPr>
          <p:cNvPr id="581" name="Google Shape;581;p10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Starting point: we do not know that current dominant theory is correct</a:t>
            </a:r>
            <a:endParaRPr/>
          </a:p>
          <a:p>
            <a:pPr marL="0" lvl="0" indent="0" algn="l" rtl="0">
              <a:spcBef>
                <a:spcPts val="1600"/>
              </a:spcBef>
              <a:spcAft>
                <a:spcPts val="0"/>
              </a:spcAft>
              <a:buNone/>
            </a:pPr>
            <a:r>
              <a:rPr lang="en"/>
              <a:t>Following Mill’s logic</a:t>
            </a:r>
            <a:endParaRPr/>
          </a:p>
          <a:p>
            <a:pPr marL="457200" lvl="0" indent="-342900" algn="l" rtl="0">
              <a:spcBef>
                <a:spcPts val="1600"/>
              </a:spcBef>
              <a:spcAft>
                <a:spcPts val="0"/>
              </a:spcAft>
              <a:buSzPts val="1800"/>
              <a:buAutoNum type="arabicPeriod"/>
            </a:pPr>
            <a:r>
              <a:rPr lang="en"/>
              <a:t>Ignoring competing theories would deny the opportunity to exchange error for truth</a:t>
            </a:r>
            <a:endParaRPr/>
          </a:p>
          <a:p>
            <a:pPr marL="457200" lvl="0" indent="-342900" algn="l" rtl="0">
              <a:spcBef>
                <a:spcPts val="0"/>
              </a:spcBef>
              <a:spcAft>
                <a:spcPts val="0"/>
              </a:spcAft>
              <a:buSzPts val="1800"/>
              <a:buAutoNum type="arabicPeriod"/>
            </a:pPr>
            <a:r>
              <a:rPr lang="en"/>
              <a:t>Even if we know the correct theory, competing ideas help us better understand</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10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Ecological vs neoclassical economics</a:t>
            </a:r>
            <a:endParaRPr/>
          </a:p>
        </p:txBody>
      </p:sp>
      <p:sp>
        <p:nvSpPr>
          <p:cNvPr id="587" name="Google Shape;587;p10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Natural capital is not always substitutable for conventional capital → planetary boundaries… implications for growth</a:t>
            </a:r>
            <a:endParaRPr dirty="0"/>
          </a:p>
          <a:p>
            <a:pPr marL="0" lvl="0" indent="0" algn="l" rtl="0">
              <a:spcBef>
                <a:spcPts val="1600"/>
              </a:spcBef>
              <a:spcAft>
                <a:spcPts val="0"/>
              </a:spcAft>
              <a:buNone/>
            </a:pPr>
            <a:r>
              <a:rPr lang="en" dirty="0"/>
              <a:t>Neoclassical economists argue that models help us understand transition in intermediate time scales</a:t>
            </a:r>
          </a:p>
          <a:p>
            <a:pPr marL="0" lvl="0" indent="0" algn="l" rtl="0">
              <a:spcBef>
                <a:spcPts val="1600"/>
              </a:spcBef>
              <a:spcAft>
                <a:spcPts val="0"/>
              </a:spcAft>
              <a:buNone/>
            </a:pPr>
            <a:r>
              <a:rPr lang="en-US" dirty="0"/>
              <a:t>“… having both flourishing side by side ensures that, at least, not everyone delves into error. Moreover, the existence of an opponent may force each theorist to adapt his models to respond to external criticisms.”</a:t>
            </a:r>
            <a:endParaRPr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10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Methodological Foundations Overview</a:t>
            </a:r>
            <a:endParaRPr/>
          </a:p>
        </p:txBody>
      </p:sp>
      <p:sp>
        <p:nvSpPr>
          <p:cNvPr id="593" name="Google Shape;593;p10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collectively held knowledge evolves over time via the scientific process.  Develop theory → hypothesis, test, revise theory</a:t>
            </a:r>
            <a:endParaRPr/>
          </a:p>
          <a:p>
            <a:pPr marL="0" lvl="0" indent="0" algn="l" rtl="0">
              <a:spcBef>
                <a:spcPts val="1600"/>
              </a:spcBef>
              <a:spcAft>
                <a:spcPts val="0"/>
              </a:spcAft>
              <a:buNone/>
            </a:pPr>
            <a:r>
              <a:rPr lang="en"/>
              <a:t>Communicating research involves argument and persuasion</a:t>
            </a:r>
            <a:endParaRPr/>
          </a:p>
          <a:p>
            <a:pPr marL="0" lvl="0" indent="0" algn="l" rtl="0">
              <a:spcBef>
                <a:spcPts val="1600"/>
              </a:spcBef>
              <a:spcAft>
                <a:spcPts val="0"/>
              </a:spcAft>
              <a:buNone/>
            </a:pPr>
            <a:r>
              <a:rPr lang="en"/>
              <a:t>Recognize that others are persuading and try to evaluate arguments critically</a:t>
            </a:r>
            <a:endParaRPr/>
          </a:p>
          <a:p>
            <a:pPr marL="0" lvl="0" indent="0" algn="l" rtl="0">
              <a:spcBef>
                <a:spcPts val="1600"/>
              </a:spcBef>
              <a:spcAft>
                <a:spcPts val="0"/>
              </a:spcAft>
              <a:buNone/>
            </a:pPr>
            <a:r>
              <a:rPr lang="en"/>
              <a:t>A good argument is: logically sound, based on reasonable assumptions, and supported by evidence that clearly aligns with the claims</a:t>
            </a:r>
            <a:endParaRPr/>
          </a:p>
          <a:p>
            <a:pPr marL="0" lvl="0" indent="0" algn="l" rtl="0">
              <a:spcBef>
                <a:spcPts val="1600"/>
              </a:spcBef>
              <a:spcAft>
                <a:spcPts val="1600"/>
              </a:spcAft>
              <a:buNone/>
            </a:pPr>
            <a:r>
              <a:rPr lang="en"/>
              <a:t>We should strive to do this in a respectful manner.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10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Discuss topics you would like to work on</a:t>
            </a:r>
            <a:endParaRPr/>
          </a:p>
        </p:txBody>
      </p:sp>
      <p:sp>
        <p:nvSpPr>
          <p:cNvPr id="599" name="Google Shape;599;p10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Partner or group up</a:t>
            </a:r>
            <a:endParaRPr/>
          </a:p>
          <a:p>
            <a:pPr marL="0" lvl="0" indent="0" algn="l" rtl="0">
              <a:spcBef>
                <a:spcPts val="1600"/>
              </a:spcBef>
              <a:spcAft>
                <a:spcPts val="0"/>
              </a:spcAft>
              <a:buNone/>
            </a:pPr>
            <a:r>
              <a:rPr lang="en"/>
              <a:t>What topics interest you?</a:t>
            </a:r>
            <a:endParaRPr/>
          </a:p>
          <a:p>
            <a:pPr marL="0" lvl="0" indent="0" algn="l" rtl="0">
              <a:spcBef>
                <a:spcPts val="1600"/>
              </a:spcBef>
              <a:spcAft>
                <a:spcPts val="1600"/>
              </a:spcAft>
              <a:buNone/>
            </a:pPr>
            <a:r>
              <a:rPr lang="en"/>
              <a:t>If you are already working on a topic, what are some interesting questions? What are the economic phenomenon at work?  Why should others not in your field care?  Make the argument.</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afb58802-ff7a-4bb1-ab21-367ff2ecfc8b}" enabled="0" method="" siteId="{afb58802-ff7a-4bb1-ab21-367ff2ecfc8b}" removed="1"/>
</clbl:labelList>
</file>

<file path=docProps/app.xml><?xml version="1.0" encoding="utf-8"?>
<Properties xmlns="http://schemas.openxmlformats.org/officeDocument/2006/extended-properties" xmlns:vt="http://schemas.openxmlformats.org/officeDocument/2006/docPropsVTypes">
  <TotalTime>48942</TotalTime>
  <Words>4562</Words>
  <Application>Microsoft Office PowerPoint</Application>
  <PresentationFormat>On-screen Show (16:9)</PresentationFormat>
  <Paragraphs>411</Paragraphs>
  <Slides>75</Slides>
  <Notes>73</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75</vt:i4>
      </vt:variant>
    </vt:vector>
  </HeadingPairs>
  <TitlesOfParts>
    <vt:vector size="81" baseType="lpstr">
      <vt:lpstr>MS Mincho</vt:lpstr>
      <vt:lpstr>Arial</vt:lpstr>
      <vt:lpstr>Calibri</vt:lpstr>
      <vt:lpstr>Courier New</vt:lpstr>
      <vt:lpstr>Noto Sans Symbols</vt:lpstr>
      <vt:lpstr>Simple Light</vt:lpstr>
      <vt:lpstr>AREC 570 Slides</vt:lpstr>
      <vt:lpstr>Unit 1 Foundations of Economic Research</vt:lpstr>
      <vt:lpstr>Introduction Greenlaw Ch 1; Ethridge Ch 2</vt:lpstr>
      <vt:lpstr>Introduction</vt:lpstr>
      <vt:lpstr>What is economic research?</vt:lpstr>
      <vt:lpstr>Minimum wage example</vt:lpstr>
      <vt:lpstr>Ethridge: What research is and isn’t</vt:lpstr>
      <vt:lpstr>Basic and applied research</vt:lpstr>
      <vt:lpstr>What is the goal of economic research?  </vt:lpstr>
      <vt:lpstr>How do we do economic research?</vt:lpstr>
      <vt:lpstr>Research Process</vt:lpstr>
      <vt:lpstr>Creativity</vt:lpstr>
      <vt:lpstr>How do we evaluate economic research?</vt:lpstr>
      <vt:lpstr>Why should we study economic research methodology?</vt:lpstr>
      <vt:lpstr>Poppers Philosophy of Science</vt:lpstr>
      <vt:lpstr>Two modes of argument from philosophy</vt:lpstr>
      <vt:lpstr>Examples</vt:lpstr>
      <vt:lpstr>Examples</vt:lpstr>
      <vt:lpstr>Validity</vt:lpstr>
      <vt:lpstr>Soundness</vt:lpstr>
      <vt:lpstr>Inductive and Deductive Reasoning</vt:lpstr>
      <vt:lpstr>What type of reasoning is used?</vt:lpstr>
      <vt:lpstr>What type of reasoning is used?</vt:lpstr>
      <vt:lpstr>PowerPoint Presentation</vt:lpstr>
      <vt:lpstr>Popper continued</vt:lpstr>
      <vt:lpstr>Employment falls because of an increase in the min wage</vt:lpstr>
      <vt:lpstr>Internal Validity</vt:lpstr>
      <vt:lpstr>Min wage: Validity?</vt:lpstr>
      <vt:lpstr>Testable</vt:lpstr>
      <vt:lpstr>Min wage: testable?</vt:lpstr>
      <vt:lpstr>Popper’s chopper (Occam’s razor)</vt:lpstr>
      <vt:lpstr>Min wage: simple?</vt:lpstr>
      <vt:lpstr>Withstand repeated empirical test</vt:lpstr>
      <vt:lpstr>Min wage: withstand repeated testing?</vt:lpstr>
      <vt:lpstr>Min wage example</vt:lpstr>
      <vt:lpstr>Concluding thoughts</vt:lpstr>
      <vt:lpstr>Popper’s critics</vt:lpstr>
      <vt:lpstr>McCloskey - How Economists Persuade</vt:lpstr>
      <vt:lpstr>Overview</vt:lpstr>
      <vt:lpstr>Science in a social context</vt:lpstr>
      <vt:lpstr>Metaphor</vt:lpstr>
      <vt:lpstr>Blub blub effect and non-econ audience</vt:lpstr>
      <vt:lpstr>Narrative Form</vt:lpstr>
      <vt:lpstr>McCloskey vs P-values</vt:lpstr>
      <vt:lpstr>PowerPoint Presentation</vt:lpstr>
      <vt:lpstr>Language and communication in economics</vt:lpstr>
      <vt:lpstr>How economists persuade</vt:lpstr>
      <vt:lpstr>Ethridge Chapter 3</vt:lpstr>
      <vt:lpstr>Overview</vt:lpstr>
      <vt:lpstr>Science as systematic inquiry</vt:lpstr>
      <vt:lpstr>Logic and Reasoning</vt:lpstr>
      <vt:lpstr>Logic and reasoning - reliability of knowledge</vt:lpstr>
      <vt:lpstr>Tests for reliability</vt:lpstr>
      <vt:lpstr>Objectivity</vt:lpstr>
      <vt:lpstr>Scientific Prediction: Fact, Theory, and Hypothesis</vt:lpstr>
      <vt:lpstr>Functions of theory in econ research</vt:lpstr>
      <vt:lpstr>Summary</vt:lpstr>
      <vt:lpstr>Machlup - Why Economists Disagree</vt:lpstr>
      <vt:lpstr>Overview</vt:lpstr>
      <vt:lpstr>4 reasons for disagreement</vt:lpstr>
      <vt:lpstr>Different word meanings</vt:lpstr>
      <vt:lpstr>Different logical reasoning</vt:lpstr>
      <vt:lpstr>Different factual assumptions</vt:lpstr>
      <vt:lpstr>Different value judgements</vt:lpstr>
      <vt:lpstr>Comparison to natural sciences</vt:lpstr>
      <vt:lpstr>Larue - a defense of reasonable pluralism</vt:lpstr>
      <vt:lpstr>Overview</vt:lpstr>
      <vt:lpstr>What is pluralism in econ?</vt:lpstr>
      <vt:lpstr>Efficiency of pluralism</vt:lpstr>
      <vt:lpstr>Complexity and cognitive ability</vt:lpstr>
      <vt:lpstr>Benefits of competing theory</vt:lpstr>
      <vt:lpstr>Defense of pluralism</vt:lpstr>
      <vt:lpstr>Ecological vs neoclassical economics</vt:lpstr>
      <vt:lpstr>Methodological Foundations Overview</vt:lpstr>
      <vt:lpstr>Discuss topics you would like to work 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AREC 570 Slides</dc:title>
  <cp:lastModifiedBy>Amanda Countryman</cp:lastModifiedBy>
  <cp:revision>262</cp:revision>
  <dcterms:modified xsi:type="dcterms:W3CDTF">2026-08-27T05:52:39Z</dcterms:modified>
</cp:coreProperties>
</file>