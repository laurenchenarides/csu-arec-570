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1" r:id="rId12"/>
    <p:sldId id="302" r:id="rId13"/>
    <p:sldId id="303" r:id="rId14"/>
    <p:sldId id="304" r:id="rId15"/>
    <p:sldId id="305" r:id="rId16"/>
    <p:sldId id="310" r:id="rId17"/>
    <p:sldId id="313" r:id="rId18"/>
    <p:sldId id="314" r:id="rId19"/>
    <p:sldId id="315" r:id="rId20"/>
    <p:sldId id="316" r:id="rId21"/>
    <p:sldId id="317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914263-E9C5-46C8-9AAA-96102F47AFED}">
  <a:tblStyle styleId="{C3914263-E9C5-46C8-9AAA-96102F47AF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56"/>
    <p:restoredTop sz="81741"/>
  </p:normalViewPr>
  <p:slideViewPr>
    <p:cSldViewPr snapToGrid="0">
      <p:cViewPr varScale="1">
        <p:scale>
          <a:sx n="80" d="100"/>
          <a:sy n="80" d="100"/>
        </p:scale>
        <p:origin x="116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Countryman" userId="0be1c61d-c610-49a2-ae7e-a4e60bd07712" providerId="ADAL" clId="{00873937-8841-4394-9081-668AB0E0F950}"/>
    <pc:docChg chg="delSld modSld">
      <pc:chgData name="Amanda Countryman" userId="0be1c61d-c610-49a2-ae7e-a4e60bd07712" providerId="ADAL" clId="{00873937-8841-4394-9081-668AB0E0F950}" dt="2026-09-03T07:01:33.039" v="233" actId="47"/>
      <pc:docMkLst>
        <pc:docMk/>
      </pc:docMkLst>
      <pc:sldChg chg="addSp modSp mod modAnim">
        <pc:chgData name="Amanda Countryman" userId="0be1c61d-c610-49a2-ae7e-a4e60bd07712" providerId="ADAL" clId="{00873937-8841-4394-9081-668AB0E0F950}" dt="2026-09-01T05:27:04.352" v="46"/>
        <pc:sldMkLst>
          <pc:docMk/>
          <pc:sldMk cId="0" sldId="295"/>
        </pc:sldMkLst>
        <pc:spChg chg="add mod">
          <ac:chgData name="Amanda Countryman" userId="0be1c61d-c610-49a2-ae7e-a4e60bd07712" providerId="ADAL" clId="{00873937-8841-4394-9081-668AB0E0F950}" dt="2026-09-01T05:26:56.842" v="45" actId="14100"/>
          <ac:spMkLst>
            <pc:docMk/>
            <pc:sldMk cId="0" sldId="295"/>
            <ac:spMk id="3" creationId="{46C2B41A-2673-5CE0-60F1-16CDBDFFDCC7}"/>
          </ac:spMkLst>
        </pc:spChg>
        <pc:spChg chg="mod">
          <ac:chgData name="Amanda Countryman" userId="0be1c61d-c610-49a2-ae7e-a4e60bd07712" providerId="ADAL" clId="{00873937-8841-4394-9081-668AB0E0F950}" dt="2026-09-01T05:26:22.710" v="39" actId="14100"/>
          <ac:spMkLst>
            <pc:docMk/>
            <pc:sldMk cId="0" sldId="295"/>
            <ac:spMk id="292" creationId="{00000000-0000-0000-0000-000000000000}"/>
          </ac:spMkLst>
        </pc:spChg>
      </pc:sldChg>
      <pc:sldChg chg="modSp modAnim">
        <pc:chgData name="Amanda Countryman" userId="0be1c61d-c610-49a2-ae7e-a4e60bd07712" providerId="ADAL" clId="{00873937-8841-4394-9081-668AB0E0F950}" dt="2026-09-01T05:28:21.615" v="76" actId="313"/>
        <pc:sldMkLst>
          <pc:docMk/>
          <pc:sldMk cId="0" sldId="296"/>
        </pc:sldMkLst>
        <pc:spChg chg="mod">
          <ac:chgData name="Amanda Countryman" userId="0be1c61d-c610-49a2-ae7e-a4e60bd07712" providerId="ADAL" clId="{00873937-8841-4394-9081-668AB0E0F950}" dt="2026-09-01T05:28:21.615" v="76" actId="313"/>
          <ac:spMkLst>
            <pc:docMk/>
            <pc:sldMk cId="0" sldId="296"/>
            <ac:spMk id="298" creationId="{00000000-0000-0000-0000-000000000000}"/>
          </ac:spMkLst>
        </pc:spChg>
      </pc:sldChg>
      <pc:sldChg chg="modSp modAnim">
        <pc:chgData name="Amanda Countryman" userId="0be1c61d-c610-49a2-ae7e-a4e60bd07712" providerId="ADAL" clId="{00873937-8841-4394-9081-668AB0E0F950}" dt="2026-09-01T05:34:37.041" v="137" actId="313"/>
        <pc:sldMkLst>
          <pc:docMk/>
          <pc:sldMk cId="0" sldId="297"/>
        </pc:sldMkLst>
        <pc:spChg chg="mod">
          <ac:chgData name="Amanda Countryman" userId="0be1c61d-c610-49a2-ae7e-a4e60bd07712" providerId="ADAL" clId="{00873937-8841-4394-9081-668AB0E0F950}" dt="2026-09-01T05:34:37.041" v="137" actId="313"/>
          <ac:spMkLst>
            <pc:docMk/>
            <pc:sldMk cId="0" sldId="297"/>
            <ac:spMk id="304" creationId="{00000000-0000-0000-0000-000000000000}"/>
          </ac:spMkLst>
        </pc:spChg>
      </pc:sldChg>
      <pc:sldChg chg="modSp">
        <pc:chgData name="Amanda Countryman" userId="0be1c61d-c610-49a2-ae7e-a4e60bd07712" providerId="ADAL" clId="{00873937-8841-4394-9081-668AB0E0F950}" dt="2026-09-01T05:36:28.519" v="142" actId="20577"/>
        <pc:sldMkLst>
          <pc:docMk/>
          <pc:sldMk cId="0" sldId="305"/>
        </pc:sldMkLst>
        <pc:spChg chg="mod">
          <ac:chgData name="Amanda Countryman" userId="0be1c61d-c610-49a2-ae7e-a4e60bd07712" providerId="ADAL" clId="{00873937-8841-4394-9081-668AB0E0F950}" dt="2026-09-01T05:36:28.519" v="142" actId="20577"/>
          <ac:spMkLst>
            <pc:docMk/>
            <pc:sldMk cId="0" sldId="305"/>
            <ac:spMk id="350" creationId="{00000000-0000-0000-0000-000000000000}"/>
          </ac:spMkLst>
        </pc:spChg>
      </pc:sldChg>
      <pc:sldChg chg="del">
        <pc:chgData name="Amanda Countryman" userId="0be1c61d-c610-49a2-ae7e-a4e60bd07712" providerId="ADAL" clId="{00873937-8841-4394-9081-668AB0E0F950}" dt="2026-09-03T07:01:33.039" v="233" actId="47"/>
        <pc:sldMkLst>
          <pc:docMk/>
          <pc:sldMk cId="0" sldId="309"/>
        </pc:sldMkLst>
      </pc:sldChg>
      <pc:sldChg chg="modSp mod">
        <pc:chgData name="Amanda Countryman" userId="0be1c61d-c610-49a2-ae7e-a4e60bd07712" providerId="ADAL" clId="{00873937-8841-4394-9081-668AB0E0F950}" dt="2026-09-01T05:56:09.519" v="232" actId="1076"/>
        <pc:sldMkLst>
          <pc:docMk/>
          <pc:sldMk cId="0" sldId="310"/>
        </pc:sldMkLst>
        <pc:spChg chg="mod">
          <ac:chgData name="Amanda Countryman" userId="0be1c61d-c610-49a2-ae7e-a4e60bd07712" providerId="ADAL" clId="{00873937-8841-4394-9081-668AB0E0F950}" dt="2026-09-01T05:56:09.519" v="232" actId="1076"/>
          <ac:spMkLst>
            <pc:docMk/>
            <pc:sldMk cId="0" sldId="310"/>
            <ac:spMk id="380" creationId="{00000000-0000-0000-0000-000000000000}"/>
          </ac:spMkLst>
        </pc:spChg>
      </pc:sldChg>
      <pc:sldChg chg="modSp mod">
        <pc:chgData name="Amanda Countryman" userId="0be1c61d-c610-49a2-ae7e-a4e60bd07712" providerId="ADAL" clId="{00873937-8841-4394-9081-668AB0E0F950}" dt="2026-09-01T05:41:24.210" v="224" actId="6549"/>
        <pc:sldMkLst>
          <pc:docMk/>
          <pc:sldMk cId="0" sldId="313"/>
        </pc:sldMkLst>
        <pc:spChg chg="mod">
          <ac:chgData name="Amanda Countryman" userId="0be1c61d-c610-49a2-ae7e-a4e60bd07712" providerId="ADAL" clId="{00873937-8841-4394-9081-668AB0E0F950}" dt="2026-09-01T05:41:24.210" v="224" actId="6549"/>
          <ac:spMkLst>
            <pc:docMk/>
            <pc:sldMk cId="0" sldId="313"/>
            <ac:spMk id="399" creationId="{00000000-0000-0000-0000-000000000000}"/>
          </ac:spMkLst>
        </pc:spChg>
      </pc:sldChg>
      <pc:sldMasterChg chg="delSldLayout">
        <pc:chgData name="Amanda Countryman" userId="0be1c61d-c610-49a2-ae7e-a4e60bd07712" providerId="ADAL" clId="{00873937-8841-4394-9081-668AB0E0F950}" dt="2026-09-01T05:35:37.075" v="138" actId="47"/>
        <pc:sldMasterMkLst>
          <pc:docMk/>
          <pc:sldMasterMk cId="0" sldId="2147483659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8fa69a01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8fa69a01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4a7460c34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4a7460c34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4a7460c3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4a7460c3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4a7460c34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4a7460c34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4a7460c34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4a7460c34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4a7460c34a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4a7460c34a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Invisible hand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8bcbcb32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48bcbcb322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4a7460c34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4a7460c34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4a7460c34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4a7460c34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4a7460c34a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4a7460c34a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4a7460c34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4a7460c34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ec935872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ec935872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ec9358726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ec9358726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ec9358726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ec9358726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ed4c3195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ed4c3195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ed4c31955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ed4c31955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ed4c31955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ed4c31955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ed4c31955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ed4c31955f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ed4c31955f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ed4c31955f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ed4c31955f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ed4c31955f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5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nickch-k.github.io/ManyEconomists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AREC 570 Slides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917225"/>
            <a:ext cx="8520600" cy="10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Unit 1</a:t>
            </a:r>
            <a:br>
              <a:rPr lang="en-US" dirty="0"/>
            </a:br>
            <a:r>
              <a:rPr lang="en-US" dirty="0"/>
              <a:t>Foundations of Economic Research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economic research?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goal of economic research?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do economic research?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evaluate economic research?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should we study economic research methodology?</a:t>
            </a:r>
            <a:endParaRPr sz="2600"/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McCloskey - How Economists Persuade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86" name="Google Shape;286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matters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Science is conducted in a social context - audience matters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Metaphor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Narrative Form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Communication in economics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Science in a social context</a:t>
            </a:r>
            <a:endParaRPr/>
          </a:p>
        </p:txBody>
      </p:sp>
      <p:sp>
        <p:nvSpPr>
          <p:cNvPr id="292" name="Google Shape;292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6800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“Science, is human persuasion, not mechanical demonstration”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We are communicating our research with others and we should be cognizant that we are persuading them.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Audience matters… Reagan tax rate and revenue example.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Rhetoric is important.  What is rhetoric?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2B41A-2673-5CE0-60F1-16CDBDFFDCC7}"/>
              </a:ext>
            </a:extLst>
          </p:cNvPr>
          <p:cNvSpPr txBox="1"/>
          <p:nvPr/>
        </p:nvSpPr>
        <p:spPr>
          <a:xfrm>
            <a:off x="311701" y="3832529"/>
            <a:ext cx="8331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en-US" sz="1800" dirty="0"/>
              <a:t>Rhetoric is the art of using language effectively to </a:t>
            </a:r>
            <a:r>
              <a:rPr lang="en-US" sz="1800" b="1" dirty="0"/>
              <a:t>persuade, influence, or communicate an idea</a:t>
            </a:r>
            <a:r>
              <a:rPr lang="en-US" sz="18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Metaphor</a:t>
            </a:r>
            <a:endParaRPr/>
          </a:p>
        </p:txBody>
      </p:sp>
      <p:sp>
        <p:nvSpPr>
          <p:cNvPr id="298" name="Google Shape;298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Claims an economic model is a metaphor.  What does McCloskey mean?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Any examples?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One chooses a metaphor to steer other’s minds toward a specific element or prediction and probably away from others.  You strategically choose a metaphor to persuade.  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What metaphor is Akerloff (1970) associated with?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	The market for “lemons.”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Blub blub effect and non-econ audience</a:t>
            </a:r>
            <a:endParaRPr/>
          </a:p>
        </p:txBody>
      </p:sp>
      <p:sp>
        <p:nvSpPr>
          <p:cNvPr id="304" name="Google Shape;30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Academic econ journal articles encourage vocabulary that is increasingly hard for non-economists to understand.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Nicholas quote. H</a:t>
            </a:r>
            <a:r>
              <a:rPr lang="en-US" dirty="0"/>
              <a:t>e might as well have written </a:t>
            </a:r>
            <a:r>
              <a:rPr lang="en-US" i="1" dirty="0"/>
              <a:t>'it is assumed that </a:t>
            </a:r>
            <a:r>
              <a:rPr lang="en-US" dirty="0"/>
              <a:t>the blub-blub </a:t>
            </a:r>
            <a:r>
              <a:rPr lang="en-US" i="1" dirty="0"/>
              <a:t>is a </a:t>
            </a:r>
            <a:r>
              <a:rPr lang="en-US" dirty="0"/>
              <a:t>blub </a:t>
            </a:r>
            <a:r>
              <a:rPr lang="en-US" i="1" dirty="0"/>
              <a:t>maximizer, </a:t>
            </a:r>
            <a:r>
              <a:rPr lang="en-US" dirty="0"/>
              <a:t>blub-blub blub-blub-blub and blub </a:t>
            </a:r>
            <a:r>
              <a:rPr lang="en-US" i="1" dirty="0"/>
              <a:t>in perfectly </a:t>
            </a:r>
            <a:r>
              <a:rPr lang="en-US" dirty="0"/>
              <a:t>blub and blub </a:t>
            </a:r>
            <a:r>
              <a:rPr lang="en-US" dirty="0" err="1"/>
              <a:t>blub</a:t>
            </a:r>
            <a:r>
              <a:rPr lang="en-US" dirty="0"/>
              <a:t>.’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Uses this quote to “undermine the neoclassical measure of productivity change”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Is economics better off writing to itself or making its ideas available to others?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3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3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Narrative Form</a:t>
            </a:r>
            <a:endParaRPr/>
          </a:p>
        </p:txBody>
      </p:sp>
      <p:sp>
        <p:nvSpPr>
          <p:cNvPr id="310" name="Google Shape;310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Science has a tradition of third person narrative form.  </a:t>
            </a:r>
            <a:r>
              <a:rPr lang="en" b="1"/>
              <a:t>Why?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Third person narrative conveys an objectivity.  I am not arguing this point; it is evident from the data/statistical results.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First person narrative is direct, is usually easier to understand, and can usually be written with fewer words.  Scientific writing is moving toward first person narrative.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3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3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McCloskey vs P-values</a:t>
            </a:r>
            <a:endParaRPr/>
          </a:p>
        </p:txBody>
      </p:sp>
      <p:sp>
        <p:nvSpPr>
          <p:cNvPr id="316" name="Google Shape;316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McCloskey’s argument?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Blind faith in statistical significance is not alone helpful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Is the finding of economic significance?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What are the consequences of the error?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US" dirty="0"/>
              <a:t>Type 1 (mistakenly reject true null) vs. Type 2 error (fail to reject </a:t>
            </a:r>
            <a:r>
              <a:rPr lang="en-US"/>
              <a:t>false null)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Is it better to convict an innocent person (t1) or acquit a guilty person (t2)?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How we trade off types of error is worthy of attention.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and communication in economics</a:t>
            </a:r>
            <a:endParaRPr/>
          </a:p>
        </p:txBody>
      </p:sp>
      <p:sp>
        <p:nvSpPr>
          <p:cNvPr id="327" name="Google Shape;327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role does language play in econ?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Information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Persuasion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Many jobs depend on ones ability to persuade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Understanding bureaucracy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economists persuade</a:t>
            </a:r>
            <a:endParaRPr/>
          </a:p>
        </p:txBody>
      </p:sp>
      <p:sp>
        <p:nvSpPr>
          <p:cNvPr id="333" name="Google Shape;333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Economics should recognize the importance of talk and persuasion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It plays an important role in the decisions of the agents we study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Econ has evolved to communicate via math and empirical evidence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Ethridge Chapter 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344" name="Google Shape;344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Types of knowledge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Logic and reasoning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Tests for reliability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Scientific prediction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Science as systematic inquiry</a:t>
            </a:r>
            <a:endParaRPr/>
          </a:p>
        </p:txBody>
      </p:sp>
      <p:sp>
        <p:nvSpPr>
          <p:cNvPr id="350" name="Google Shape;350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-The organized accumulation of systematic reliable knowledge for the purpose of intelligent explanation or prediction.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How does Ethridge describe explanation and prediction as intertwined terms?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Science does not consist of facts or truths. Everything is questionable and is colored by our beliefs and social contexts.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and reasoning - reliability of knowledge</a:t>
            </a:r>
            <a:endParaRPr/>
          </a:p>
        </p:txBody>
      </p:sp>
      <p:sp>
        <p:nvSpPr>
          <p:cNvPr id="380" name="Google Shape;380;p67"/>
          <p:cNvSpPr txBox="1">
            <a:spLocks noGrp="1"/>
          </p:cNvSpPr>
          <p:nvPr>
            <p:ph type="body" idx="1"/>
          </p:nvPr>
        </p:nvSpPr>
        <p:spPr>
          <a:xfrm>
            <a:off x="311700" y="92983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way by which we arrive at conclusions given some argument and/or data/evidence.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Reliable knowledge can be 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Supported by evidence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Methods of generating evidence can be demonstrated/reproduced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Deductive reasoning = General → Specific. Start with a general rule or theory and apply it to a specific case. (Start with an economic theory and use it to predict what should happen.)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Inductive reasoning = Specific → General. Start with observations or examples and use them to form a general conclusion.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Tests for reliability</a:t>
            </a:r>
            <a:endParaRPr/>
          </a:p>
        </p:txBody>
      </p:sp>
      <p:sp>
        <p:nvSpPr>
          <p:cNvPr id="399" name="Google Shape;399;p70"/>
          <p:cNvSpPr txBox="1">
            <a:spLocks noGrp="1"/>
          </p:cNvSpPr>
          <p:nvPr>
            <p:ph type="body" idx="1"/>
          </p:nvPr>
        </p:nvSpPr>
        <p:spPr>
          <a:xfrm>
            <a:off x="311700" y="914358"/>
            <a:ext cx="85206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/>
              <a:t>Coherence</a:t>
            </a:r>
            <a:r>
              <a:rPr lang="en" dirty="0"/>
              <a:t>: examining the argument to see if it is free of logical errors/fallacies.  Do the conclusions follow from the assumptions and relationships?  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/>
              <a:t>Correspondence*</a:t>
            </a:r>
            <a:r>
              <a:rPr lang="en" dirty="0"/>
              <a:t>: Comparing an outcome or statement to what is already known. If you estimated an upward sloping demand curve for a normal good, that wouldn’t correspond to a large body of evidence about human response to incentives. When applied to theory, are conclusions supported by evidence?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/>
              <a:t>Clarity</a:t>
            </a:r>
            <a:r>
              <a:rPr lang="en" dirty="0"/>
              <a:t>: does the argument/paper lack ambiguity and vagueness?  Are all variables defined?  Are the empirical methods clearly explained such that they can be replicated? If a result has multiple interpretations, it fails clarity.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Passing these tests is necessary but not </a:t>
            </a:r>
            <a:r>
              <a:rPr lang="en"/>
              <a:t>sufficient to create new knowledge.  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Objectivity</a:t>
            </a:r>
            <a:endParaRPr/>
          </a:p>
        </p:txBody>
      </p:sp>
      <p:sp>
        <p:nvSpPr>
          <p:cNvPr id="405" name="Google Shape;405;p7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does Ethridge say about objectivity in economic research?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should strive to remain objective and not color our research with personal beliefs.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Try to create models or pose hypotheses based on logic and then test or demonstrate with measurable positive knowledge.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ties back to McCloskey’s point and highlights that we should be suspicious of subjectivity creeping in (whether known by the author or not).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Complete objectivity is not possible.  By choosing what to research, we are being subjective. Try to remain open to different outcomes. </a:t>
            </a:r>
            <a:r>
              <a:rPr lang="en" u="sng">
                <a:solidFill>
                  <a:schemeClr val="hlink"/>
                </a:solidFill>
                <a:hlinkClick r:id="rId3"/>
              </a:rPr>
              <a:t>Related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4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4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4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Scientific Prediction: Fact, Theory, and Hypothesis</a:t>
            </a:r>
            <a:endParaRPr/>
          </a:p>
        </p:txBody>
      </p:sp>
      <p:sp>
        <p:nvSpPr>
          <p:cNvPr id="411" name="Google Shape;411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Fact is a measurable and verifiable bit of information (public knowledge)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Theory consists of logical relationships (possibly complex) between assumptions and deductive logic.  Theories are abstractions of reality.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Hypothesis is a tentative assertion about a relationship that has yet to be tested.  A hypothesis needs to be testable.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3"/>
          <p:cNvSpPr txBox="1">
            <a:spLocks noGrp="1"/>
          </p:cNvSpPr>
          <p:nvPr>
            <p:ph type="title"/>
          </p:nvPr>
        </p:nvSpPr>
        <p:spPr>
          <a:xfrm>
            <a:off x="265750" y="180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of theory in econ research</a:t>
            </a:r>
            <a:endParaRPr/>
          </a:p>
        </p:txBody>
      </p:sp>
      <p:sp>
        <p:nvSpPr>
          <p:cNvPr id="417" name="Google Shape;417;p73"/>
          <p:cNvSpPr txBox="1">
            <a:spLocks noGrp="1"/>
          </p:cNvSpPr>
          <p:nvPr>
            <p:ph type="body" idx="1"/>
          </p:nvPr>
        </p:nvSpPr>
        <p:spPr>
          <a:xfrm>
            <a:off x="311700" y="838575"/>
            <a:ext cx="8520600" cy="41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Orientation</a:t>
            </a:r>
            <a:r>
              <a:rPr lang="en"/>
              <a:t>: a framework for delineating a problem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Classification/precision of thought</a:t>
            </a:r>
            <a:r>
              <a:rPr lang="en"/>
              <a:t>: provides a precise means of efficient communication.  Relationships with specific defined meanings.  Ex.  What do I mean when I say production function or total factor productivity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Conceptualization</a:t>
            </a:r>
            <a:r>
              <a:rPr lang="en"/>
              <a:t>: means to visualize how something works; a way to reason through different modes of behavior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Summarization</a:t>
            </a:r>
            <a:r>
              <a:rPr lang="en"/>
              <a:t>: generalizations of empirical facts (stylized fact - labor share of output 75%) and relationships (demand is downward sloping)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Prediction</a:t>
            </a:r>
            <a:r>
              <a:rPr lang="en"/>
              <a:t> of facts or creation of hypotheses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/>
              <a:t>Identification</a:t>
            </a:r>
            <a:r>
              <a:rPr lang="en"/>
              <a:t> of gaps in our knowledge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423" name="Google Shape;423;p7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Knowledge types: positive, normative, prescriptive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Logical and reasoning: fallacies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Test for reliability: coherence, correspondence, clarity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Objectivity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Facts, theory, and hypothesis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fb58802-ff7a-4bb1-ab21-367ff2ecfc8b}" enabled="0" method="" siteId="{afb58802-ff7a-4bb1-ab21-367ff2ecfc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49040</TotalTime>
  <Words>1099</Words>
  <Application>Microsoft Office PowerPoint</Application>
  <PresentationFormat>On-screen Show (16:9)</PresentationFormat>
  <Paragraphs>105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Simple Light</vt:lpstr>
      <vt:lpstr>AREC 570 Slides</vt:lpstr>
      <vt:lpstr>Unit 1 Foundations of Economic Research</vt:lpstr>
      <vt:lpstr>Introduction</vt:lpstr>
      <vt:lpstr>McCloskey - How Economists Persuade</vt:lpstr>
      <vt:lpstr>Overview</vt:lpstr>
      <vt:lpstr>Science in a social context</vt:lpstr>
      <vt:lpstr>Metaphor</vt:lpstr>
      <vt:lpstr>Blub blub effect and non-econ audience</vt:lpstr>
      <vt:lpstr>Narrative Form</vt:lpstr>
      <vt:lpstr>McCloskey vs P-values</vt:lpstr>
      <vt:lpstr>Language and communication in economics</vt:lpstr>
      <vt:lpstr>How economists persuade</vt:lpstr>
      <vt:lpstr>Ethridge Chapter 3</vt:lpstr>
      <vt:lpstr>Overview</vt:lpstr>
      <vt:lpstr>Science as systematic inquiry</vt:lpstr>
      <vt:lpstr>Logic and reasoning - reliability of knowledge</vt:lpstr>
      <vt:lpstr>Tests for reliability</vt:lpstr>
      <vt:lpstr>Objectivity</vt:lpstr>
      <vt:lpstr>Scientific Prediction: Fact, Theory, and Hypothesis</vt:lpstr>
      <vt:lpstr>Functions of theory in econ research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AREC 570 Slides</dc:title>
  <cp:lastModifiedBy>Amanda Countryman</cp:lastModifiedBy>
  <cp:revision>263</cp:revision>
  <dcterms:modified xsi:type="dcterms:W3CDTF">2026-09-03T07:01:42Z</dcterms:modified>
</cp:coreProperties>
</file>